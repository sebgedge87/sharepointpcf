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10"/>
    <p:sldId id="272" r:id="rId9"/>
    <p:sldId id="273" r:id="rId8"/>
    <p:sldId id="274" r:id="rId7"/>
    <p:sldId id="275" r:id="rId6"/>
    <p:sldId id="276" r:id="rId5"/>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4873"/>
    <a:srgbClr val="BB1C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73A458-D5D8-4246-8DA0-7F35FF766518}" v="26" dt="2026-09-04T14:29:33.8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1.xml"/><Relationship Id="rId6" Type="http://schemas.openxmlformats.org/officeDocument/2006/relationships/slide" Target="slides/slide20.xml"/><Relationship Id="rId7" Type="http://schemas.openxmlformats.org/officeDocument/2006/relationships/slide" Target="slides/slide19.xml"/><Relationship Id="rId8" Type="http://schemas.openxmlformats.org/officeDocument/2006/relationships/slide" Target="slides/slide18.xml"/><Relationship Id="rId9" Type="http://schemas.openxmlformats.org/officeDocument/2006/relationships/slide" Target="slides/slide17.xml"/><Relationship Id="rId10" Type="http://schemas.openxmlformats.org/officeDocument/2006/relationships/slide" Target="slides/slide16.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FAF8F-33A6-4603-B6E0-271EE5E4D23B}" type="datetimeFigureOut">
              <a:rPr lang="en-GB" smtClean="0"/>
              <a:t>22/10/2026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B6D30A-13AF-4D69-9DA4-95FDBB036AF4}" type="slidenum">
              <a:rPr lang="en-GB" smtClean="0"/>
              <a:t>‹#›</a:t>
            </a:fld>
            <a:endParaRPr lang="en-GB"/>
          </a:p>
        </p:txBody>
      </p:sp>
    </p:spTree>
    <p:extLst>
      <p:ext uri="{BB962C8B-B14F-4D97-AF65-F5344CB8AC3E}">
        <p14:creationId xmlns:p14="http://schemas.microsoft.com/office/powerpoint/2010/main" val="2090678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detailed tour of every feature of the Data Model Explorer, section by section, with screenshots from the three-table import test model. The shorter overview deck covers the why; this one covers the how.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sections, following the order you use the page in: get the workbook in, review it, draw it, edit it, keep versions and save, then build it in Dataverse.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design choices run through every feature. Because the HTML file holds only the empty template, it can be shared freely: anyone who opens it starts with nothing of yours.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Getting started. Opening workbooks, where they are kept, and the template.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time, the page shows the empty template and says so. A workbook already in the template layout opens straight away; a Metadata Document Generator export is converted first and keeps the export’s name.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Edits are kept per workbook, so two clients’ models never mix. Nothing is kept in the HTML file itself: send it to someone and they start with the empty template.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a workbook made from an older template adds the columns and table details it lacks, such as Relationship Type, Cascade Delete and Primary Name Column. A pink count on the Template button shows how many tables differ. Reset to bundled goes back to the built-in template.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 is the contract between the workbook and the page. Most changes take effect without any change to the page: reopen the workbook or reload the page after switching templates.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Reviewing the model. The Overview, browsing and searching, Checks, and comparing with Dataverse.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landing page once a workbook is open. When the page reopens a workbook from last time, the Overview says which one, so you can switch if it isn’t the one you want. Latest changes shows your recent edits, or the differences from the previous version.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Schema Name, Type and Relationship Name are hidden by default and can be shown from Columns. Active filters show above the grid with a × to clear each one. Clicking a field-type count filters to that type.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 the errors before building a solution: a table with an error is not built. Checks starting “Dataverse” appear only after loading Dataverse metadata.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list, with every check, is in the user guide. Errors block the build for that table, warnings are worth fixing before you build, and info findings are for review.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page stays offline: you open the links yourself in a browser signed in to Dataverse. Findings include fields and relationships missing from Dataverse, types or required levels that differ, and custom Dataverse fields or relationships the workbook doesn’t document. Remove imported metadata forgets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The ERD. Choosing tables, reading the lines, hiding relationships, and exports.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diagram is generated from the lookup fields, so it always matches the workbook. With many tables, draw a few dozen at a time. The page asks before drawing more than 80 tables.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diagram never guesses a relationship type: an unrecorded type is drawn neutrally and flagged, so the ERD can be trusted as a picture of what is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for presentation diagrams: hide the audit lookups or a busy N:N without removing the tables. The ERD info line counts how many relationships you have hidden in the current diagram.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five exports are generated in the browser. The draw.io file keeps positions and colours, so it is the best starting point for a diagram you will keep editing by hand.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Editing. Values, keys and table details, adding fields and relationships, and the change list.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Dropdown columns include Attribute Type, Required Level, Relationship Type and Cascade Delete. Their options come from the template’s data-validation lists. Every edit is stored in the browser as you make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Dataverse primary keys are always unique identifiers created with the table, so marking a text or number field as the key is flagged in Checks; use an alternate key to keep other values unique. The primary name must be single-line text.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name already in the table is refused. Added rows go at the end of the field list and are written into the empty rows after it when saving. On other sheets, such as the Table Dictionary, + Add row adds a blank row. Remove row takes an added row out again.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Changes is also where a newer version’s conflicts are settled: values the new version changed that you had also edited are listed under Needs your attention.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5: Versions and saving. Loading a newer workbook, exporting, and saving back safely.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Load version… or drop the new file and choose newer version. Tables are matched by tab name and fields by logical name, so row order doesn’t matter. An edit to a field the new version no longer has can be discarded in Changes.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Save back or Download an updated copy to keep the client’s file exactly as it is apart from your edits; choose New version in template format to bring an old workbook fully up to the current template.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usual reason a save is stopped is that there is no empty row for an added field before the Forms section. Then use New version in template format, or add empty rows in Excel and reload. Every workbook download asks for a file name first, suggesting the next version number.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6: Building in Dataverse. The solution builder, what it creates, importing, and what to do after.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Export → Dataverse solution (.zip)… or Build solution… on the Overview. Tables and fields starting with the prefix are built. Generate downloads one zip named after the solution and version. Clear the errors in Checks first.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XML matches what Dataverse itself exports, checked element by element against exported solutions. Anything not built is listed in build-report.csv with the reason.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Unzip the download into a folder and run the script from there. The script imports the one solution zip in its folder, or the one given with -SolutionPath.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need PowerShell 7 or Windows PowerShell 5.1, and the System Customizer or System Administrator role. A large model can take several minutes to import. If the import fails, the message says why and nothing is changed: fix the workbook, raise the version and generate again.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 Activities is not a setting in the solution file, so tables that need it are listed as a step to do by hand after the import.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guide’s troubleshooting section has the full list.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referred to in this deck is in the repository under data-model-explorer: the HTML file, docs/User_Guide.md and .docx, docs/Walkthrough.mp4, docs/Data_Model_Explorer_Overview.pptx, and samples/Import_Test_Model.xlsx.</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import test model to see the whole flow end to end before using a real model.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25CEEF7-3A66-2A99-D7B8-266CC6B26840}"/>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Picture Placeholder 16">
            <a:extLst>
              <a:ext uri="{FF2B5EF4-FFF2-40B4-BE49-F238E27FC236}">
                <a16:creationId xmlns:a16="http://schemas.microsoft.com/office/drawing/2014/main" id="{562FA2FD-DBF8-E842-3E68-284CBF8D6080}"/>
              </a:ext>
            </a:extLst>
          </p:cNvPr>
          <p:cNvSpPr>
            <a:spLocks noGrp="1"/>
          </p:cNvSpPr>
          <p:nvPr>
            <p:ph type="pic" sz="quarter" idx="10" hasCustomPrompt="1"/>
          </p:nvPr>
        </p:nvSpPr>
        <p:spPr>
          <a:xfrm>
            <a:off x="6936213" y="2587199"/>
            <a:ext cx="4279900" cy="1524000"/>
          </a:xfrm>
          <a:prstGeom prst="rect">
            <a:avLst/>
          </a:prstGeom>
        </p:spPr>
        <p:txBody>
          <a:bodyPr/>
          <a:lstStyle>
            <a:lvl1pPr>
              <a:buNone/>
              <a:defRPr sz="1400"/>
            </a:lvl1pPr>
          </a:lstStyle>
          <a:p>
            <a:r>
              <a:rPr lang="en-GB"/>
              <a:t>Our logo here (if tendering to a potential client)</a:t>
            </a:r>
          </a:p>
        </p:txBody>
      </p:sp>
      <p:sp>
        <p:nvSpPr>
          <p:cNvPr id="3" name="Picture Placeholder 16">
            <a:extLst>
              <a:ext uri="{FF2B5EF4-FFF2-40B4-BE49-F238E27FC236}">
                <a16:creationId xmlns:a16="http://schemas.microsoft.com/office/drawing/2014/main" id="{0346B3CE-F195-727A-9B56-287F0B18E7ED}"/>
              </a:ext>
            </a:extLst>
          </p:cNvPr>
          <p:cNvSpPr>
            <a:spLocks noGrp="1"/>
          </p:cNvSpPr>
          <p:nvPr>
            <p:ph type="pic" sz="quarter" idx="11" hasCustomPrompt="1"/>
          </p:nvPr>
        </p:nvSpPr>
        <p:spPr>
          <a:xfrm>
            <a:off x="1142025" y="2587199"/>
            <a:ext cx="4279900" cy="1524000"/>
          </a:xfrm>
          <a:prstGeom prst="rect">
            <a:avLst/>
          </a:prstGeom>
        </p:spPr>
        <p:txBody>
          <a:bodyPr/>
          <a:lstStyle>
            <a:lvl1pPr>
              <a:buNone/>
              <a:defRPr sz="1400"/>
            </a:lvl1pPr>
          </a:lstStyle>
          <a:p>
            <a:r>
              <a:rPr lang="en-GB"/>
              <a:t>Their Logo here (Same size as ours)</a:t>
            </a:r>
          </a:p>
        </p:txBody>
      </p:sp>
    </p:spTree>
    <p:extLst>
      <p:ext uri="{BB962C8B-B14F-4D97-AF65-F5344CB8AC3E}">
        <p14:creationId xmlns:p14="http://schemas.microsoft.com/office/powerpoint/2010/main" val="1928763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9D9CBF-2FF4-FFFF-1E6F-ECCE78FF4AA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 Placeholder 7">
            <a:extLst>
              <a:ext uri="{FF2B5EF4-FFF2-40B4-BE49-F238E27FC236}">
                <a16:creationId xmlns:a16="http://schemas.microsoft.com/office/drawing/2014/main" id="{F8E3E50A-5461-DB7A-804B-0E8546C0FD9D}"/>
              </a:ext>
            </a:extLst>
          </p:cNvPr>
          <p:cNvSpPr>
            <a:spLocks noGrp="1"/>
          </p:cNvSpPr>
          <p:nvPr>
            <p:ph type="body" sz="quarter" idx="14"/>
          </p:nvPr>
        </p:nvSpPr>
        <p:spPr>
          <a:xfrm>
            <a:off x="552410" y="2709863"/>
            <a:ext cx="11087180" cy="719137"/>
          </a:xfrm>
          <a:prstGeom prst="rect">
            <a:avLst/>
          </a:prstGeom>
        </p:spPr>
        <p:txBody>
          <a:bodyPr/>
          <a:lstStyle>
            <a:lvl1pPr algn="ctr">
              <a:lnSpc>
                <a:spcPct val="125000"/>
              </a:lnSpc>
              <a:buNone/>
              <a:defRPr sz="6000" b="1">
                <a:solidFill>
                  <a:srgbClr val="0A4873"/>
                </a:solidFill>
              </a:defRPr>
            </a:lvl1pPr>
          </a:lstStyle>
          <a:p>
            <a:pPr lvl="0"/>
            <a:endParaRPr lang="en-GB"/>
          </a:p>
        </p:txBody>
      </p:sp>
    </p:spTree>
    <p:extLst>
      <p:ext uri="{BB962C8B-B14F-4D97-AF65-F5344CB8AC3E}">
        <p14:creationId xmlns:p14="http://schemas.microsoft.com/office/powerpoint/2010/main" val="57634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62DCA5-26BE-F91F-18C1-E008F982608C}"/>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 Placeholder 7">
            <a:extLst>
              <a:ext uri="{FF2B5EF4-FFF2-40B4-BE49-F238E27FC236}">
                <a16:creationId xmlns:a16="http://schemas.microsoft.com/office/drawing/2014/main" id="{F8E3E50A-5461-DB7A-804B-0E8546C0FD9D}"/>
              </a:ext>
            </a:extLst>
          </p:cNvPr>
          <p:cNvSpPr>
            <a:spLocks noGrp="1"/>
          </p:cNvSpPr>
          <p:nvPr>
            <p:ph type="body" sz="quarter" idx="14"/>
          </p:nvPr>
        </p:nvSpPr>
        <p:spPr>
          <a:xfrm>
            <a:off x="552410" y="2026824"/>
            <a:ext cx="11087180" cy="719137"/>
          </a:xfrm>
          <a:prstGeom prst="rect">
            <a:avLst/>
          </a:prstGeom>
        </p:spPr>
        <p:txBody>
          <a:bodyPr/>
          <a:lstStyle>
            <a:lvl1pPr algn="ctr">
              <a:lnSpc>
                <a:spcPct val="125000"/>
              </a:lnSpc>
              <a:buNone/>
              <a:defRPr sz="6000" b="1">
                <a:solidFill>
                  <a:srgbClr val="0A4873"/>
                </a:solidFill>
              </a:defRPr>
            </a:lvl1pPr>
          </a:lstStyle>
          <a:p>
            <a:pPr lvl="0"/>
            <a:endParaRPr lang="en-GB"/>
          </a:p>
        </p:txBody>
      </p:sp>
    </p:spTree>
    <p:extLst>
      <p:ext uri="{BB962C8B-B14F-4D97-AF65-F5344CB8AC3E}">
        <p14:creationId xmlns:p14="http://schemas.microsoft.com/office/powerpoint/2010/main" val="1353369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1CB52BF-DB88-6B6D-0F45-E5EA44CBDC5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Picture Placeholder 7">
            <a:extLst>
              <a:ext uri="{FF2B5EF4-FFF2-40B4-BE49-F238E27FC236}">
                <a16:creationId xmlns:a16="http://schemas.microsoft.com/office/drawing/2014/main" id="{FE967D57-4361-154E-594D-B57E7D2E3132}"/>
              </a:ext>
            </a:extLst>
          </p:cNvPr>
          <p:cNvSpPr>
            <a:spLocks noGrp="1"/>
          </p:cNvSpPr>
          <p:nvPr>
            <p:ph type="pic" sz="quarter" idx="10"/>
          </p:nvPr>
        </p:nvSpPr>
        <p:spPr>
          <a:xfrm>
            <a:off x="523874" y="3860800"/>
            <a:ext cx="4398089" cy="2675295"/>
          </a:xfrm>
          <a:prstGeom prst="rect">
            <a:avLst/>
          </a:prstGeom>
        </p:spPr>
        <p:txBody>
          <a:bodyPr/>
          <a:lstStyle/>
          <a:p>
            <a:r>
              <a:rPr lang="en-US"/>
              <a:t>Click icon to add picture</a:t>
            </a:r>
            <a:endParaRPr lang="en-GB"/>
          </a:p>
        </p:txBody>
      </p:sp>
      <p:sp>
        <p:nvSpPr>
          <p:cNvPr id="8" name="Text Placeholder 7">
            <a:extLst>
              <a:ext uri="{FF2B5EF4-FFF2-40B4-BE49-F238E27FC236}">
                <a16:creationId xmlns:a16="http://schemas.microsoft.com/office/drawing/2014/main" id="{F2F9029A-917B-9D50-116F-48D4F7A8984F}"/>
              </a:ext>
            </a:extLst>
          </p:cNvPr>
          <p:cNvSpPr>
            <a:spLocks noGrp="1"/>
          </p:cNvSpPr>
          <p:nvPr>
            <p:ph type="body" sz="quarter" idx="11"/>
          </p:nvPr>
        </p:nvSpPr>
        <p:spPr>
          <a:xfrm>
            <a:off x="511174" y="1473200"/>
            <a:ext cx="11101708" cy="2216150"/>
          </a:xfrm>
          <a:prstGeom prst="rect">
            <a:avLst/>
          </a:prstGeom>
        </p:spPr>
        <p:txBody>
          <a:bodyPr/>
          <a:lstStyle>
            <a:lvl1pPr marL="0">
              <a:lnSpc>
                <a:spcPct val="125000"/>
              </a:lnSpc>
              <a:spcBef>
                <a:spcPts val="0"/>
              </a:spcBef>
              <a:buNone/>
              <a:defRPr sz="1200"/>
            </a:lvl1pPr>
          </a:lstStyle>
          <a:p>
            <a:pPr lvl="0"/>
            <a:endParaRPr lang="en-GB"/>
          </a:p>
        </p:txBody>
      </p:sp>
      <p:sp>
        <p:nvSpPr>
          <p:cNvPr id="9" name="Text Placeholder 7">
            <a:extLst>
              <a:ext uri="{FF2B5EF4-FFF2-40B4-BE49-F238E27FC236}">
                <a16:creationId xmlns:a16="http://schemas.microsoft.com/office/drawing/2014/main" id="{6E1CCFA5-474B-CCC9-FFE3-EB17C88C6761}"/>
              </a:ext>
            </a:extLst>
          </p:cNvPr>
          <p:cNvSpPr>
            <a:spLocks noGrp="1"/>
          </p:cNvSpPr>
          <p:nvPr>
            <p:ph type="body" sz="quarter" idx="12"/>
          </p:nvPr>
        </p:nvSpPr>
        <p:spPr>
          <a:xfrm>
            <a:off x="4985216" y="3860800"/>
            <a:ext cx="6627666" cy="2675295"/>
          </a:xfrm>
          <a:prstGeom prst="rect">
            <a:avLst/>
          </a:prstGeom>
        </p:spPr>
        <p:txBody>
          <a:bodyPr/>
          <a:lstStyle>
            <a:lvl1pPr marL="0">
              <a:lnSpc>
                <a:spcPct val="125000"/>
              </a:lnSpc>
              <a:spcBef>
                <a:spcPts val="0"/>
              </a:spcBef>
              <a:buNone/>
              <a:defRPr sz="1200"/>
            </a:lvl1pPr>
          </a:lstStyle>
          <a:p>
            <a:pPr lvl="0"/>
            <a:endParaRPr lang="en-GB"/>
          </a:p>
        </p:txBody>
      </p:sp>
      <p:sp>
        <p:nvSpPr>
          <p:cNvPr id="10" name="Text Placeholder 7">
            <a:extLst>
              <a:ext uri="{FF2B5EF4-FFF2-40B4-BE49-F238E27FC236}">
                <a16:creationId xmlns:a16="http://schemas.microsoft.com/office/drawing/2014/main" id="{BB832756-CAE3-9A2C-AE95-8C7E6D2291A4}"/>
              </a:ext>
            </a:extLst>
          </p:cNvPr>
          <p:cNvSpPr>
            <a:spLocks noGrp="1"/>
          </p:cNvSpPr>
          <p:nvPr>
            <p:ph type="body" sz="quarter" idx="13"/>
          </p:nvPr>
        </p:nvSpPr>
        <p:spPr>
          <a:xfrm>
            <a:off x="511175" y="411957"/>
            <a:ext cx="9464098"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4250818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5D70DE-07EE-B29F-7F8C-461A9600D476}"/>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 Placeholder 7">
            <a:extLst>
              <a:ext uri="{FF2B5EF4-FFF2-40B4-BE49-F238E27FC236}">
                <a16:creationId xmlns:a16="http://schemas.microsoft.com/office/drawing/2014/main" id="{6E1CCFA5-474B-CCC9-FFE3-EB17C88C6761}"/>
              </a:ext>
            </a:extLst>
          </p:cNvPr>
          <p:cNvSpPr>
            <a:spLocks noGrp="1"/>
          </p:cNvSpPr>
          <p:nvPr>
            <p:ph type="body" sz="quarter" idx="12"/>
          </p:nvPr>
        </p:nvSpPr>
        <p:spPr>
          <a:xfrm>
            <a:off x="6400800" y="1344706"/>
            <a:ext cx="5296367" cy="5121539"/>
          </a:xfrm>
          <a:prstGeom prst="rect">
            <a:avLst/>
          </a:prstGeom>
        </p:spPr>
        <p:txBody>
          <a:bodyPr/>
          <a:lstStyle>
            <a:lvl1pPr marL="0" algn="l">
              <a:lnSpc>
                <a:spcPct val="125000"/>
              </a:lnSpc>
              <a:spcBef>
                <a:spcPts val="0"/>
              </a:spcBef>
              <a:buNone/>
              <a:defRPr sz="1200"/>
            </a:lvl1pPr>
          </a:lstStyle>
          <a:p>
            <a:pPr lvl="0"/>
            <a:endParaRPr lang="en-GB"/>
          </a:p>
        </p:txBody>
      </p:sp>
      <p:sp>
        <p:nvSpPr>
          <p:cNvPr id="10" name="Text Placeholder 7">
            <a:extLst>
              <a:ext uri="{FF2B5EF4-FFF2-40B4-BE49-F238E27FC236}">
                <a16:creationId xmlns:a16="http://schemas.microsoft.com/office/drawing/2014/main" id="{BB832756-CAE3-9A2C-AE95-8C7E6D2291A4}"/>
              </a:ext>
            </a:extLst>
          </p:cNvPr>
          <p:cNvSpPr>
            <a:spLocks noGrp="1"/>
          </p:cNvSpPr>
          <p:nvPr>
            <p:ph type="body" sz="quarter" idx="13"/>
          </p:nvPr>
        </p:nvSpPr>
        <p:spPr>
          <a:xfrm>
            <a:off x="494834" y="391755"/>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
        <p:nvSpPr>
          <p:cNvPr id="4" name="Chart Placeholder 3">
            <a:extLst>
              <a:ext uri="{FF2B5EF4-FFF2-40B4-BE49-F238E27FC236}">
                <a16:creationId xmlns:a16="http://schemas.microsoft.com/office/drawing/2014/main" id="{C0721F55-7A25-8450-B445-841DAC73FE7C}"/>
              </a:ext>
            </a:extLst>
          </p:cNvPr>
          <p:cNvSpPr>
            <a:spLocks noGrp="1"/>
          </p:cNvSpPr>
          <p:nvPr>
            <p:ph type="chart" sz="quarter" idx="14"/>
          </p:nvPr>
        </p:nvSpPr>
        <p:spPr>
          <a:xfrm>
            <a:off x="494834" y="1344707"/>
            <a:ext cx="5791666" cy="5121538"/>
          </a:xfrm>
          <a:prstGeom prst="rect">
            <a:avLst/>
          </a:prstGeom>
        </p:spPr>
        <p:txBody>
          <a:bodyPr/>
          <a:lstStyle/>
          <a:p>
            <a:endParaRPr lang="en-GB"/>
          </a:p>
        </p:txBody>
      </p:sp>
    </p:spTree>
    <p:extLst>
      <p:ext uri="{BB962C8B-B14F-4D97-AF65-F5344CB8AC3E}">
        <p14:creationId xmlns:p14="http://schemas.microsoft.com/office/powerpoint/2010/main" val="1882091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9FC642-F31B-C59F-05F0-79828CCB87F5}"/>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 Placeholder 7">
            <a:extLst>
              <a:ext uri="{FF2B5EF4-FFF2-40B4-BE49-F238E27FC236}">
                <a16:creationId xmlns:a16="http://schemas.microsoft.com/office/drawing/2014/main" id="{6E1CCFA5-474B-CCC9-FFE3-EB17C88C6761}"/>
              </a:ext>
            </a:extLst>
          </p:cNvPr>
          <p:cNvSpPr>
            <a:spLocks noGrp="1"/>
          </p:cNvSpPr>
          <p:nvPr>
            <p:ph type="body" sz="quarter" idx="12"/>
          </p:nvPr>
        </p:nvSpPr>
        <p:spPr>
          <a:xfrm>
            <a:off x="494834" y="1386542"/>
            <a:ext cx="11202333" cy="5079704"/>
          </a:xfrm>
          <a:prstGeom prst="rect">
            <a:avLst/>
          </a:prstGeom>
        </p:spPr>
        <p:txBody>
          <a:bodyPr/>
          <a:lstStyle>
            <a:lvl1pPr marL="0" algn="l">
              <a:lnSpc>
                <a:spcPct val="125000"/>
              </a:lnSpc>
              <a:spcBef>
                <a:spcPts val="0"/>
              </a:spcBef>
              <a:buNone/>
              <a:defRPr sz="1200"/>
            </a:lvl1pPr>
          </a:lstStyle>
          <a:p>
            <a:pPr lvl="0"/>
            <a:endParaRPr lang="en-GB"/>
          </a:p>
        </p:txBody>
      </p:sp>
      <p:sp>
        <p:nvSpPr>
          <p:cNvPr id="10" name="Text Placeholder 7">
            <a:extLst>
              <a:ext uri="{FF2B5EF4-FFF2-40B4-BE49-F238E27FC236}">
                <a16:creationId xmlns:a16="http://schemas.microsoft.com/office/drawing/2014/main" id="{BB832756-CAE3-9A2C-AE95-8C7E6D2291A4}"/>
              </a:ext>
            </a:extLst>
          </p:cNvPr>
          <p:cNvSpPr>
            <a:spLocks noGrp="1"/>
          </p:cNvSpPr>
          <p:nvPr>
            <p:ph type="body" sz="quarter" idx="13"/>
          </p:nvPr>
        </p:nvSpPr>
        <p:spPr>
          <a:xfrm>
            <a:off x="494834" y="391755"/>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1152870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7B272C-2F27-29F9-29FD-7DB9A33BA8D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 Placeholder 7">
            <a:extLst>
              <a:ext uri="{FF2B5EF4-FFF2-40B4-BE49-F238E27FC236}">
                <a16:creationId xmlns:a16="http://schemas.microsoft.com/office/drawing/2014/main" id="{6E1CCFA5-474B-CCC9-FFE3-EB17C88C6761}"/>
              </a:ext>
            </a:extLst>
          </p:cNvPr>
          <p:cNvSpPr>
            <a:spLocks noGrp="1"/>
          </p:cNvSpPr>
          <p:nvPr>
            <p:ph type="body" sz="quarter" idx="12"/>
          </p:nvPr>
        </p:nvSpPr>
        <p:spPr>
          <a:xfrm>
            <a:off x="494834" y="1368613"/>
            <a:ext cx="5296367" cy="5217162"/>
          </a:xfrm>
          <a:prstGeom prst="rect">
            <a:avLst/>
          </a:prstGeom>
        </p:spPr>
        <p:txBody>
          <a:bodyPr/>
          <a:lstStyle>
            <a:lvl1pPr marL="0">
              <a:lnSpc>
                <a:spcPct val="125000"/>
              </a:lnSpc>
              <a:spcBef>
                <a:spcPts val="0"/>
              </a:spcBef>
              <a:buNone/>
              <a:defRPr sz="1200"/>
            </a:lvl1pPr>
          </a:lstStyle>
          <a:p>
            <a:pPr lvl="0"/>
            <a:endParaRPr lang="en-GB"/>
          </a:p>
        </p:txBody>
      </p:sp>
      <p:sp>
        <p:nvSpPr>
          <p:cNvPr id="10" name="Text Placeholder 7">
            <a:extLst>
              <a:ext uri="{FF2B5EF4-FFF2-40B4-BE49-F238E27FC236}">
                <a16:creationId xmlns:a16="http://schemas.microsoft.com/office/drawing/2014/main" id="{BB832756-CAE3-9A2C-AE95-8C7E6D2291A4}"/>
              </a:ext>
            </a:extLst>
          </p:cNvPr>
          <p:cNvSpPr>
            <a:spLocks noGrp="1"/>
          </p:cNvSpPr>
          <p:nvPr>
            <p:ph type="body" sz="quarter" idx="13"/>
          </p:nvPr>
        </p:nvSpPr>
        <p:spPr>
          <a:xfrm>
            <a:off x="494834" y="391755"/>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
        <p:nvSpPr>
          <p:cNvPr id="4" name="Chart Placeholder 3">
            <a:extLst>
              <a:ext uri="{FF2B5EF4-FFF2-40B4-BE49-F238E27FC236}">
                <a16:creationId xmlns:a16="http://schemas.microsoft.com/office/drawing/2014/main" id="{C0721F55-7A25-8450-B445-841DAC73FE7C}"/>
              </a:ext>
            </a:extLst>
          </p:cNvPr>
          <p:cNvSpPr>
            <a:spLocks noGrp="1"/>
          </p:cNvSpPr>
          <p:nvPr>
            <p:ph type="chart" sz="quarter" idx="14"/>
          </p:nvPr>
        </p:nvSpPr>
        <p:spPr>
          <a:xfrm>
            <a:off x="5993653" y="1368612"/>
            <a:ext cx="5791666" cy="5217161"/>
          </a:xfrm>
          <a:prstGeom prst="rect">
            <a:avLst/>
          </a:prstGeom>
        </p:spPr>
        <p:txBody>
          <a:bodyPr/>
          <a:lstStyle/>
          <a:p>
            <a:endParaRPr lang="en-GB"/>
          </a:p>
        </p:txBody>
      </p:sp>
    </p:spTree>
    <p:extLst>
      <p:ext uri="{BB962C8B-B14F-4D97-AF65-F5344CB8AC3E}">
        <p14:creationId xmlns:p14="http://schemas.microsoft.com/office/powerpoint/2010/main" val="3657949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2EE0476-4211-70BA-EA70-B9F9F5341755}"/>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7">
            <a:extLst>
              <a:ext uri="{FF2B5EF4-FFF2-40B4-BE49-F238E27FC236}">
                <a16:creationId xmlns:a16="http://schemas.microsoft.com/office/drawing/2014/main" id="{3F287942-67FA-F0FD-4BBE-ADAD77DACD45}"/>
              </a:ext>
            </a:extLst>
          </p:cNvPr>
          <p:cNvSpPr>
            <a:spLocks noGrp="1"/>
          </p:cNvSpPr>
          <p:nvPr>
            <p:ph type="body" sz="quarter" idx="12"/>
          </p:nvPr>
        </p:nvSpPr>
        <p:spPr>
          <a:xfrm>
            <a:off x="6519585" y="4565650"/>
            <a:ext cx="5035550" cy="2139950"/>
          </a:xfrm>
          <a:prstGeom prst="rect">
            <a:avLst/>
          </a:prstGeom>
        </p:spPr>
        <p:txBody>
          <a:bodyPr/>
          <a:lstStyle>
            <a:lvl1pPr marL="0" indent="0">
              <a:lnSpc>
                <a:spcPct val="125000"/>
              </a:lnSpc>
              <a:spcBef>
                <a:spcPts val="0"/>
              </a:spcBef>
              <a:buNone/>
              <a:defRPr sz="1200"/>
            </a:lvl1pPr>
          </a:lstStyle>
          <a:p>
            <a:pPr lvl="0"/>
            <a:endParaRPr lang="en-GB"/>
          </a:p>
        </p:txBody>
      </p:sp>
      <p:sp>
        <p:nvSpPr>
          <p:cNvPr id="15" name="Text Placeholder 7">
            <a:extLst>
              <a:ext uri="{FF2B5EF4-FFF2-40B4-BE49-F238E27FC236}">
                <a16:creationId xmlns:a16="http://schemas.microsoft.com/office/drawing/2014/main" id="{0D633268-08B9-2D0E-C366-887677A93D5B}"/>
              </a:ext>
            </a:extLst>
          </p:cNvPr>
          <p:cNvSpPr>
            <a:spLocks noGrp="1"/>
          </p:cNvSpPr>
          <p:nvPr>
            <p:ph type="body" sz="quarter" idx="14"/>
          </p:nvPr>
        </p:nvSpPr>
        <p:spPr>
          <a:xfrm>
            <a:off x="6515100" y="1828640"/>
            <a:ext cx="5035550" cy="2253814"/>
          </a:xfrm>
          <a:prstGeom prst="rect">
            <a:avLst/>
          </a:prstGeom>
        </p:spPr>
        <p:txBody>
          <a:bodyPr/>
          <a:lstStyle>
            <a:lvl1pPr marL="0" indent="0">
              <a:lnSpc>
                <a:spcPct val="125000"/>
              </a:lnSpc>
              <a:spcBef>
                <a:spcPts val="0"/>
              </a:spcBef>
              <a:buNone/>
              <a:defRPr sz="1200"/>
            </a:lvl1pPr>
          </a:lstStyle>
          <a:p>
            <a:pPr lvl="0"/>
            <a:endParaRPr lang="en-GB"/>
          </a:p>
        </p:txBody>
      </p:sp>
      <p:sp>
        <p:nvSpPr>
          <p:cNvPr id="16" name="Text Placeholder 7">
            <a:extLst>
              <a:ext uri="{FF2B5EF4-FFF2-40B4-BE49-F238E27FC236}">
                <a16:creationId xmlns:a16="http://schemas.microsoft.com/office/drawing/2014/main" id="{CAB021FA-E6AE-808E-9889-1D32A753E79F}"/>
              </a:ext>
            </a:extLst>
          </p:cNvPr>
          <p:cNvSpPr>
            <a:spLocks noGrp="1"/>
          </p:cNvSpPr>
          <p:nvPr>
            <p:ph type="body" sz="quarter" idx="15"/>
          </p:nvPr>
        </p:nvSpPr>
        <p:spPr>
          <a:xfrm>
            <a:off x="990599" y="4565650"/>
            <a:ext cx="5035550" cy="2139950"/>
          </a:xfrm>
          <a:prstGeom prst="rect">
            <a:avLst/>
          </a:prstGeom>
        </p:spPr>
        <p:txBody>
          <a:bodyPr/>
          <a:lstStyle>
            <a:lvl1pPr marL="0" indent="0">
              <a:lnSpc>
                <a:spcPct val="125000"/>
              </a:lnSpc>
              <a:spcBef>
                <a:spcPts val="0"/>
              </a:spcBef>
              <a:buNone/>
              <a:defRPr sz="1200"/>
            </a:lvl1pPr>
          </a:lstStyle>
          <a:p>
            <a:pPr lvl="0"/>
            <a:endParaRPr lang="en-GB"/>
          </a:p>
        </p:txBody>
      </p:sp>
      <p:sp>
        <p:nvSpPr>
          <p:cNvPr id="17" name="Text Placeholder 7">
            <a:extLst>
              <a:ext uri="{FF2B5EF4-FFF2-40B4-BE49-F238E27FC236}">
                <a16:creationId xmlns:a16="http://schemas.microsoft.com/office/drawing/2014/main" id="{A7A6104A-90F2-B6EF-9EAA-82EFA3EA2FB0}"/>
              </a:ext>
            </a:extLst>
          </p:cNvPr>
          <p:cNvSpPr>
            <a:spLocks noGrp="1"/>
          </p:cNvSpPr>
          <p:nvPr>
            <p:ph type="body" sz="quarter" idx="16"/>
          </p:nvPr>
        </p:nvSpPr>
        <p:spPr>
          <a:xfrm>
            <a:off x="990599" y="1828640"/>
            <a:ext cx="5035550" cy="2253814"/>
          </a:xfrm>
          <a:prstGeom prst="rect">
            <a:avLst/>
          </a:prstGeom>
        </p:spPr>
        <p:txBody>
          <a:bodyPr/>
          <a:lstStyle>
            <a:lvl1pPr marL="0" indent="0">
              <a:lnSpc>
                <a:spcPct val="125000"/>
              </a:lnSpc>
              <a:spcBef>
                <a:spcPts val="0"/>
              </a:spcBef>
              <a:buNone/>
              <a:defRPr sz="1200"/>
            </a:lvl1pPr>
          </a:lstStyle>
          <a:p>
            <a:pPr lvl="0"/>
            <a:endParaRPr lang="en-GB"/>
          </a:p>
        </p:txBody>
      </p:sp>
      <p:sp>
        <p:nvSpPr>
          <p:cNvPr id="18" name="Text Placeholder 7">
            <a:extLst>
              <a:ext uri="{FF2B5EF4-FFF2-40B4-BE49-F238E27FC236}">
                <a16:creationId xmlns:a16="http://schemas.microsoft.com/office/drawing/2014/main" id="{08162926-956C-1961-AF05-0F3E3A6ADB7E}"/>
              </a:ext>
            </a:extLst>
          </p:cNvPr>
          <p:cNvSpPr>
            <a:spLocks noGrp="1"/>
          </p:cNvSpPr>
          <p:nvPr>
            <p:ph type="body" sz="quarter" idx="17"/>
          </p:nvPr>
        </p:nvSpPr>
        <p:spPr>
          <a:xfrm>
            <a:off x="990599" y="1395070"/>
            <a:ext cx="5035550"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19" name="Text Placeholder 7">
            <a:extLst>
              <a:ext uri="{FF2B5EF4-FFF2-40B4-BE49-F238E27FC236}">
                <a16:creationId xmlns:a16="http://schemas.microsoft.com/office/drawing/2014/main" id="{6B5500DA-695C-645A-C0FC-6CC69F5A0A89}"/>
              </a:ext>
            </a:extLst>
          </p:cNvPr>
          <p:cNvSpPr>
            <a:spLocks noGrp="1"/>
          </p:cNvSpPr>
          <p:nvPr>
            <p:ph type="body" sz="quarter" idx="18"/>
          </p:nvPr>
        </p:nvSpPr>
        <p:spPr>
          <a:xfrm>
            <a:off x="6515101" y="1395070"/>
            <a:ext cx="5035550"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20" name="Text Placeholder 7">
            <a:extLst>
              <a:ext uri="{FF2B5EF4-FFF2-40B4-BE49-F238E27FC236}">
                <a16:creationId xmlns:a16="http://schemas.microsoft.com/office/drawing/2014/main" id="{F77AB940-F575-FB02-4067-934E5A1E6B96}"/>
              </a:ext>
            </a:extLst>
          </p:cNvPr>
          <p:cNvSpPr>
            <a:spLocks noGrp="1"/>
          </p:cNvSpPr>
          <p:nvPr>
            <p:ph type="body" sz="quarter" idx="19"/>
          </p:nvPr>
        </p:nvSpPr>
        <p:spPr>
          <a:xfrm>
            <a:off x="990599" y="4134126"/>
            <a:ext cx="5035550"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21" name="Text Placeholder 7">
            <a:extLst>
              <a:ext uri="{FF2B5EF4-FFF2-40B4-BE49-F238E27FC236}">
                <a16:creationId xmlns:a16="http://schemas.microsoft.com/office/drawing/2014/main" id="{B4710609-5077-00B2-5806-FE592C6F0EC5}"/>
              </a:ext>
            </a:extLst>
          </p:cNvPr>
          <p:cNvSpPr>
            <a:spLocks noGrp="1"/>
          </p:cNvSpPr>
          <p:nvPr>
            <p:ph type="body" sz="quarter" idx="20"/>
          </p:nvPr>
        </p:nvSpPr>
        <p:spPr>
          <a:xfrm>
            <a:off x="6515099" y="4133581"/>
            <a:ext cx="5035550"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6" name="Text Placeholder 7">
            <a:extLst>
              <a:ext uri="{FF2B5EF4-FFF2-40B4-BE49-F238E27FC236}">
                <a16:creationId xmlns:a16="http://schemas.microsoft.com/office/drawing/2014/main" id="{75A81195-326C-7139-9C27-14139F927FC5}"/>
              </a:ext>
            </a:extLst>
          </p:cNvPr>
          <p:cNvSpPr>
            <a:spLocks noGrp="1"/>
          </p:cNvSpPr>
          <p:nvPr>
            <p:ph type="body" sz="quarter" idx="13"/>
          </p:nvPr>
        </p:nvSpPr>
        <p:spPr>
          <a:xfrm>
            <a:off x="494834" y="391755"/>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3010282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D8E746-F37B-EFD3-8C7E-92B91C3D395E}"/>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 Placeholder 7">
            <a:extLst>
              <a:ext uri="{FF2B5EF4-FFF2-40B4-BE49-F238E27FC236}">
                <a16:creationId xmlns:a16="http://schemas.microsoft.com/office/drawing/2014/main" id="{2603E4BC-322E-D561-FDDA-5DFC4898271A}"/>
              </a:ext>
            </a:extLst>
          </p:cNvPr>
          <p:cNvSpPr>
            <a:spLocks noGrp="1"/>
          </p:cNvSpPr>
          <p:nvPr>
            <p:ph type="body" sz="quarter" idx="16"/>
          </p:nvPr>
        </p:nvSpPr>
        <p:spPr>
          <a:xfrm>
            <a:off x="542926" y="1847690"/>
            <a:ext cx="4778376" cy="4642803"/>
          </a:xfrm>
          <a:prstGeom prst="rect">
            <a:avLst/>
          </a:prstGeom>
        </p:spPr>
        <p:txBody>
          <a:bodyPr/>
          <a:lstStyle>
            <a:lvl1pPr marL="0" indent="0">
              <a:lnSpc>
                <a:spcPct val="125000"/>
              </a:lnSpc>
              <a:spcBef>
                <a:spcPts val="0"/>
              </a:spcBef>
              <a:buFont typeface="Arial" panose="020B0604020202020204" pitchFamily="34" charset="0"/>
              <a:buChar char="•"/>
              <a:defRPr sz="1200"/>
            </a:lvl1pPr>
          </a:lstStyle>
          <a:p>
            <a:pPr lvl="0"/>
            <a:endParaRPr lang="en-GB"/>
          </a:p>
        </p:txBody>
      </p:sp>
      <p:sp>
        <p:nvSpPr>
          <p:cNvPr id="5" name="Text Placeholder 7">
            <a:extLst>
              <a:ext uri="{FF2B5EF4-FFF2-40B4-BE49-F238E27FC236}">
                <a16:creationId xmlns:a16="http://schemas.microsoft.com/office/drawing/2014/main" id="{9A99B4D1-0667-3640-E092-3586CAA2094C}"/>
              </a:ext>
            </a:extLst>
          </p:cNvPr>
          <p:cNvSpPr>
            <a:spLocks noGrp="1"/>
          </p:cNvSpPr>
          <p:nvPr>
            <p:ph type="body" sz="quarter" idx="17"/>
          </p:nvPr>
        </p:nvSpPr>
        <p:spPr>
          <a:xfrm>
            <a:off x="6378575" y="1847689"/>
            <a:ext cx="4778376" cy="4642803"/>
          </a:xfrm>
          <a:prstGeom prst="rect">
            <a:avLst/>
          </a:prstGeom>
        </p:spPr>
        <p:txBody>
          <a:bodyPr/>
          <a:lstStyle>
            <a:lvl1pPr marL="0" indent="0">
              <a:lnSpc>
                <a:spcPct val="125000"/>
              </a:lnSpc>
              <a:spcBef>
                <a:spcPts val="0"/>
              </a:spcBef>
              <a:buFont typeface="Arial" panose="020B0604020202020204" pitchFamily="34" charset="0"/>
              <a:buChar char="•"/>
              <a:defRPr sz="1200"/>
            </a:lvl1pPr>
          </a:lstStyle>
          <a:p>
            <a:pPr lvl="0"/>
            <a:endParaRPr lang="en-GB"/>
          </a:p>
        </p:txBody>
      </p:sp>
      <p:sp>
        <p:nvSpPr>
          <p:cNvPr id="7" name="Text Placeholder 7">
            <a:extLst>
              <a:ext uri="{FF2B5EF4-FFF2-40B4-BE49-F238E27FC236}">
                <a16:creationId xmlns:a16="http://schemas.microsoft.com/office/drawing/2014/main" id="{C2A26290-B063-E1A0-9139-85CD42DE873A}"/>
              </a:ext>
            </a:extLst>
          </p:cNvPr>
          <p:cNvSpPr>
            <a:spLocks noGrp="1"/>
          </p:cNvSpPr>
          <p:nvPr>
            <p:ph type="body" sz="quarter" idx="13"/>
          </p:nvPr>
        </p:nvSpPr>
        <p:spPr>
          <a:xfrm>
            <a:off x="542925" y="367507"/>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
        <p:nvSpPr>
          <p:cNvPr id="8" name="Text Placeholder 7">
            <a:extLst>
              <a:ext uri="{FF2B5EF4-FFF2-40B4-BE49-F238E27FC236}">
                <a16:creationId xmlns:a16="http://schemas.microsoft.com/office/drawing/2014/main" id="{4475382D-ECAE-2832-97F2-09AB89B85C6C}"/>
              </a:ext>
            </a:extLst>
          </p:cNvPr>
          <p:cNvSpPr>
            <a:spLocks noGrp="1"/>
          </p:cNvSpPr>
          <p:nvPr>
            <p:ph type="body" sz="quarter" idx="18"/>
          </p:nvPr>
        </p:nvSpPr>
        <p:spPr>
          <a:xfrm>
            <a:off x="542926" y="1413435"/>
            <a:ext cx="4778376"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12" name="Text Placeholder 7">
            <a:extLst>
              <a:ext uri="{FF2B5EF4-FFF2-40B4-BE49-F238E27FC236}">
                <a16:creationId xmlns:a16="http://schemas.microsoft.com/office/drawing/2014/main" id="{0BB73538-A741-BC47-7164-E53D1BC2B0B2}"/>
              </a:ext>
            </a:extLst>
          </p:cNvPr>
          <p:cNvSpPr>
            <a:spLocks noGrp="1"/>
          </p:cNvSpPr>
          <p:nvPr>
            <p:ph type="body" sz="quarter" idx="19"/>
          </p:nvPr>
        </p:nvSpPr>
        <p:spPr>
          <a:xfrm>
            <a:off x="6378575" y="1413435"/>
            <a:ext cx="4778376"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Tree>
    <p:extLst>
      <p:ext uri="{BB962C8B-B14F-4D97-AF65-F5344CB8AC3E}">
        <p14:creationId xmlns:p14="http://schemas.microsoft.com/office/powerpoint/2010/main" val="1332010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5F0036-E984-2506-9A02-01BFCDACCA6C}"/>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CCFC4BDF-9C8D-BFD3-432C-2D0552C8F365}"/>
              </a:ext>
            </a:extLst>
          </p:cNvPr>
          <p:cNvSpPr/>
          <p:nvPr userDrawn="1"/>
        </p:nvSpPr>
        <p:spPr>
          <a:xfrm>
            <a:off x="0" y="0"/>
            <a:ext cx="1261035" cy="6858000"/>
          </a:xfrm>
          <a:prstGeom prst="rect">
            <a:avLst/>
          </a:prstGeom>
          <a:gradFill flip="none" rotWithShape="1">
            <a:gsLst>
              <a:gs pos="0">
                <a:srgbClr val="0A4873"/>
              </a:gs>
              <a:gs pos="48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0A4873"/>
              </a:solidFill>
            </a:endParaRPr>
          </a:p>
        </p:txBody>
      </p:sp>
      <p:sp>
        <p:nvSpPr>
          <p:cNvPr id="2" name="Picture Placeholder 7">
            <a:extLst>
              <a:ext uri="{FF2B5EF4-FFF2-40B4-BE49-F238E27FC236}">
                <a16:creationId xmlns:a16="http://schemas.microsoft.com/office/drawing/2014/main" id="{FE967D57-4361-154E-594D-B57E7D2E3132}"/>
              </a:ext>
            </a:extLst>
          </p:cNvPr>
          <p:cNvSpPr>
            <a:spLocks noGrp="1"/>
          </p:cNvSpPr>
          <p:nvPr>
            <p:ph type="pic" sz="quarter" idx="10"/>
          </p:nvPr>
        </p:nvSpPr>
        <p:spPr>
          <a:xfrm>
            <a:off x="1485900" y="3790950"/>
            <a:ext cx="4436782" cy="2675295"/>
          </a:xfrm>
          <a:prstGeom prst="rect">
            <a:avLst/>
          </a:prstGeom>
        </p:spPr>
        <p:txBody>
          <a:bodyPr/>
          <a:lstStyle/>
          <a:p>
            <a:r>
              <a:rPr lang="en-US"/>
              <a:t>Click icon to add picture</a:t>
            </a:r>
            <a:endParaRPr lang="en-GB"/>
          </a:p>
        </p:txBody>
      </p:sp>
      <p:sp>
        <p:nvSpPr>
          <p:cNvPr id="8" name="Text Placeholder 7">
            <a:extLst>
              <a:ext uri="{FF2B5EF4-FFF2-40B4-BE49-F238E27FC236}">
                <a16:creationId xmlns:a16="http://schemas.microsoft.com/office/drawing/2014/main" id="{F2F9029A-917B-9D50-116F-48D4F7A8984F}"/>
              </a:ext>
            </a:extLst>
          </p:cNvPr>
          <p:cNvSpPr>
            <a:spLocks noGrp="1"/>
          </p:cNvSpPr>
          <p:nvPr>
            <p:ph type="body" sz="quarter" idx="11"/>
          </p:nvPr>
        </p:nvSpPr>
        <p:spPr>
          <a:xfrm>
            <a:off x="1485900" y="1403350"/>
            <a:ext cx="10211267" cy="2216150"/>
          </a:xfrm>
          <a:prstGeom prst="rect">
            <a:avLst/>
          </a:prstGeom>
        </p:spPr>
        <p:txBody>
          <a:bodyPr/>
          <a:lstStyle>
            <a:lvl1pPr marL="0">
              <a:lnSpc>
                <a:spcPct val="125000"/>
              </a:lnSpc>
              <a:spcBef>
                <a:spcPts val="0"/>
              </a:spcBef>
              <a:buNone/>
              <a:defRPr sz="1200"/>
            </a:lvl1pPr>
          </a:lstStyle>
          <a:p>
            <a:pPr lvl="0"/>
            <a:endParaRPr lang="en-GB"/>
          </a:p>
        </p:txBody>
      </p:sp>
      <p:sp>
        <p:nvSpPr>
          <p:cNvPr id="9" name="Text Placeholder 7">
            <a:extLst>
              <a:ext uri="{FF2B5EF4-FFF2-40B4-BE49-F238E27FC236}">
                <a16:creationId xmlns:a16="http://schemas.microsoft.com/office/drawing/2014/main" id="{6E1CCFA5-474B-CCC9-FFE3-EB17C88C6761}"/>
              </a:ext>
            </a:extLst>
          </p:cNvPr>
          <p:cNvSpPr>
            <a:spLocks noGrp="1"/>
          </p:cNvSpPr>
          <p:nvPr>
            <p:ph type="body" sz="quarter" idx="12"/>
          </p:nvPr>
        </p:nvSpPr>
        <p:spPr>
          <a:xfrm>
            <a:off x="6109167" y="3790950"/>
            <a:ext cx="5588000" cy="2675295"/>
          </a:xfrm>
          <a:prstGeom prst="rect">
            <a:avLst/>
          </a:prstGeom>
        </p:spPr>
        <p:txBody>
          <a:bodyPr/>
          <a:lstStyle>
            <a:lvl1pPr marL="0">
              <a:lnSpc>
                <a:spcPct val="125000"/>
              </a:lnSpc>
              <a:spcBef>
                <a:spcPts val="0"/>
              </a:spcBef>
              <a:buNone/>
              <a:defRPr sz="1200"/>
            </a:lvl1pPr>
          </a:lstStyle>
          <a:p>
            <a:pPr lvl="0"/>
            <a:endParaRPr lang="en-GB"/>
          </a:p>
        </p:txBody>
      </p:sp>
      <p:sp>
        <p:nvSpPr>
          <p:cNvPr id="3" name="Text Placeholder 7">
            <a:extLst>
              <a:ext uri="{FF2B5EF4-FFF2-40B4-BE49-F238E27FC236}">
                <a16:creationId xmlns:a16="http://schemas.microsoft.com/office/drawing/2014/main" id="{1F605BE1-6E95-17DE-630E-C7637231B7D9}"/>
              </a:ext>
            </a:extLst>
          </p:cNvPr>
          <p:cNvSpPr>
            <a:spLocks noGrp="1"/>
          </p:cNvSpPr>
          <p:nvPr>
            <p:ph type="body" sz="quarter" idx="13"/>
          </p:nvPr>
        </p:nvSpPr>
        <p:spPr>
          <a:xfrm>
            <a:off x="1485900" y="342107"/>
            <a:ext cx="8507845"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4103558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C1E763-511B-32A5-8FBB-F154CE4146DB}"/>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CCFC4BDF-9C8D-BFD3-432C-2D0552C8F365}"/>
              </a:ext>
            </a:extLst>
          </p:cNvPr>
          <p:cNvSpPr/>
          <p:nvPr userDrawn="1"/>
        </p:nvSpPr>
        <p:spPr>
          <a:xfrm>
            <a:off x="0" y="0"/>
            <a:ext cx="1261035" cy="6858000"/>
          </a:xfrm>
          <a:prstGeom prst="rect">
            <a:avLst/>
          </a:prstGeom>
          <a:gradFill flip="none" rotWithShape="1">
            <a:gsLst>
              <a:gs pos="0">
                <a:srgbClr val="0A4873"/>
              </a:gs>
              <a:gs pos="48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0A4873"/>
              </a:solidFill>
            </a:endParaRPr>
          </a:p>
        </p:txBody>
      </p:sp>
      <p:sp>
        <p:nvSpPr>
          <p:cNvPr id="9" name="Text Placeholder 7">
            <a:extLst>
              <a:ext uri="{FF2B5EF4-FFF2-40B4-BE49-F238E27FC236}">
                <a16:creationId xmlns:a16="http://schemas.microsoft.com/office/drawing/2014/main" id="{6E1CCFA5-474B-CCC9-FFE3-EB17C88C6761}"/>
              </a:ext>
            </a:extLst>
          </p:cNvPr>
          <p:cNvSpPr>
            <a:spLocks noGrp="1"/>
          </p:cNvSpPr>
          <p:nvPr>
            <p:ph type="body" sz="quarter" idx="12"/>
          </p:nvPr>
        </p:nvSpPr>
        <p:spPr>
          <a:xfrm>
            <a:off x="6794499" y="1403352"/>
            <a:ext cx="4902667" cy="5062894"/>
          </a:xfrm>
          <a:prstGeom prst="rect">
            <a:avLst/>
          </a:prstGeom>
        </p:spPr>
        <p:txBody>
          <a:bodyPr/>
          <a:lstStyle>
            <a:lvl1pPr marL="0">
              <a:lnSpc>
                <a:spcPct val="125000"/>
              </a:lnSpc>
              <a:spcBef>
                <a:spcPts val="0"/>
              </a:spcBef>
              <a:buNone/>
              <a:defRPr sz="1200"/>
            </a:lvl1pPr>
          </a:lstStyle>
          <a:p>
            <a:pPr lvl="0"/>
            <a:endParaRPr lang="en-GB"/>
          </a:p>
        </p:txBody>
      </p:sp>
      <p:sp>
        <p:nvSpPr>
          <p:cNvPr id="10" name="Text Placeholder 7">
            <a:extLst>
              <a:ext uri="{FF2B5EF4-FFF2-40B4-BE49-F238E27FC236}">
                <a16:creationId xmlns:a16="http://schemas.microsoft.com/office/drawing/2014/main" id="{BB832756-CAE3-9A2C-AE95-8C7E6D2291A4}"/>
              </a:ext>
            </a:extLst>
          </p:cNvPr>
          <p:cNvSpPr>
            <a:spLocks noGrp="1"/>
          </p:cNvSpPr>
          <p:nvPr>
            <p:ph type="body" sz="quarter" idx="13"/>
          </p:nvPr>
        </p:nvSpPr>
        <p:spPr>
          <a:xfrm>
            <a:off x="1485900" y="342107"/>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
        <p:nvSpPr>
          <p:cNvPr id="4" name="Chart Placeholder 3">
            <a:extLst>
              <a:ext uri="{FF2B5EF4-FFF2-40B4-BE49-F238E27FC236}">
                <a16:creationId xmlns:a16="http://schemas.microsoft.com/office/drawing/2014/main" id="{C0721F55-7A25-8450-B445-841DAC73FE7C}"/>
              </a:ext>
            </a:extLst>
          </p:cNvPr>
          <p:cNvSpPr>
            <a:spLocks noGrp="1"/>
          </p:cNvSpPr>
          <p:nvPr>
            <p:ph type="chart" sz="quarter" idx="14"/>
          </p:nvPr>
        </p:nvSpPr>
        <p:spPr>
          <a:xfrm>
            <a:off x="1485900" y="1403351"/>
            <a:ext cx="5156200" cy="5062893"/>
          </a:xfrm>
          <a:prstGeom prst="rect">
            <a:avLst/>
          </a:prstGeom>
        </p:spPr>
        <p:txBody>
          <a:bodyPr/>
          <a:lstStyle/>
          <a:p>
            <a:endParaRPr lang="en-GB"/>
          </a:p>
        </p:txBody>
      </p:sp>
    </p:spTree>
    <p:extLst>
      <p:ext uri="{BB962C8B-B14F-4D97-AF65-F5344CB8AC3E}">
        <p14:creationId xmlns:p14="http://schemas.microsoft.com/office/powerpoint/2010/main" val="1252324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78608D-3F98-DA60-914F-2F098F942A3D}"/>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CCFC4BDF-9C8D-BFD3-432C-2D0552C8F365}"/>
              </a:ext>
            </a:extLst>
          </p:cNvPr>
          <p:cNvSpPr/>
          <p:nvPr userDrawn="1"/>
        </p:nvSpPr>
        <p:spPr>
          <a:xfrm>
            <a:off x="0" y="0"/>
            <a:ext cx="1261035" cy="6858000"/>
          </a:xfrm>
          <a:prstGeom prst="rect">
            <a:avLst/>
          </a:prstGeom>
          <a:gradFill flip="none" rotWithShape="1">
            <a:gsLst>
              <a:gs pos="0">
                <a:srgbClr val="0A4873"/>
              </a:gs>
              <a:gs pos="48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0A4873"/>
              </a:solidFill>
            </a:endParaRPr>
          </a:p>
        </p:txBody>
      </p:sp>
      <p:sp>
        <p:nvSpPr>
          <p:cNvPr id="9" name="Text Placeholder 7">
            <a:extLst>
              <a:ext uri="{FF2B5EF4-FFF2-40B4-BE49-F238E27FC236}">
                <a16:creationId xmlns:a16="http://schemas.microsoft.com/office/drawing/2014/main" id="{6E1CCFA5-474B-CCC9-FFE3-EB17C88C6761}"/>
              </a:ext>
            </a:extLst>
          </p:cNvPr>
          <p:cNvSpPr>
            <a:spLocks noGrp="1"/>
          </p:cNvSpPr>
          <p:nvPr>
            <p:ph type="body" sz="quarter" idx="12"/>
          </p:nvPr>
        </p:nvSpPr>
        <p:spPr>
          <a:xfrm>
            <a:off x="1485901" y="1320800"/>
            <a:ext cx="10211266" cy="5145445"/>
          </a:xfrm>
          <a:prstGeom prst="rect">
            <a:avLst/>
          </a:prstGeom>
        </p:spPr>
        <p:txBody>
          <a:bodyPr/>
          <a:lstStyle>
            <a:lvl1pPr marL="0">
              <a:lnSpc>
                <a:spcPct val="125000"/>
              </a:lnSpc>
              <a:spcBef>
                <a:spcPts val="0"/>
              </a:spcBef>
              <a:buNone/>
              <a:defRPr sz="1200"/>
            </a:lvl1pPr>
          </a:lstStyle>
          <a:p>
            <a:pPr lvl="0"/>
            <a:endParaRPr lang="en-GB"/>
          </a:p>
        </p:txBody>
      </p:sp>
      <p:sp>
        <p:nvSpPr>
          <p:cNvPr id="10" name="Text Placeholder 7">
            <a:extLst>
              <a:ext uri="{FF2B5EF4-FFF2-40B4-BE49-F238E27FC236}">
                <a16:creationId xmlns:a16="http://schemas.microsoft.com/office/drawing/2014/main" id="{BB832756-CAE3-9A2C-AE95-8C7E6D2291A4}"/>
              </a:ext>
            </a:extLst>
          </p:cNvPr>
          <p:cNvSpPr>
            <a:spLocks noGrp="1"/>
          </p:cNvSpPr>
          <p:nvPr>
            <p:ph type="body" sz="quarter" idx="13"/>
          </p:nvPr>
        </p:nvSpPr>
        <p:spPr>
          <a:xfrm>
            <a:off x="1485900" y="342107"/>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6484355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AA2A18-16F3-5346-E02E-F2B49C9FDE5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B5D2FCCF-9DB1-1D94-AD3F-2DAD0493CBD2}"/>
              </a:ext>
            </a:extLst>
          </p:cNvPr>
          <p:cNvSpPr/>
          <p:nvPr userDrawn="1"/>
        </p:nvSpPr>
        <p:spPr>
          <a:xfrm>
            <a:off x="0" y="0"/>
            <a:ext cx="1261035" cy="6858000"/>
          </a:xfrm>
          <a:prstGeom prst="rect">
            <a:avLst/>
          </a:prstGeom>
          <a:gradFill flip="none" rotWithShape="1">
            <a:gsLst>
              <a:gs pos="0">
                <a:srgbClr val="0A4873"/>
              </a:gs>
              <a:gs pos="48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0A4873"/>
              </a:solidFill>
            </a:endParaRPr>
          </a:p>
        </p:txBody>
      </p:sp>
      <p:sp>
        <p:nvSpPr>
          <p:cNvPr id="4" name="Text Placeholder 7">
            <a:extLst>
              <a:ext uri="{FF2B5EF4-FFF2-40B4-BE49-F238E27FC236}">
                <a16:creationId xmlns:a16="http://schemas.microsoft.com/office/drawing/2014/main" id="{2603E4BC-322E-D561-FDDA-5DFC4898271A}"/>
              </a:ext>
            </a:extLst>
          </p:cNvPr>
          <p:cNvSpPr>
            <a:spLocks noGrp="1"/>
          </p:cNvSpPr>
          <p:nvPr>
            <p:ph type="body" sz="quarter" idx="16"/>
          </p:nvPr>
        </p:nvSpPr>
        <p:spPr>
          <a:xfrm>
            <a:off x="1485901" y="1847689"/>
            <a:ext cx="4610100" cy="4663161"/>
          </a:xfrm>
          <a:prstGeom prst="rect">
            <a:avLst/>
          </a:prstGeom>
        </p:spPr>
        <p:txBody>
          <a:bodyPr/>
          <a:lstStyle>
            <a:lvl1pPr marL="0" indent="0">
              <a:lnSpc>
                <a:spcPct val="125000"/>
              </a:lnSpc>
              <a:spcBef>
                <a:spcPts val="0"/>
              </a:spcBef>
              <a:buFont typeface="Arial" panose="020B0604020202020204" pitchFamily="34" charset="0"/>
              <a:buChar char="•"/>
              <a:defRPr sz="1200"/>
            </a:lvl1pPr>
          </a:lstStyle>
          <a:p>
            <a:pPr lvl="0"/>
            <a:endParaRPr lang="en-GB"/>
          </a:p>
        </p:txBody>
      </p:sp>
      <p:sp>
        <p:nvSpPr>
          <p:cNvPr id="5" name="Text Placeholder 7">
            <a:extLst>
              <a:ext uri="{FF2B5EF4-FFF2-40B4-BE49-F238E27FC236}">
                <a16:creationId xmlns:a16="http://schemas.microsoft.com/office/drawing/2014/main" id="{9A99B4D1-0667-3640-E092-3586CAA2094C}"/>
              </a:ext>
            </a:extLst>
          </p:cNvPr>
          <p:cNvSpPr>
            <a:spLocks noGrp="1"/>
          </p:cNvSpPr>
          <p:nvPr>
            <p:ph type="body" sz="quarter" idx="17"/>
          </p:nvPr>
        </p:nvSpPr>
        <p:spPr>
          <a:xfrm>
            <a:off x="6870699" y="1847689"/>
            <a:ext cx="4610100" cy="4663161"/>
          </a:xfrm>
          <a:prstGeom prst="rect">
            <a:avLst/>
          </a:prstGeom>
        </p:spPr>
        <p:txBody>
          <a:bodyPr/>
          <a:lstStyle>
            <a:lvl1pPr marL="0" indent="0">
              <a:lnSpc>
                <a:spcPct val="125000"/>
              </a:lnSpc>
              <a:spcBef>
                <a:spcPts val="0"/>
              </a:spcBef>
              <a:buFont typeface="Arial" panose="020B0604020202020204" pitchFamily="34" charset="0"/>
              <a:buChar char="•"/>
              <a:defRPr sz="1200"/>
            </a:lvl1pPr>
          </a:lstStyle>
          <a:p>
            <a:pPr lvl="0"/>
            <a:endParaRPr lang="en-GB"/>
          </a:p>
        </p:txBody>
      </p:sp>
      <p:sp>
        <p:nvSpPr>
          <p:cNvPr id="8" name="Text Placeholder 7">
            <a:extLst>
              <a:ext uri="{FF2B5EF4-FFF2-40B4-BE49-F238E27FC236}">
                <a16:creationId xmlns:a16="http://schemas.microsoft.com/office/drawing/2014/main" id="{4475382D-ECAE-2832-97F2-09AB89B85C6C}"/>
              </a:ext>
            </a:extLst>
          </p:cNvPr>
          <p:cNvSpPr>
            <a:spLocks noGrp="1"/>
          </p:cNvSpPr>
          <p:nvPr>
            <p:ph type="body" sz="quarter" idx="18"/>
          </p:nvPr>
        </p:nvSpPr>
        <p:spPr>
          <a:xfrm>
            <a:off x="1485901" y="1413434"/>
            <a:ext cx="4610100"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12" name="Text Placeholder 7">
            <a:extLst>
              <a:ext uri="{FF2B5EF4-FFF2-40B4-BE49-F238E27FC236}">
                <a16:creationId xmlns:a16="http://schemas.microsoft.com/office/drawing/2014/main" id="{0BB73538-A741-BC47-7164-E53D1BC2B0B2}"/>
              </a:ext>
            </a:extLst>
          </p:cNvPr>
          <p:cNvSpPr>
            <a:spLocks noGrp="1"/>
          </p:cNvSpPr>
          <p:nvPr>
            <p:ph type="body" sz="quarter" idx="19"/>
          </p:nvPr>
        </p:nvSpPr>
        <p:spPr>
          <a:xfrm>
            <a:off x="6870699" y="1413435"/>
            <a:ext cx="4610100"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2" name="Text Placeholder 7">
            <a:extLst>
              <a:ext uri="{FF2B5EF4-FFF2-40B4-BE49-F238E27FC236}">
                <a16:creationId xmlns:a16="http://schemas.microsoft.com/office/drawing/2014/main" id="{B532555E-E3E3-D9A2-9E1E-3FEB43461646}"/>
              </a:ext>
            </a:extLst>
          </p:cNvPr>
          <p:cNvSpPr>
            <a:spLocks noGrp="1"/>
          </p:cNvSpPr>
          <p:nvPr>
            <p:ph type="body" sz="quarter" idx="13"/>
          </p:nvPr>
        </p:nvSpPr>
        <p:spPr>
          <a:xfrm>
            <a:off x="1485900" y="342107"/>
            <a:ext cx="9994899"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2415615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FC35AE-7019-2214-7080-B9C123094016}"/>
              </a:ext>
            </a:extLst>
          </p:cNvPr>
          <p:cNvSpPr/>
          <p:nvPr userDrawn="1"/>
        </p:nvSpPr>
        <p:spPr>
          <a:xfrm>
            <a:off x="10913035" y="0"/>
            <a:ext cx="1332752" cy="6858000"/>
          </a:xfrm>
          <a:prstGeom prst="rect">
            <a:avLst/>
          </a:prstGeom>
          <a:gradFill flip="none" rotWithShape="1">
            <a:gsLst>
              <a:gs pos="0">
                <a:srgbClr val="0A4873"/>
              </a:gs>
              <a:gs pos="58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E26D47F6-2453-D3D3-2400-2139B0EA0150}"/>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rcRect l="81324" b="58780"/>
          <a:stretch>
            <a:fillRect/>
          </a:stretch>
        </p:blipFill>
        <p:spPr>
          <a:xfrm flipH="1">
            <a:off x="14194" y="8745"/>
            <a:ext cx="2277035" cy="2826870"/>
          </a:xfrm>
          <a:prstGeom prst="rect">
            <a:avLst/>
          </a:prstGeom>
        </p:spPr>
      </p:pic>
      <p:sp>
        <p:nvSpPr>
          <p:cNvPr id="8" name="Text Placeholder 7">
            <a:extLst>
              <a:ext uri="{FF2B5EF4-FFF2-40B4-BE49-F238E27FC236}">
                <a16:creationId xmlns:a16="http://schemas.microsoft.com/office/drawing/2014/main" id="{B01682DE-B749-08F0-CF78-9C95BE4B1ABE}"/>
              </a:ext>
            </a:extLst>
          </p:cNvPr>
          <p:cNvSpPr>
            <a:spLocks noGrp="1"/>
          </p:cNvSpPr>
          <p:nvPr>
            <p:ph type="body" sz="quarter" idx="12"/>
          </p:nvPr>
        </p:nvSpPr>
        <p:spPr>
          <a:xfrm>
            <a:off x="5784475" y="1518025"/>
            <a:ext cx="4902667" cy="5067750"/>
          </a:xfrm>
          <a:prstGeom prst="rect">
            <a:avLst/>
          </a:prstGeom>
        </p:spPr>
        <p:txBody>
          <a:bodyPr/>
          <a:lstStyle>
            <a:lvl1pPr marL="0">
              <a:lnSpc>
                <a:spcPct val="125000"/>
              </a:lnSpc>
              <a:spcBef>
                <a:spcPts val="0"/>
              </a:spcBef>
              <a:buNone/>
              <a:defRPr sz="1200"/>
            </a:lvl1pPr>
          </a:lstStyle>
          <a:p>
            <a:pPr lvl="0"/>
            <a:endParaRPr lang="en-GB"/>
          </a:p>
          <a:p>
            <a:pPr lvl="0"/>
            <a:endParaRPr lang="en-GB"/>
          </a:p>
        </p:txBody>
      </p:sp>
      <p:sp>
        <p:nvSpPr>
          <p:cNvPr id="9" name="Text Placeholder 7">
            <a:extLst>
              <a:ext uri="{FF2B5EF4-FFF2-40B4-BE49-F238E27FC236}">
                <a16:creationId xmlns:a16="http://schemas.microsoft.com/office/drawing/2014/main" id="{BB2458FD-9BD4-B346-0973-DFAAC9DEC06E}"/>
              </a:ext>
            </a:extLst>
          </p:cNvPr>
          <p:cNvSpPr>
            <a:spLocks noGrp="1"/>
          </p:cNvSpPr>
          <p:nvPr>
            <p:ph type="body" sz="quarter" idx="13"/>
          </p:nvPr>
        </p:nvSpPr>
        <p:spPr>
          <a:xfrm>
            <a:off x="475876" y="461636"/>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
        <p:nvSpPr>
          <p:cNvPr id="10" name="Chart Placeholder 3">
            <a:extLst>
              <a:ext uri="{FF2B5EF4-FFF2-40B4-BE49-F238E27FC236}">
                <a16:creationId xmlns:a16="http://schemas.microsoft.com/office/drawing/2014/main" id="{449CB4B5-69AB-0DA3-D2BD-17E5B216BEC8}"/>
              </a:ext>
            </a:extLst>
          </p:cNvPr>
          <p:cNvSpPr>
            <a:spLocks noGrp="1"/>
          </p:cNvSpPr>
          <p:nvPr>
            <p:ph type="chart" sz="quarter" idx="14"/>
          </p:nvPr>
        </p:nvSpPr>
        <p:spPr>
          <a:xfrm>
            <a:off x="475876" y="1518024"/>
            <a:ext cx="5156200" cy="5067749"/>
          </a:xfrm>
          <a:prstGeom prst="rect">
            <a:avLst/>
          </a:prstGeom>
        </p:spPr>
        <p:txBody>
          <a:bodyPr/>
          <a:lstStyle/>
          <a:p>
            <a:endParaRPr lang="en-GB"/>
          </a:p>
        </p:txBody>
      </p:sp>
      <p:pic>
        <p:nvPicPr>
          <p:cNvPr id="5" name="Picture 4">
            <a:extLst>
              <a:ext uri="{FF2B5EF4-FFF2-40B4-BE49-F238E27FC236}">
                <a16:creationId xmlns:a16="http://schemas.microsoft.com/office/drawing/2014/main" id="{03D634AB-DF13-6848-D7E1-D4DFD1687B97}"/>
              </a:ext>
            </a:extLst>
          </p:cNvPr>
          <p:cNvPicPr>
            <a:picLocks noChangeAspect="1"/>
          </p:cNvPicPr>
          <p:nvPr userDrawn="1"/>
        </p:nvPicPr>
        <p:blipFill>
          <a:blip r:embed="rId3">
            <a:alphaModFix/>
            <a:extLst>
              <a:ext uri="{28A0092B-C50C-407E-A947-70E740481C1C}">
                <a14:useLocalDpi xmlns:a14="http://schemas.microsoft.com/office/drawing/2010/main" val="0"/>
              </a:ext>
            </a:extLst>
          </a:blip>
          <a:stretch>
            <a:fillRect/>
          </a:stretch>
        </p:blipFill>
        <p:spPr>
          <a:xfrm>
            <a:off x="11046196" y="461636"/>
            <a:ext cx="1038095" cy="609524"/>
          </a:xfrm>
          <a:prstGeom prst="rect">
            <a:avLst/>
          </a:prstGeom>
        </p:spPr>
      </p:pic>
    </p:spTree>
    <p:extLst>
      <p:ext uri="{BB962C8B-B14F-4D97-AF65-F5344CB8AC3E}">
        <p14:creationId xmlns:p14="http://schemas.microsoft.com/office/powerpoint/2010/main" val="33660445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FC35AE-7019-2214-7080-B9C123094016}"/>
              </a:ext>
            </a:extLst>
          </p:cNvPr>
          <p:cNvSpPr/>
          <p:nvPr userDrawn="1"/>
        </p:nvSpPr>
        <p:spPr>
          <a:xfrm>
            <a:off x="10913035" y="0"/>
            <a:ext cx="1332752" cy="6858000"/>
          </a:xfrm>
          <a:prstGeom prst="rect">
            <a:avLst/>
          </a:prstGeom>
          <a:gradFill flip="none" rotWithShape="1">
            <a:gsLst>
              <a:gs pos="0">
                <a:srgbClr val="0A4873"/>
              </a:gs>
              <a:gs pos="58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E26D47F6-2453-D3D3-2400-2139B0EA0150}"/>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rcRect l="81324" b="58780"/>
          <a:stretch>
            <a:fillRect/>
          </a:stretch>
        </p:blipFill>
        <p:spPr>
          <a:xfrm flipH="1">
            <a:off x="14194" y="8745"/>
            <a:ext cx="2277035" cy="2826870"/>
          </a:xfrm>
          <a:prstGeom prst="rect">
            <a:avLst/>
          </a:prstGeom>
        </p:spPr>
      </p:pic>
      <p:sp>
        <p:nvSpPr>
          <p:cNvPr id="8" name="Text Placeholder 7">
            <a:extLst>
              <a:ext uri="{FF2B5EF4-FFF2-40B4-BE49-F238E27FC236}">
                <a16:creationId xmlns:a16="http://schemas.microsoft.com/office/drawing/2014/main" id="{B01682DE-B749-08F0-CF78-9C95BE4B1ABE}"/>
              </a:ext>
            </a:extLst>
          </p:cNvPr>
          <p:cNvSpPr>
            <a:spLocks noGrp="1"/>
          </p:cNvSpPr>
          <p:nvPr>
            <p:ph type="body" sz="quarter" idx="12"/>
          </p:nvPr>
        </p:nvSpPr>
        <p:spPr>
          <a:xfrm>
            <a:off x="475877" y="1428377"/>
            <a:ext cx="10211266" cy="5157398"/>
          </a:xfrm>
          <a:prstGeom prst="rect">
            <a:avLst/>
          </a:prstGeom>
        </p:spPr>
        <p:txBody>
          <a:bodyPr/>
          <a:lstStyle>
            <a:lvl1pPr marL="0">
              <a:lnSpc>
                <a:spcPct val="125000"/>
              </a:lnSpc>
              <a:spcBef>
                <a:spcPts val="0"/>
              </a:spcBef>
              <a:buNone/>
              <a:defRPr sz="1200"/>
            </a:lvl1pPr>
          </a:lstStyle>
          <a:p>
            <a:pPr lvl="0"/>
            <a:endParaRPr lang="en-GB"/>
          </a:p>
        </p:txBody>
      </p:sp>
      <p:sp>
        <p:nvSpPr>
          <p:cNvPr id="9" name="Text Placeholder 7">
            <a:extLst>
              <a:ext uri="{FF2B5EF4-FFF2-40B4-BE49-F238E27FC236}">
                <a16:creationId xmlns:a16="http://schemas.microsoft.com/office/drawing/2014/main" id="{BB2458FD-9BD4-B346-0973-DFAAC9DEC06E}"/>
              </a:ext>
            </a:extLst>
          </p:cNvPr>
          <p:cNvSpPr>
            <a:spLocks noGrp="1"/>
          </p:cNvSpPr>
          <p:nvPr>
            <p:ph type="body" sz="quarter" idx="13"/>
          </p:nvPr>
        </p:nvSpPr>
        <p:spPr>
          <a:xfrm>
            <a:off x="475876" y="461636"/>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pic>
        <p:nvPicPr>
          <p:cNvPr id="6" name="Picture 5">
            <a:extLst>
              <a:ext uri="{FF2B5EF4-FFF2-40B4-BE49-F238E27FC236}">
                <a16:creationId xmlns:a16="http://schemas.microsoft.com/office/drawing/2014/main" id="{A54CA684-E969-2D9F-D0BA-C0A0E81358CE}"/>
              </a:ext>
            </a:extLst>
          </p:cNvPr>
          <p:cNvPicPr>
            <a:picLocks noChangeAspect="1"/>
          </p:cNvPicPr>
          <p:nvPr userDrawn="1"/>
        </p:nvPicPr>
        <p:blipFill>
          <a:blip r:embed="rId3">
            <a:alphaModFix/>
            <a:extLst>
              <a:ext uri="{28A0092B-C50C-407E-A947-70E740481C1C}">
                <a14:useLocalDpi xmlns:a14="http://schemas.microsoft.com/office/drawing/2010/main" val="0"/>
              </a:ext>
            </a:extLst>
          </a:blip>
          <a:stretch>
            <a:fillRect/>
          </a:stretch>
        </p:blipFill>
        <p:spPr>
          <a:xfrm>
            <a:off x="11046196" y="461636"/>
            <a:ext cx="1038095" cy="609524"/>
          </a:xfrm>
          <a:prstGeom prst="rect">
            <a:avLst/>
          </a:prstGeom>
        </p:spPr>
      </p:pic>
    </p:spTree>
    <p:extLst>
      <p:ext uri="{BB962C8B-B14F-4D97-AF65-F5344CB8AC3E}">
        <p14:creationId xmlns:p14="http://schemas.microsoft.com/office/powerpoint/2010/main" val="17775719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FC35AE-7019-2214-7080-B9C123094016}"/>
              </a:ext>
            </a:extLst>
          </p:cNvPr>
          <p:cNvSpPr/>
          <p:nvPr userDrawn="1"/>
        </p:nvSpPr>
        <p:spPr>
          <a:xfrm>
            <a:off x="10913035" y="0"/>
            <a:ext cx="1332752" cy="6858000"/>
          </a:xfrm>
          <a:prstGeom prst="rect">
            <a:avLst/>
          </a:prstGeom>
          <a:gradFill flip="none" rotWithShape="1">
            <a:gsLst>
              <a:gs pos="0">
                <a:srgbClr val="0A4873"/>
              </a:gs>
              <a:gs pos="58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E26D47F6-2453-D3D3-2400-2139B0EA0150}"/>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rcRect l="81324" b="58780"/>
          <a:stretch>
            <a:fillRect/>
          </a:stretch>
        </p:blipFill>
        <p:spPr>
          <a:xfrm flipH="1">
            <a:off x="14194" y="8745"/>
            <a:ext cx="2277035" cy="2826870"/>
          </a:xfrm>
          <a:prstGeom prst="rect">
            <a:avLst/>
          </a:prstGeom>
        </p:spPr>
      </p:pic>
      <p:sp>
        <p:nvSpPr>
          <p:cNvPr id="4" name="Picture Placeholder 7">
            <a:extLst>
              <a:ext uri="{FF2B5EF4-FFF2-40B4-BE49-F238E27FC236}">
                <a16:creationId xmlns:a16="http://schemas.microsoft.com/office/drawing/2014/main" id="{E3355D25-6021-5439-2D81-19AB188F277E}"/>
              </a:ext>
            </a:extLst>
          </p:cNvPr>
          <p:cNvSpPr>
            <a:spLocks noGrp="1"/>
          </p:cNvSpPr>
          <p:nvPr>
            <p:ph type="pic" sz="quarter" idx="10"/>
          </p:nvPr>
        </p:nvSpPr>
        <p:spPr>
          <a:xfrm>
            <a:off x="475876" y="3816350"/>
            <a:ext cx="4353112" cy="2675295"/>
          </a:xfrm>
          <a:prstGeom prst="rect">
            <a:avLst/>
          </a:prstGeom>
        </p:spPr>
        <p:txBody>
          <a:bodyPr/>
          <a:lstStyle/>
          <a:p>
            <a:r>
              <a:rPr lang="en-US"/>
              <a:t>Click icon to add picture</a:t>
            </a:r>
            <a:endParaRPr lang="en-GB"/>
          </a:p>
        </p:txBody>
      </p:sp>
      <p:sp>
        <p:nvSpPr>
          <p:cNvPr id="5" name="Text Placeholder 7">
            <a:extLst>
              <a:ext uri="{FF2B5EF4-FFF2-40B4-BE49-F238E27FC236}">
                <a16:creationId xmlns:a16="http://schemas.microsoft.com/office/drawing/2014/main" id="{B4B68098-5535-6EE1-ACAD-90BC0A653429}"/>
              </a:ext>
            </a:extLst>
          </p:cNvPr>
          <p:cNvSpPr>
            <a:spLocks noGrp="1"/>
          </p:cNvSpPr>
          <p:nvPr>
            <p:ph type="body" sz="quarter" idx="11"/>
          </p:nvPr>
        </p:nvSpPr>
        <p:spPr>
          <a:xfrm>
            <a:off x="480452" y="1422180"/>
            <a:ext cx="10062042" cy="2216150"/>
          </a:xfrm>
          <a:prstGeom prst="rect">
            <a:avLst/>
          </a:prstGeom>
        </p:spPr>
        <p:txBody>
          <a:bodyPr/>
          <a:lstStyle>
            <a:lvl1pPr marL="0">
              <a:lnSpc>
                <a:spcPct val="125000"/>
              </a:lnSpc>
              <a:spcBef>
                <a:spcPts val="0"/>
              </a:spcBef>
              <a:buNone/>
              <a:defRPr sz="1200"/>
            </a:lvl1pPr>
          </a:lstStyle>
          <a:p>
            <a:pPr lvl="0"/>
            <a:endParaRPr lang="en-GB"/>
          </a:p>
        </p:txBody>
      </p:sp>
      <p:sp>
        <p:nvSpPr>
          <p:cNvPr id="6" name="Text Placeholder 7">
            <a:extLst>
              <a:ext uri="{FF2B5EF4-FFF2-40B4-BE49-F238E27FC236}">
                <a16:creationId xmlns:a16="http://schemas.microsoft.com/office/drawing/2014/main" id="{BA7407E8-E036-83A9-668F-DB473A739494}"/>
              </a:ext>
            </a:extLst>
          </p:cNvPr>
          <p:cNvSpPr>
            <a:spLocks noGrp="1"/>
          </p:cNvSpPr>
          <p:nvPr>
            <p:ph type="body" sz="quarter" idx="12"/>
          </p:nvPr>
        </p:nvSpPr>
        <p:spPr>
          <a:xfrm>
            <a:off x="5016967" y="3816350"/>
            <a:ext cx="5588000" cy="2675295"/>
          </a:xfrm>
          <a:prstGeom prst="rect">
            <a:avLst/>
          </a:prstGeom>
        </p:spPr>
        <p:txBody>
          <a:bodyPr/>
          <a:lstStyle>
            <a:lvl1pPr marL="0">
              <a:lnSpc>
                <a:spcPct val="125000"/>
              </a:lnSpc>
              <a:spcBef>
                <a:spcPts val="0"/>
              </a:spcBef>
              <a:buNone/>
              <a:defRPr sz="1200"/>
            </a:lvl1pPr>
          </a:lstStyle>
          <a:p>
            <a:pPr lvl="0"/>
            <a:endParaRPr lang="en-GB"/>
          </a:p>
        </p:txBody>
      </p:sp>
      <p:sp>
        <p:nvSpPr>
          <p:cNvPr id="9" name="Text Placeholder 7">
            <a:extLst>
              <a:ext uri="{FF2B5EF4-FFF2-40B4-BE49-F238E27FC236}">
                <a16:creationId xmlns:a16="http://schemas.microsoft.com/office/drawing/2014/main" id="{C9648CC1-F937-D745-4AE5-52A41B9B6441}"/>
              </a:ext>
            </a:extLst>
          </p:cNvPr>
          <p:cNvSpPr>
            <a:spLocks noGrp="1"/>
          </p:cNvSpPr>
          <p:nvPr>
            <p:ph type="body" sz="quarter" idx="13"/>
          </p:nvPr>
        </p:nvSpPr>
        <p:spPr>
          <a:xfrm>
            <a:off x="475876" y="461636"/>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pic>
        <p:nvPicPr>
          <p:cNvPr id="12" name="Picture 11">
            <a:extLst>
              <a:ext uri="{FF2B5EF4-FFF2-40B4-BE49-F238E27FC236}">
                <a16:creationId xmlns:a16="http://schemas.microsoft.com/office/drawing/2014/main" id="{673949C3-32C0-473C-B588-3E223702B74D}"/>
              </a:ext>
            </a:extLst>
          </p:cNvPr>
          <p:cNvPicPr>
            <a:picLocks noChangeAspect="1"/>
          </p:cNvPicPr>
          <p:nvPr userDrawn="1"/>
        </p:nvPicPr>
        <p:blipFill>
          <a:blip r:embed="rId3">
            <a:alphaModFix/>
            <a:extLst>
              <a:ext uri="{28A0092B-C50C-407E-A947-70E740481C1C}">
                <a14:useLocalDpi xmlns:a14="http://schemas.microsoft.com/office/drawing/2010/main" val="0"/>
              </a:ext>
            </a:extLst>
          </a:blip>
          <a:stretch>
            <a:fillRect/>
          </a:stretch>
        </p:blipFill>
        <p:spPr>
          <a:xfrm>
            <a:off x="11046196" y="461636"/>
            <a:ext cx="1038095" cy="609524"/>
          </a:xfrm>
          <a:prstGeom prst="rect">
            <a:avLst/>
          </a:prstGeom>
        </p:spPr>
      </p:pic>
    </p:spTree>
    <p:extLst>
      <p:ext uri="{BB962C8B-B14F-4D97-AF65-F5344CB8AC3E}">
        <p14:creationId xmlns:p14="http://schemas.microsoft.com/office/powerpoint/2010/main" val="2640560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FCA58C1-3C33-448F-8F83-ED239108BCE7}"/>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rcRect l="81324" b="58780"/>
          <a:stretch>
            <a:fillRect/>
          </a:stretch>
        </p:blipFill>
        <p:spPr>
          <a:xfrm flipH="1">
            <a:off x="-3734" y="8745"/>
            <a:ext cx="2277035" cy="2826870"/>
          </a:xfrm>
          <a:prstGeom prst="rect">
            <a:avLst/>
          </a:prstGeom>
        </p:spPr>
      </p:pic>
      <p:sp>
        <p:nvSpPr>
          <p:cNvPr id="10" name="Rectangle 9">
            <a:extLst>
              <a:ext uri="{FF2B5EF4-FFF2-40B4-BE49-F238E27FC236}">
                <a16:creationId xmlns:a16="http://schemas.microsoft.com/office/drawing/2014/main" id="{83B50FDB-1887-A3FD-96B2-66A30FDF67AB}"/>
              </a:ext>
            </a:extLst>
          </p:cNvPr>
          <p:cNvSpPr/>
          <p:nvPr userDrawn="1"/>
        </p:nvSpPr>
        <p:spPr>
          <a:xfrm>
            <a:off x="10913035" y="0"/>
            <a:ext cx="1332752" cy="6858000"/>
          </a:xfrm>
          <a:prstGeom prst="rect">
            <a:avLst/>
          </a:prstGeom>
          <a:gradFill flip="none" rotWithShape="1">
            <a:gsLst>
              <a:gs pos="0">
                <a:srgbClr val="0A4873"/>
              </a:gs>
              <a:gs pos="58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7">
            <a:extLst>
              <a:ext uri="{FF2B5EF4-FFF2-40B4-BE49-F238E27FC236}">
                <a16:creationId xmlns:a16="http://schemas.microsoft.com/office/drawing/2014/main" id="{3F287942-67FA-F0FD-4BBE-ADAD77DACD45}"/>
              </a:ext>
            </a:extLst>
          </p:cNvPr>
          <p:cNvSpPr>
            <a:spLocks noGrp="1"/>
          </p:cNvSpPr>
          <p:nvPr>
            <p:ph type="body" sz="quarter" idx="12"/>
          </p:nvPr>
        </p:nvSpPr>
        <p:spPr>
          <a:xfrm>
            <a:off x="6004863" y="4584700"/>
            <a:ext cx="4752038" cy="2139950"/>
          </a:xfrm>
          <a:prstGeom prst="rect">
            <a:avLst/>
          </a:prstGeom>
        </p:spPr>
        <p:txBody>
          <a:bodyPr/>
          <a:lstStyle>
            <a:lvl1pPr marL="0" indent="0">
              <a:lnSpc>
                <a:spcPct val="125000"/>
              </a:lnSpc>
              <a:spcBef>
                <a:spcPts val="0"/>
              </a:spcBef>
              <a:buNone/>
              <a:defRPr sz="1200"/>
            </a:lvl1pPr>
          </a:lstStyle>
          <a:p>
            <a:pPr lvl="0"/>
            <a:endParaRPr lang="en-GB"/>
          </a:p>
        </p:txBody>
      </p:sp>
      <p:sp>
        <p:nvSpPr>
          <p:cNvPr id="15" name="Text Placeholder 7">
            <a:extLst>
              <a:ext uri="{FF2B5EF4-FFF2-40B4-BE49-F238E27FC236}">
                <a16:creationId xmlns:a16="http://schemas.microsoft.com/office/drawing/2014/main" id="{0D633268-08B9-2D0E-C366-887677A93D5B}"/>
              </a:ext>
            </a:extLst>
          </p:cNvPr>
          <p:cNvSpPr>
            <a:spLocks noGrp="1"/>
          </p:cNvSpPr>
          <p:nvPr>
            <p:ph type="body" sz="quarter" idx="14"/>
          </p:nvPr>
        </p:nvSpPr>
        <p:spPr>
          <a:xfrm>
            <a:off x="6000378" y="1847690"/>
            <a:ext cx="4752038" cy="2253814"/>
          </a:xfrm>
          <a:prstGeom prst="rect">
            <a:avLst/>
          </a:prstGeom>
        </p:spPr>
        <p:txBody>
          <a:bodyPr/>
          <a:lstStyle>
            <a:lvl1pPr marL="0" indent="0">
              <a:lnSpc>
                <a:spcPct val="125000"/>
              </a:lnSpc>
              <a:spcBef>
                <a:spcPts val="0"/>
              </a:spcBef>
              <a:buNone/>
              <a:defRPr sz="1200"/>
            </a:lvl1pPr>
          </a:lstStyle>
          <a:p>
            <a:pPr lvl="0"/>
            <a:endParaRPr lang="en-GB"/>
          </a:p>
        </p:txBody>
      </p:sp>
      <p:sp>
        <p:nvSpPr>
          <p:cNvPr id="16" name="Text Placeholder 7">
            <a:extLst>
              <a:ext uri="{FF2B5EF4-FFF2-40B4-BE49-F238E27FC236}">
                <a16:creationId xmlns:a16="http://schemas.microsoft.com/office/drawing/2014/main" id="{CAB021FA-E6AE-808E-9889-1D32A753E79F}"/>
              </a:ext>
            </a:extLst>
          </p:cNvPr>
          <p:cNvSpPr>
            <a:spLocks noGrp="1"/>
          </p:cNvSpPr>
          <p:nvPr>
            <p:ph type="body" sz="quarter" idx="15"/>
          </p:nvPr>
        </p:nvSpPr>
        <p:spPr>
          <a:xfrm>
            <a:off x="475877" y="4584700"/>
            <a:ext cx="4752038" cy="2139950"/>
          </a:xfrm>
          <a:prstGeom prst="rect">
            <a:avLst/>
          </a:prstGeom>
        </p:spPr>
        <p:txBody>
          <a:bodyPr/>
          <a:lstStyle>
            <a:lvl1pPr marL="0" indent="0">
              <a:lnSpc>
                <a:spcPct val="125000"/>
              </a:lnSpc>
              <a:spcBef>
                <a:spcPts val="0"/>
              </a:spcBef>
              <a:buNone/>
              <a:defRPr sz="1200"/>
            </a:lvl1pPr>
          </a:lstStyle>
          <a:p>
            <a:pPr lvl="0"/>
            <a:endParaRPr lang="en-GB"/>
          </a:p>
        </p:txBody>
      </p:sp>
      <p:sp>
        <p:nvSpPr>
          <p:cNvPr id="17" name="Text Placeholder 7">
            <a:extLst>
              <a:ext uri="{FF2B5EF4-FFF2-40B4-BE49-F238E27FC236}">
                <a16:creationId xmlns:a16="http://schemas.microsoft.com/office/drawing/2014/main" id="{A7A6104A-90F2-B6EF-9EAA-82EFA3EA2FB0}"/>
              </a:ext>
            </a:extLst>
          </p:cNvPr>
          <p:cNvSpPr>
            <a:spLocks noGrp="1"/>
          </p:cNvSpPr>
          <p:nvPr>
            <p:ph type="body" sz="quarter" idx="16"/>
          </p:nvPr>
        </p:nvSpPr>
        <p:spPr>
          <a:xfrm>
            <a:off x="475877" y="1847690"/>
            <a:ext cx="4752038" cy="2253814"/>
          </a:xfrm>
          <a:prstGeom prst="rect">
            <a:avLst/>
          </a:prstGeom>
        </p:spPr>
        <p:txBody>
          <a:bodyPr/>
          <a:lstStyle>
            <a:lvl1pPr marL="0" indent="0">
              <a:lnSpc>
                <a:spcPct val="125000"/>
              </a:lnSpc>
              <a:spcBef>
                <a:spcPts val="0"/>
              </a:spcBef>
              <a:buNone/>
              <a:defRPr sz="1200"/>
            </a:lvl1pPr>
          </a:lstStyle>
          <a:p>
            <a:pPr lvl="0"/>
            <a:endParaRPr lang="en-GB"/>
          </a:p>
        </p:txBody>
      </p:sp>
      <p:sp>
        <p:nvSpPr>
          <p:cNvPr id="18" name="Text Placeholder 7">
            <a:extLst>
              <a:ext uri="{FF2B5EF4-FFF2-40B4-BE49-F238E27FC236}">
                <a16:creationId xmlns:a16="http://schemas.microsoft.com/office/drawing/2014/main" id="{08162926-956C-1961-AF05-0F3E3A6ADB7E}"/>
              </a:ext>
            </a:extLst>
          </p:cNvPr>
          <p:cNvSpPr>
            <a:spLocks noGrp="1"/>
          </p:cNvSpPr>
          <p:nvPr>
            <p:ph type="body" sz="quarter" idx="17"/>
          </p:nvPr>
        </p:nvSpPr>
        <p:spPr>
          <a:xfrm>
            <a:off x="475877" y="1414120"/>
            <a:ext cx="4752038"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19" name="Text Placeholder 7">
            <a:extLst>
              <a:ext uri="{FF2B5EF4-FFF2-40B4-BE49-F238E27FC236}">
                <a16:creationId xmlns:a16="http://schemas.microsoft.com/office/drawing/2014/main" id="{6B5500DA-695C-645A-C0FC-6CC69F5A0A89}"/>
              </a:ext>
            </a:extLst>
          </p:cNvPr>
          <p:cNvSpPr>
            <a:spLocks noGrp="1"/>
          </p:cNvSpPr>
          <p:nvPr>
            <p:ph type="body" sz="quarter" idx="18"/>
          </p:nvPr>
        </p:nvSpPr>
        <p:spPr>
          <a:xfrm>
            <a:off x="6000379" y="1414120"/>
            <a:ext cx="4752038"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20" name="Text Placeholder 7">
            <a:extLst>
              <a:ext uri="{FF2B5EF4-FFF2-40B4-BE49-F238E27FC236}">
                <a16:creationId xmlns:a16="http://schemas.microsoft.com/office/drawing/2014/main" id="{F77AB940-F575-FB02-4067-934E5A1E6B96}"/>
              </a:ext>
            </a:extLst>
          </p:cNvPr>
          <p:cNvSpPr>
            <a:spLocks noGrp="1"/>
          </p:cNvSpPr>
          <p:nvPr>
            <p:ph type="body" sz="quarter" idx="19"/>
          </p:nvPr>
        </p:nvSpPr>
        <p:spPr>
          <a:xfrm>
            <a:off x="475877" y="4153176"/>
            <a:ext cx="4752038"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21" name="Text Placeholder 7">
            <a:extLst>
              <a:ext uri="{FF2B5EF4-FFF2-40B4-BE49-F238E27FC236}">
                <a16:creationId xmlns:a16="http://schemas.microsoft.com/office/drawing/2014/main" id="{B4710609-5077-00B2-5806-FE592C6F0EC5}"/>
              </a:ext>
            </a:extLst>
          </p:cNvPr>
          <p:cNvSpPr>
            <a:spLocks noGrp="1"/>
          </p:cNvSpPr>
          <p:nvPr>
            <p:ph type="body" sz="quarter" idx="20"/>
          </p:nvPr>
        </p:nvSpPr>
        <p:spPr>
          <a:xfrm>
            <a:off x="6000377" y="4152631"/>
            <a:ext cx="4752038"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2" name="Text Placeholder 7">
            <a:extLst>
              <a:ext uri="{FF2B5EF4-FFF2-40B4-BE49-F238E27FC236}">
                <a16:creationId xmlns:a16="http://schemas.microsoft.com/office/drawing/2014/main" id="{61A62274-1ADA-7058-CAF2-A0CFA6CC6621}"/>
              </a:ext>
            </a:extLst>
          </p:cNvPr>
          <p:cNvSpPr>
            <a:spLocks noGrp="1"/>
          </p:cNvSpPr>
          <p:nvPr>
            <p:ph type="body" sz="quarter" idx="13"/>
          </p:nvPr>
        </p:nvSpPr>
        <p:spPr>
          <a:xfrm>
            <a:off x="475876" y="461636"/>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pic>
        <p:nvPicPr>
          <p:cNvPr id="6" name="Picture 5">
            <a:extLst>
              <a:ext uri="{FF2B5EF4-FFF2-40B4-BE49-F238E27FC236}">
                <a16:creationId xmlns:a16="http://schemas.microsoft.com/office/drawing/2014/main" id="{3CE7B6AF-5965-4D64-0CB5-DF1E1BB8BFAB}"/>
              </a:ext>
            </a:extLst>
          </p:cNvPr>
          <p:cNvPicPr>
            <a:picLocks noChangeAspect="1"/>
          </p:cNvPicPr>
          <p:nvPr userDrawn="1"/>
        </p:nvPicPr>
        <p:blipFill>
          <a:blip r:embed="rId3">
            <a:alphaModFix/>
            <a:extLst>
              <a:ext uri="{28A0092B-C50C-407E-A947-70E740481C1C}">
                <a14:useLocalDpi xmlns:a14="http://schemas.microsoft.com/office/drawing/2010/main" val="0"/>
              </a:ext>
            </a:extLst>
          </a:blip>
          <a:stretch>
            <a:fillRect/>
          </a:stretch>
        </p:blipFill>
        <p:spPr>
          <a:xfrm>
            <a:off x="11046196" y="461636"/>
            <a:ext cx="1038095" cy="609524"/>
          </a:xfrm>
          <a:prstGeom prst="rect">
            <a:avLst/>
          </a:prstGeom>
        </p:spPr>
      </p:pic>
    </p:spTree>
    <p:extLst>
      <p:ext uri="{BB962C8B-B14F-4D97-AF65-F5344CB8AC3E}">
        <p14:creationId xmlns:p14="http://schemas.microsoft.com/office/powerpoint/2010/main" val="5923029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43B2FB1-8AA5-356B-1585-28351D7E8E1E}"/>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Rectangle: Rounded Corners 9">
            <a:extLst>
              <a:ext uri="{FF2B5EF4-FFF2-40B4-BE49-F238E27FC236}">
                <a16:creationId xmlns:a16="http://schemas.microsoft.com/office/drawing/2014/main" id="{E3B51D4A-362A-1BDE-D807-F0F37BEF76BB}"/>
              </a:ext>
            </a:extLst>
          </p:cNvPr>
          <p:cNvSpPr/>
          <p:nvPr userDrawn="1"/>
        </p:nvSpPr>
        <p:spPr>
          <a:xfrm>
            <a:off x="6245412" y="1476188"/>
            <a:ext cx="6974541" cy="5157694"/>
          </a:xfrm>
          <a:prstGeom prst="roundRect">
            <a:avLst/>
          </a:prstGeom>
          <a:solidFill>
            <a:srgbClr val="0A4873"/>
          </a:solidFill>
          <a:ln w="19050">
            <a:solidFill>
              <a:srgbClr val="0A4873"/>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 Placeholder 7">
            <a:extLst>
              <a:ext uri="{FF2B5EF4-FFF2-40B4-BE49-F238E27FC236}">
                <a16:creationId xmlns:a16="http://schemas.microsoft.com/office/drawing/2014/main" id="{8A8B151B-3F1E-D1CF-7369-5E61692FE729}"/>
              </a:ext>
            </a:extLst>
          </p:cNvPr>
          <p:cNvSpPr>
            <a:spLocks noGrp="1"/>
          </p:cNvSpPr>
          <p:nvPr>
            <p:ph type="body" sz="quarter" idx="14"/>
          </p:nvPr>
        </p:nvSpPr>
        <p:spPr>
          <a:xfrm>
            <a:off x="333664" y="2302092"/>
            <a:ext cx="5420591" cy="4144889"/>
          </a:xfrm>
          <a:prstGeom prst="rect">
            <a:avLst/>
          </a:prstGeom>
        </p:spPr>
        <p:txBody>
          <a:bodyPr/>
          <a:lstStyle>
            <a:lvl1pPr marL="0" indent="0">
              <a:lnSpc>
                <a:spcPct val="125000"/>
              </a:lnSpc>
              <a:spcBef>
                <a:spcPts val="0"/>
              </a:spcBef>
              <a:buNone/>
              <a:defRPr sz="1200"/>
            </a:lvl1pPr>
          </a:lstStyle>
          <a:p>
            <a:pPr lvl="0"/>
            <a:endParaRPr lang="en-GB"/>
          </a:p>
        </p:txBody>
      </p:sp>
      <p:sp>
        <p:nvSpPr>
          <p:cNvPr id="3" name="Text Placeholder 7">
            <a:extLst>
              <a:ext uri="{FF2B5EF4-FFF2-40B4-BE49-F238E27FC236}">
                <a16:creationId xmlns:a16="http://schemas.microsoft.com/office/drawing/2014/main" id="{2F387FEF-44D5-C8F9-DDAA-8552C856AC81}"/>
              </a:ext>
            </a:extLst>
          </p:cNvPr>
          <p:cNvSpPr>
            <a:spLocks noGrp="1"/>
          </p:cNvSpPr>
          <p:nvPr>
            <p:ph type="body" sz="quarter" idx="18"/>
          </p:nvPr>
        </p:nvSpPr>
        <p:spPr>
          <a:xfrm>
            <a:off x="333665" y="1868523"/>
            <a:ext cx="5420591" cy="433570"/>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4" name="Text Placeholder 7">
            <a:extLst>
              <a:ext uri="{FF2B5EF4-FFF2-40B4-BE49-F238E27FC236}">
                <a16:creationId xmlns:a16="http://schemas.microsoft.com/office/drawing/2014/main" id="{88B06871-54B7-3B60-DDCE-E220D2650F61}"/>
              </a:ext>
            </a:extLst>
          </p:cNvPr>
          <p:cNvSpPr>
            <a:spLocks noGrp="1"/>
          </p:cNvSpPr>
          <p:nvPr>
            <p:ph type="body" sz="quarter" idx="19"/>
          </p:nvPr>
        </p:nvSpPr>
        <p:spPr>
          <a:xfrm>
            <a:off x="6789882" y="2302092"/>
            <a:ext cx="5180445" cy="4144889"/>
          </a:xfrm>
          <a:prstGeom prst="rect">
            <a:avLst/>
          </a:prstGeom>
        </p:spPr>
        <p:txBody>
          <a:bodyPr/>
          <a:lstStyle>
            <a:lvl1pPr marL="0" indent="0">
              <a:lnSpc>
                <a:spcPct val="125000"/>
              </a:lnSpc>
              <a:spcBef>
                <a:spcPts val="0"/>
              </a:spcBef>
              <a:buNone/>
              <a:defRPr sz="1200">
                <a:solidFill>
                  <a:schemeClr val="bg1"/>
                </a:solidFill>
              </a:defRPr>
            </a:lvl1pPr>
          </a:lstStyle>
          <a:p>
            <a:pPr lvl="0"/>
            <a:endParaRPr lang="en-GB"/>
          </a:p>
        </p:txBody>
      </p:sp>
      <p:sp>
        <p:nvSpPr>
          <p:cNvPr id="5" name="Text Placeholder 7">
            <a:extLst>
              <a:ext uri="{FF2B5EF4-FFF2-40B4-BE49-F238E27FC236}">
                <a16:creationId xmlns:a16="http://schemas.microsoft.com/office/drawing/2014/main" id="{9995C7FF-715E-A0E4-5180-1A1743843EBE}"/>
              </a:ext>
            </a:extLst>
          </p:cNvPr>
          <p:cNvSpPr>
            <a:spLocks noGrp="1"/>
          </p:cNvSpPr>
          <p:nvPr>
            <p:ph type="body" sz="quarter" idx="20"/>
          </p:nvPr>
        </p:nvSpPr>
        <p:spPr>
          <a:xfrm>
            <a:off x="6789883" y="1868523"/>
            <a:ext cx="5180444" cy="369332"/>
          </a:xfrm>
          <a:prstGeom prst="rect">
            <a:avLst/>
          </a:prstGeom>
        </p:spPr>
        <p:txBody>
          <a:bodyPr/>
          <a:lstStyle>
            <a:lvl1pPr marL="0" indent="0">
              <a:lnSpc>
                <a:spcPct val="125000"/>
              </a:lnSpc>
              <a:spcBef>
                <a:spcPts val="0"/>
              </a:spcBef>
              <a:buNone/>
              <a:defRPr sz="1800" b="1">
                <a:solidFill>
                  <a:schemeClr val="bg1"/>
                </a:solidFill>
              </a:defRPr>
            </a:lvl1pPr>
          </a:lstStyle>
          <a:p>
            <a:pPr lvl="0"/>
            <a:endParaRPr lang="en-GB"/>
          </a:p>
        </p:txBody>
      </p:sp>
      <p:sp>
        <p:nvSpPr>
          <p:cNvPr id="7" name="Text Placeholder 7">
            <a:extLst>
              <a:ext uri="{FF2B5EF4-FFF2-40B4-BE49-F238E27FC236}">
                <a16:creationId xmlns:a16="http://schemas.microsoft.com/office/drawing/2014/main" id="{669C8229-BB60-5B51-3933-6E1A9F6D1BF7}"/>
              </a:ext>
            </a:extLst>
          </p:cNvPr>
          <p:cNvSpPr>
            <a:spLocks noGrp="1"/>
          </p:cNvSpPr>
          <p:nvPr>
            <p:ph type="body" sz="quarter" idx="13"/>
          </p:nvPr>
        </p:nvSpPr>
        <p:spPr>
          <a:xfrm>
            <a:off x="475876" y="461636"/>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17630486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E22024B-8FE7-B420-37F8-1B78EF27E53D}"/>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Rectangle: Rounded Corners 9">
            <a:extLst>
              <a:ext uri="{FF2B5EF4-FFF2-40B4-BE49-F238E27FC236}">
                <a16:creationId xmlns:a16="http://schemas.microsoft.com/office/drawing/2014/main" id="{E3B51D4A-362A-1BDE-D807-F0F37BEF76BB}"/>
              </a:ext>
            </a:extLst>
          </p:cNvPr>
          <p:cNvSpPr/>
          <p:nvPr userDrawn="1"/>
        </p:nvSpPr>
        <p:spPr>
          <a:xfrm>
            <a:off x="-1362635" y="1571812"/>
            <a:ext cx="7339111" cy="5085976"/>
          </a:xfrm>
          <a:prstGeom prst="roundRect">
            <a:avLst/>
          </a:prstGeom>
          <a:solidFill>
            <a:srgbClr val="0A4873"/>
          </a:solidFill>
          <a:ln w="19050">
            <a:solidFill>
              <a:srgbClr val="0A4873"/>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7">
            <a:extLst>
              <a:ext uri="{FF2B5EF4-FFF2-40B4-BE49-F238E27FC236}">
                <a16:creationId xmlns:a16="http://schemas.microsoft.com/office/drawing/2014/main" id="{75607A7B-4B52-8034-9796-CCB7D05C5737}"/>
              </a:ext>
            </a:extLst>
          </p:cNvPr>
          <p:cNvSpPr>
            <a:spLocks noGrp="1"/>
          </p:cNvSpPr>
          <p:nvPr>
            <p:ph type="body" sz="quarter" idx="19"/>
          </p:nvPr>
        </p:nvSpPr>
        <p:spPr>
          <a:xfrm>
            <a:off x="315191" y="2292856"/>
            <a:ext cx="5180445" cy="4144889"/>
          </a:xfrm>
          <a:prstGeom prst="rect">
            <a:avLst/>
          </a:prstGeom>
        </p:spPr>
        <p:txBody>
          <a:bodyPr/>
          <a:lstStyle>
            <a:lvl1pPr marL="0" indent="0">
              <a:lnSpc>
                <a:spcPct val="125000"/>
              </a:lnSpc>
              <a:spcBef>
                <a:spcPts val="0"/>
              </a:spcBef>
              <a:buNone/>
              <a:defRPr sz="1200">
                <a:solidFill>
                  <a:schemeClr val="bg1"/>
                </a:solidFill>
              </a:defRPr>
            </a:lvl1pPr>
          </a:lstStyle>
          <a:p>
            <a:pPr lvl="0"/>
            <a:endParaRPr lang="en-GB"/>
          </a:p>
        </p:txBody>
      </p:sp>
      <p:sp>
        <p:nvSpPr>
          <p:cNvPr id="4" name="Text Placeholder 7">
            <a:extLst>
              <a:ext uri="{FF2B5EF4-FFF2-40B4-BE49-F238E27FC236}">
                <a16:creationId xmlns:a16="http://schemas.microsoft.com/office/drawing/2014/main" id="{8B58F2C2-AD30-85C5-F69E-6933A6828FC1}"/>
              </a:ext>
            </a:extLst>
          </p:cNvPr>
          <p:cNvSpPr>
            <a:spLocks noGrp="1"/>
          </p:cNvSpPr>
          <p:nvPr>
            <p:ph type="body" sz="quarter" idx="20"/>
          </p:nvPr>
        </p:nvSpPr>
        <p:spPr>
          <a:xfrm>
            <a:off x="315192" y="1859287"/>
            <a:ext cx="5180444" cy="369332"/>
          </a:xfrm>
          <a:prstGeom prst="rect">
            <a:avLst/>
          </a:prstGeom>
        </p:spPr>
        <p:txBody>
          <a:bodyPr/>
          <a:lstStyle>
            <a:lvl1pPr marL="0" indent="0">
              <a:lnSpc>
                <a:spcPct val="125000"/>
              </a:lnSpc>
              <a:spcBef>
                <a:spcPts val="0"/>
              </a:spcBef>
              <a:buNone/>
              <a:defRPr sz="1800" b="1">
                <a:solidFill>
                  <a:schemeClr val="bg1"/>
                </a:solidFill>
              </a:defRPr>
            </a:lvl1pPr>
          </a:lstStyle>
          <a:p>
            <a:pPr lvl="0"/>
            <a:endParaRPr lang="en-GB"/>
          </a:p>
        </p:txBody>
      </p:sp>
      <p:sp>
        <p:nvSpPr>
          <p:cNvPr id="7" name="Text Placeholder 7">
            <a:extLst>
              <a:ext uri="{FF2B5EF4-FFF2-40B4-BE49-F238E27FC236}">
                <a16:creationId xmlns:a16="http://schemas.microsoft.com/office/drawing/2014/main" id="{57096324-3CBD-E9E5-BBF2-3303440FFE81}"/>
              </a:ext>
            </a:extLst>
          </p:cNvPr>
          <p:cNvSpPr>
            <a:spLocks noGrp="1"/>
          </p:cNvSpPr>
          <p:nvPr>
            <p:ph type="body" sz="quarter" idx="14"/>
          </p:nvPr>
        </p:nvSpPr>
        <p:spPr>
          <a:xfrm>
            <a:off x="6456216" y="2292856"/>
            <a:ext cx="5420591" cy="4144889"/>
          </a:xfrm>
          <a:prstGeom prst="rect">
            <a:avLst/>
          </a:prstGeom>
        </p:spPr>
        <p:txBody>
          <a:bodyPr/>
          <a:lstStyle>
            <a:lvl1pPr marL="0" indent="0">
              <a:lnSpc>
                <a:spcPct val="125000"/>
              </a:lnSpc>
              <a:spcBef>
                <a:spcPts val="0"/>
              </a:spcBef>
              <a:buNone/>
              <a:defRPr sz="1200"/>
            </a:lvl1pPr>
          </a:lstStyle>
          <a:p>
            <a:pPr lvl="0"/>
            <a:endParaRPr lang="en-GB"/>
          </a:p>
        </p:txBody>
      </p:sp>
      <p:sp>
        <p:nvSpPr>
          <p:cNvPr id="8" name="Text Placeholder 7">
            <a:extLst>
              <a:ext uri="{FF2B5EF4-FFF2-40B4-BE49-F238E27FC236}">
                <a16:creationId xmlns:a16="http://schemas.microsoft.com/office/drawing/2014/main" id="{616F188E-0B18-6EC6-7F43-A17F4C4BBEDE}"/>
              </a:ext>
            </a:extLst>
          </p:cNvPr>
          <p:cNvSpPr>
            <a:spLocks noGrp="1"/>
          </p:cNvSpPr>
          <p:nvPr>
            <p:ph type="body" sz="quarter" idx="18"/>
          </p:nvPr>
        </p:nvSpPr>
        <p:spPr>
          <a:xfrm>
            <a:off x="6456217" y="1859287"/>
            <a:ext cx="5420591" cy="433570"/>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13" name="Text Placeholder 7">
            <a:extLst>
              <a:ext uri="{FF2B5EF4-FFF2-40B4-BE49-F238E27FC236}">
                <a16:creationId xmlns:a16="http://schemas.microsoft.com/office/drawing/2014/main" id="{B6DE0A95-E84B-BEF9-9C88-28EECF8D9ABA}"/>
              </a:ext>
            </a:extLst>
          </p:cNvPr>
          <p:cNvSpPr>
            <a:spLocks noGrp="1"/>
          </p:cNvSpPr>
          <p:nvPr>
            <p:ph type="body" sz="quarter" idx="13"/>
          </p:nvPr>
        </p:nvSpPr>
        <p:spPr>
          <a:xfrm>
            <a:off x="475876" y="461636"/>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33592263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wo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3DA8D3-7E80-35D6-EF8C-E55B888BEC4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Rectangle: Rounded Corners 9">
            <a:extLst>
              <a:ext uri="{FF2B5EF4-FFF2-40B4-BE49-F238E27FC236}">
                <a16:creationId xmlns:a16="http://schemas.microsoft.com/office/drawing/2014/main" id="{E3B51D4A-362A-1BDE-D807-F0F37BEF76BB}"/>
              </a:ext>
            </a:extLst>
          </p:cNvPr>
          <p:cNvSpPr/>
          <p:nvPr userDrawn="1"/>
        </p:nvSpPr>
        <p:spPr>
          <a:xfrm>
            <a:off x="-1362635" y="1571812"/>
            <a:ext cx="7339111" cy="5085976"/>
          </a:xfrm>
          <a:prstGeom prst="roundRect">
            <a:avLst/>
          </a:prstGeom>
          <a:solidFill>
            <a:srgbClr val="0A4873"/>
          </a:solidFill>
          <a:ln w="19050">
            <a:solidFill>
              <a:srgbClr val="0A4873"/>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Chart Placeholder 6">
            <a:extLst>
              <a:ext uri="{FF2B5EF4-FFF2-40B4-BE49-F238E27FC236}">
                <a16:creationId xmlns:a16="http://schemas.microsoft.com/office/drawing/2014/main" id="{A9F89941-5E00-E711-BBA7-73CBCD456AA4}"/>
              </a:ext>
            </a:extLst>
          </p:cNvPr>
          <p:cNvSpPr>
            <a:spLocks noGrp="1"/>
          </p:cNvSpPr>
          <p:nvPr>
            <p:ph type="chart" sz="quarter" idx="10"/>
          </p:nvPr>
        </p:nvSpPr>
        <p:spPr>
          <a:xfrm>
            <a:off x="6305550" y="1638300"/>
            <a:ext cx="5622925" cy="5084763"/>
          </a:xfrm>
          <a:prstGeom prst="rect">
            <a:avLst/>
          </a:prstGeom>
        </p:spPr>
        <p:txBody>
          <a:bodyPr/>
          <a:lstStyle/>
          <a:p>
            <a:endParaRPr lang="en-GB"/>
          </a:p>
        </p:txBody>
      </p:sp>
      <p:sp>
        <p:nvSpPr>
          <p:cNvPr id="3" name="Text Placeholder 7">
            <a:extLst>
              <a:ext uri="{FF2B5EF4-FFF2-40B4-BE49-F238E27FC236}">
                <a16:creationId xmlns:a16="http://schemas.microsoft.com/office/drawing/2014/main" id="{C6BF7F4C-0B03-8828-8624-F14AB3C782A4}"/>
              </a:ext>
            </a:extLst>
          </p:cNvPr>
          <p:cNvSpPr>
            <a:spLocks noGrp="1"/>
          </p:cNvSpPr>
          <p:nvPr>
            <p:ph type="body" sz="quarter" idx="19"/>
          </p:nvPr>
        </p:nvSpPr>
        <p:spPr>
          <a:xfrm>
            <a:off x="315191" y="2292856"/>
            <a:ext cx="5180445" cy="4144889"/>
          </a:xfrm>
          <a:prstGeom prst="rect">
            <a:avLst/>
          </a:prstGeom>
        </p:spPr>
        <p:txBody>
          <a:bodyPr/>
          <a:lstStyle>
            <a:lvl1pPr marL="0" indent="0">
              <a:lnSpc>
                <a:spcPct val="125000"/>
              </a:lnSpc>
              <a:spcBef>
                <a:spcPts val="0"/>
              </a:spcBef>
              <a:buNone/>
              <a:defRPr sz="1200">
                <a:solidFill>
                  <a:schemeClr val="bg1"/>
                </a:solidFill>
              </a:defRPr>
            </a:lvl1pPr>
          </a:lstStyle>
          <a:p>
            <a:pPr lvl="0"/>
            <a:endParaRPr lang="en-GB"/>
          </a:p>
        </p:txBody>
      </p:sp>
      <p:sp>
        <p:nvSpPr>
          <p:cNvPr id="4" name="Text Placeholder 7">
            <a:extLst>
              <a:ext uri="{FF2B5EF4-FFF2-40B4-BE49-F238E27FC236}">
                <a16:creationId xmlns:a16="http://schemas.microsoft.com/office/drawing/2014/main" id="{300317EE-269F-7C71-FBF6-A865812A3033}"/>
              </a:ext>
            </a:extLst>
          </p:cNvPr>
          <p:cNvSpPr>
            <a:spLocks noGrp="1"/>
          </p:cNvSpPr>
          <p:nvPr>
            <p:ph type="body" sz="quarter" idx="20"/>
          </p:nvPr>
        </p:nvSpPr>
        <p:spPr>
          <a:xfrm>
            <a:off x="315192" y="1859287"/>
            <a:ext cx="5180444" cy="369332"/>
          </a:xfrm>
          <a:prstGeom prst="rect">
            <a:avLst/>
          </a:prstGeom>
        </p:spPr>
        <p:txBody>
          <a:bodyPr/>
          <a:lstStyle>
            <a:lvl1pPr marL="0" indent="0">
              <a:lnSpc>
                <a:spcPct val="125000"/>
              </a:lnSpc>
              <a:spcBef>
                <a:spcPts val="0"/>
              </a:spcBef>
              <a:buNone/>
              <a:defRPr sz="1800" b="1">
                <a:solidFill>
                  <a:schemeClr val="bg1"/>
                </a:solidFill>
              </a:defRPr>
            </a:lvl1pPr>
          </a:lstStyle>
          <a:p>
            <a:pPr lvl="0"/>
            <a:endParaRPr lang="en-GB"/>
          </a:p>
        </p:txBody>
      </p:sp>
      <p:sp>
        <p:nvSpPr>
          <p:cNvPr id="6" name="Text Placeholder 7">
            <a:extLst>
              <a:ext uri="{FF2B5EF4-FFF2-40B4-BE49-F238E27FC236}">
                <a16:creationId xmlns:a16="http://schemas.microsoft.com/office/drawing/2014/main" id="{9A11B160-A8EA-7ED9-A243-CE9FC2F0DF1C}"/>
              </a:ext>
            </a:extLst>
          </p:cNvPr>
          <p:cNvSpPr>
            <a:spLocks noGrp="1"/>
          </p:cNvSpPr>
          <p:nvPr>
            <p:ph type="body" sz="quarter" idx="13"/>
          </p:nvPr>
        </p:nvSpPr>
        <p:spPr>
          <a:xfrm>
            <a:off x="475876" y="461636"/>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34746308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7F5D305-CFA2-B555-1EFF-0C5B0A3FA6B6}"/>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Rectangle: Rounded Corners 9">
            <a:extLst>
              <a:ext uri="{FF2B5EF4-FFF2-40B4-BE49-F238E27FC236}">
                <a16:creationId xmlns:a16="http://schemas.microsoft.com/office/drawing/2014/main" id="{E3B51D4A-362A-1BDE-D807-F0F37BEF76BB}"/>
              </a:ext>
            </a:extLst>
          </p:cNvPr>
          <p:cNvSpPr/>
          <p:nvPr userDrawn="1"/>
        </p:nvSpPr>
        <p:spPr>
          <a:xfrm>
            <a:off x="-1476188" y="2510118"/>
            <a:ext cx="7339106" cy="4207436"/>
          </a:xfrm>
          <a:prstGeom prst="roundRect">
            <a:avLst/>
          </a:prstGeom>
          <a:solidFill>
            <a:srgbClr val="0A4873"/>
          </a:solidFill>
          <a:ln w="19050">
            <a:solidFill>
              <a:srgbClr val="0A4873"/>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Rounded Corners 2">
            <a:extLst>
              <a:ext uri="{FF2B5EF4-FFF2-40B4-BE49-F238E27FC236}">
                <a16:creationId xmlns:a16="http://schemas.microsoft.com/office/drawing/2014/main" id="{E3B51D4A-362A-1BDE-D807-F0F37BEF76BB}"/>
              </a:ext>
            </a:extLst>
          </p:cNvPr>
          <p:cNvSpPr/>
          <p:nvPr userDrawn="1"/>
        </p:nvSpPr>
        <p:spPr>
          <a:xfrm>
            <a:off x="6329082" y="2510118"/>
            <a:ext cx="7339105" cy="4207436"/>
          </a:xfrm>
          <a:prstGeom prst="roundRect">
            <a:avLst/>
          </a:prstGeom>
          <a:solidFill>
            <a:srgbClr val="0A4873"/>
          </a:solidFill>
          <a:ln w="19050">
            <a:solidFill>
              <a:srgbClr val="0A4873"/>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5" name="Text Placeholder 7">
            <a:extLst>
              <a:ext uri="{FF2B5EF4-FFF2-40B4-BE49-F238E27FC236}">
                <a16:creationId xmlns:a16="http://schemas.microsoft.com/office/drawing/2014/main" id="{977725CE-618C-F31A-4CC6-1218E3909A20}"/>
              </a:ext>
            </a:extLst>
          </p:cNvPr>
          <p:cNvSpPr>
            <a:spLocks noGrp="1"/>
          </p:cNvSpPr>
          <p:nvPr>
            <p:ph type="body" sz="quarter" idx="11"/>
          </p:nvPr>
        </p:nvSpPr>
        <p:spPr>
          <a:xfrm>
            <a:off x="475876" y="1361540"/>
            <a:ext cx="11496165" cy="911781"/>
          </a:xfrm>
          <a:prstGeom prst="rect">
            <a:avLst/>
          </a:prstGeom>
        </p:spPr>
        <p:txBody>
          <a:bodyPr/>
          <a:lstStyle>
            <a:lvl1pPr marL="0">
              <a:lnSpc>
                <a:spcPct val="125000"/>
              </a:lnSpc>
              <a:spcBef>
                <a:spcPts val="0"/>
              </a:spcBef>
              <a:buNone/>
              <a:defRPr sz="1200"/>
            </a:lvl1pPr>
          </a:lstStyle>
          <a:p>
            <a:pPr lvl="0"/>
            <a:endParaRPr lang="en-GB"/>
          </a:p>
        </p:txBody>
      </p:sp>
      <p:sp>
        <p:nvSpPr>
          <p:cNvPr id="7" name="Text Placeholder 7">
            <a:extLst>
              <a:ext uri="{FF2B5EF4-FFF2-40B4-BE49-F238E27FC236}">
                <a16:creationId xmlns:a16="http://schemas.microsoft.com/office/drawing/2014/main" id="{E5930C25-9AA5-C363-6AB4-7A1D67E1CE4B}"/>
              </a:ext>
            </a:extLst>
          </p:cNvPr>
          <p:cNvSpPr>
            <a:spLocks noGrp="1"/>
          </p:cNvSpPr>
          <p:nvPr>
            <p:ph type="body" sz="quarter" idx="19"/>
          </p:nvPr>
        </p:nvSpPr>
        <p:spPr>
          <a:xfrm>
            <a:off x="315191" y="3186260"/>
            <a:ext cx="5180445" cy="3251485"/>
          </a:xfrm>
          <a:prstGeom prst="rect">
            <a:avLst/>
          </a:prstGeom>
        </p:spPr>
        <p:txBody>
          <a:bodyPr/>
          <a:lstStyle>
            <a:lvl1pPr marL="0" indent="0">
              <a:lnSpc>
                <a:spcPct val="125000"/>
              </a:lnSpc>
              <a:spcBef>
                <a:spcPts val="0"/>
              </a:spcBef>
              <a:buNone/>
              <a:defRPr sz="1200">
                <a:solidFill>
                  <a:schemeClr val="bg1"/>
                </a:solidFill>
              </a:defRPr>
            </a:lvl1pPr>
          </a:lstStyle>
          <a:p>
            <a:pPr lvl="0"/>
            <a:endParaRPr lang="en-GB"/>
          </a:p>
        </p:txBody>
      </p:sp>
      <p:sp>
        <p:nvSpPr>
          <p:cNvPr id="8" name="Text Placeholder 7">
            <a:extLst>
              <a:ext uri="{FF2B5EF4-FFF2-40B4-BE49-F238E27FC236}">
                <a16:creationId xmlns:a16="http://schemas.microsoft.com/office/drawing/2014/main" id="{B7B3F4B7-53AD-BC79-0593-50751373ECB2}"/>
              </a:ext>
            </a:extLst>
          </p:cNvPr>
          <p:cNvSpPr>
            <a:spLocks noGrp="1"/>
          </p:cNvSpPr>
          <p:nvPr>
            <p:ph type="body" sz="quarter" idx="20"/>
          </p:nvPr>
        </p:nvSpPr>
        <p:spPr>
          <a:xfrm>
            <a:off x="315191" y="2715371"/>
            <a:ext cx="5180444" cy="369332"/>
          </a:xfrm>
          <a:prstGeom prst="rect">
            <a:avLst/>
          </a:prstGeom>
        </p:spPr>
        <p:txBody>
          <a:bodyPr/>
          <a:lstStyle>
            <a:lvl1pPr marL="0" indent="0">
              <a:lnSpc>
                <a:spcPct val="125000"/>
              </a:lnSpc>
              <a:spcBef>
                <a:spcPts val="0"/>
              </a:spcBef>
              <a:buNone/>
              <a:defRPr sz="1800" b="1">
                <a:solidFill>
                  <a:schemeClr val="bg1"/>
                </a:solidFill>
              </a:defRPr>
            </a:lvl1pPr>
          </a:lstStyle>
          <a:p>
            <a:pPr lvl="0"/>
            <a:endParaRPr lang="en-GB"/>
          </a:p>
        </p:txBody>
      </p:sp>
      <p:sp>
        <p:nvSpPr>
          <p:cNvPr id="9" name="Text Placeholder 7">
            <a:extLst>
              <a:ext uri="{FF2B5EF4-FFF2-40B4-BE49-F238E27FC236}">
                <a16:creationId xmlns:a16="http://schemas.microsoft.com/office/drawing/2014/main" id="{2FA82B63-1AAC-D183-7F0E-F6381B75A837}"/>
              </a:ext>
            </a:extLst>
          </p:cNvPr>
          <p:cNvSpPr>
            <a:spLocks noGrp="1"/>
          </p:cNvSpPr>
          <p:nvPr>
            <p:ph type="body" sz="quarter" idx="21"/>
          </p:nvPr>
        </p:nvSpPr>
        <p:spPr>
          <a:xfrm>
            <a:off x="6858577" y="3186260"/>
            <a:ext cx="5180445" cy="3251485"/>
          </a:xfrm>
          <a:prstGeom prst="rect">
            <a:avLst/>
          </a:prstGeom>
        </p:spPr>
        <p:txBody>
          <a:bodyPr/>
          <a:lstStyle>
            <a:lvl1pPr marL="0" indent="0">
              <a:lnSpc>
                <a:spcPct val="125000"/>
              </a:lnSpc>
              <a:spcBef>
                <a:spcPts val="0"/>
              </a:spcBef>
              <a:buNone/>
              <a:defRPr sz="1200">
                <a:solidFill>
                  <a:schemeClr val="bg1"/>
                </a:solidFill>
              </a:defRPr>
            </a:lvl1pPr>
          </a:lstStyle>
          <a:p>
            <a:pPr lvl="0"/>
            <a:endParaRPr lang="en-GB"/>
          </a:p>
        </p:txBody>
      </p:sp>
      <p:sp>
        <p:nvSpPr>
          <p:cNvPr id="11" name="Text Placeholder 7">
            <a:extLst>
              <a:ext uri="{FF2B5EF4-FFF2-40B4-BE49-F238E27FC236}">
                <a16:creationId xmlns:a16="http://schemas.microsoft.com/office/drawing/2014/main" id="{2C25F724-2D40-C12C-73FA-BEE7FBF5B66C}"/>
              </a:ext>
            </a:extLst>
          </p:cNvPr>
          <p:cNvSpPr>
            <a:spLocks noGrp="1"/>
          </p:cNvSpPr>
          <p:nvPr>
            <p:ph type="body" sz="quarter" idx="22"/>
          </p:nvPr>
        </p:nvSpPr>
        <p:spPr>
          <a:xfrm>
            <a:off x="6858577" y="2715371"/>
            <a:ext cx="5180444" cy="369332"/>
          </a:xfrm>
          <a:prstGeom prst="rect">
            <a:avLst/>
          </a:prstGeom>
        </p:spPr>
        <p:txBody>
          <a:bodyPr/>
          <a:lstStyle>
            <a:lvl1pPr marL="0" indent="0">
              <a:lnSpc>
                <a:spcPct val="125000"/>
              </a:lnSpc>
              <a:spcBef>
                <a:spcPts val="0"/>
              </a:spcBef>
              <a:buNone/>
              <a:defRPr sz="1800" b="1">
                <a:solidFill>
                  <a:schemeClr val="bg1"/>
                </a:solidFill>
              </a:defRPr>
            </a:lvl1pPr>
          </a:lstStyle>
          <a:p>
            <a:pPr lvl="0"/>
            <a:endParaRPr lang="en-GB"/>
          </a:p>
        </p:txBody>
      </p:sp>
      <p:sp>
        <p:nvSpPr>
          <p:cNvPr id="12" name="Text Placeholder 7">
            <a:extLst>
              <a:ext uri="{FF2B5EF4-FFF2-40B4-BE49-F238E27FC236}">
                <a16:creationId xmlns:a16="http://schemas.microsoft.com/office/drawing/2014/main" id="{D9D4367A-8502-E9D0-7461-C04520C4A738}"/>
              </a:ext>
            </a:extLst>
          </p:cNvPr>
          <p:cNvSpPr>
            <a:spLocks noGrp="1"/>
          </p:cNvSpPr>
          <p:nvPr>
            <p:ph type="body" sz="quarter" idx="13"/>
          </p:nvPr>
        </p:nvSpPr>
        <p:spPr>
          <a:xfrm>
            <a:off x="475876" y="461636"/>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41126853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00C72C-A589-5DB5-E7E6-59F8F572F49B}"/>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Text Placeholder 7">
            <a:extLst>
              <a:ext uri="{FF2B5EF4-FFF2-40B4-BE49-F238E27FC236}">
                <a16:creationId xmlns:a16="http://schemas.microsoft.com/office/drawing/2014/main" id="{BB832756-CAE3-9A2C-AE95-8C7E6D2291A4}"/>
              </a:ext>
            </a:extLst>
          </p:cNvPr>
          <p:cNvSpPr>
            <a:spLocks noGrp="1"/>
          </p:cNvSpPr>
          <p:nvPr>
            <p:ph type="body" sz="quarter" idx="13"/>
          </p:nvPr>
        </p:nvSpPr>
        <p:spPr>
          <a:xfrm>
            <a:off x="494834" y="391755"/>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
        <p:nvSpPr>
          <p:cNvPr id="11" name="Text Placeholder 7">
            <a:extLst>
              <a:ext uri="{FF2B5EF4-FFF2-40B4-BE49-F238E27FC236}">
                <a16:creationId xmlns:a16="http://schemas.microsoft.com/office/drawing/2014/main" id="{0EA1B0F9-8C7D-C88A-E822-231EF245E527}"/>
              </a:ext>
            </a:extLst>
          </p:cNvPr>
          <p:cNvSpPr>
            <a:spLocks noGrp="1"/>
          </p:cNvSpPr>
          <p:nvPr>
            <p:ph type="body" sz="quarter" idx="18"/>
          </p:nvPr>
        </p:nvSpPr>
        <p:spPr>
          <a:xfrm>
            <a:off x="1148577" y="4318876"/>
            <a:ext cx="1928772" cy="1007945"/>
          </a:xfrm>
          <a:prstGeom prst="rect">
            <a:avLst/>
          </a:prstGeom>
        </p:spPr>
        <p:txBody>
          <a:bodyPr/>
          <a:lstStyle>
            <a:lvl1pPr marL="0" indent="0">
              <a:lnSpc>
                <a:spcPct val="125000"/>
              </a:lnSpc>
              <a:spcBef>
                <a:spcPts val="0"/>
              </a:spcBef>
              <a:buNone/>
              <a:defRPr sz="1200"/>
            </a:lvl1pPr>
          </a:lstStyle>
          <a:p>
            <a:pPr lvl="0"/>
            <a:endParaRPr lang="en-GB"/>
          </a:p>
        </p:txBody>
      </p:sp>
      <p:sp>
        <p:nvSpPr>
          <p:cNvPr id="12" name="Text Placeholder 7">
            <a:extLst>
              <a:ext uri="{FF2B5EF4-FFF2-40B4-BE49-F238E27FC236}">
                <a16:creationId xmlns:a16="http://schemas.microsoft.com/office/drawing/2014/main" id="{FEA49D5B-ACA2-AAED-1EFE-056D3923AE8C}"/>
              </a:ext>
            </a:extLst>
          </p:cNvPr>
          <p:cNvSpPr>
            <a:spLocks noGrp="1"/>
          </p:cNvSpPr>
          <p:nvPr>
            <p:ph type="body" sz="quarter" idx="19"/>
          </p:nvPr>
        </p:nvSpPr>
        <p:spPr>
          <a:xfrm>
            <a:off x="3763562" y="4318876"/>
            <a:ext cx="1928772" cy="1007945"/>
          </a:xfrm>
          <a:prstGeom prst="rect">
            <a:avLst/>
          </a:prstGeom>
        </p:spPr>
        <p:txBody>
          <a:bodyPr/>
          <a:lstStyle>
            <a:lvl1pPr marL="0" indent="0">
              <a:lnSpc>
                <a:spcPct val="125000"/>
              </a:lnSpc>
              <a:spcBef>
                <a:spcPts val="0"/>
              </a:spcBef>
              <a:buNone/>
              <a:defRPr sz="1200"/>
            </a:lvl1pPr>
          </a:lstStyle>
          <a:p>
            <a:pPr lvl="0"/>
            <a:endParaRPr lang="en-GB"/>
          </a:p>
        </p:txBody>
      </p:sp>
      <p:sp>
        <p:nvSpPr>
          <p:cNvPr id="13" name="Text Placeholder 7">
            <a:extLst>
              <a:ext uri="{FF2B5EF4-FFF2-40B4-BE49-F238E27FC236}">
                <a16:creationId xmlns:a16="http://schemas.microsoft.com/office/drawing/2014/main" id="{C56D8B0B-B487-65F7-1E5E-FE77F2BA9042}"/>
              </a:ext>
            </a:extLst>
          </p:cNvPr>
          <p:cNvSpPr>
            <a:spLocks noGrp="1"/>
          </p:cNvSpPr>
          <p:nvPr>
            <p:ph type="body" sz="quarter" idx="20"/>
          </p:nvPr>
        </p:nvSpPr>
        <p:spPr>
          <a:xfrm>
            <a:off x="6620035" y="4318876"/>
            <a:ext cx="1928772" cy="1007945"/>
          </a:xfrm>
          <a:prstGeom prst="rect">
            <a:avLst/>
          </a:prstGeom>
        </p:spPr>
        <p:txBody>
          <a:bodyPr/>
          <a:lstStyle>
            <a:lvl1pPr marL="0" indent="0">
              <a:lnSpc>
                <a:spcPct val="125000"/>
              </a:lnSpc>
              <a:spcBef>
                <a:spcPts val="0"/>
              </a:spcBef>
              <a:buNone/>
              <a:defRPr sz="1200"/>
            </a:lvl1pPr>
          </a:lstStyle>
          <a:p>
            <a:pPr lvl="0"/>
            <a:endParaRPr lang="en-GB"/>
          </a:p>
        </p:txBody>
      </p:sp>
      <p:sp>
        <p:nvSpPr>
          <p:cNvPr id="14" name="Text Placeholder 7">
            <a:extLst>
              <a:ext uri="{FF2B5EF4-FFF2-40B4-BE49-F238E27FC236}">
                <a16:creationId xmlns:a16="http://schemas.microsoft.com/office/drawing/2014/main" id="{25B4D247-4BC9-0595-BFEA-686C27B3DDFE}"/>
              </a:ext>
            </a:extLst>
          </p:cNvPr>
          <p:cNvSpPr>
            <a:spLocks noGrp="1"/>
          </p:cNvSpPr>
          <p:nvPr>
            <p:ph type="body" sz="quarter" idx="21"/>
          </p:nvPr>
        </p:nvSpPr>
        <p:spPr>
          <a:xfrm>
            <a:off x="9369212" y="4318876"/>
            <a:ext cx="1928772" cy="1007945"/>
          </a:xfrm>
          <a:prstGeom prst="rect">
            <a:avLst/>
          </a:prstGeom>
        </p:spPr>
        <p:txBody>
          <a:bodyPr/>
          <a:lstStyle>
            <a:lvl1pPr marL="0" indent="0">
              <a:lnSpc>
                <a:spcPct val="125000"/>
              </a:lnSpc>
              <a:spcBef>
                <a:spcPts val="0"/>
              </a:spcBef>
              <a:buNone/>
              <a:defRPr sz="1200"/>
            </a:lvl1pPr>
          </a:lstStyle>
          <a:p>
            <a:pPr lvl="0"/>
            <a:endParaRPr lang="en-GB"/>
          </a:p>
        </p:txBody>
      </p:sp>
      <p:sp>
        <p:nvSpPr>
          <p:cNvPr id="24" name="Picture Placeholder 23">
            <a:extLst>
              <a:ext uri="{FF2B5EF4-FFF2-40B4-BE49-F238E27FC236}">
                <a16:creationId xmlns:a16="http://schemas.microsoft.com/office/drawing/2014/main" id="{F031F7C7-DB10-C2B4-99B2-927CFE9441C8}"/>
              </a:ext>
            </a:extLst>
          </p:cNvPr>
          <p:cNvSpPr>
            <a:spLocks noGrp="1"/>
          </p:cNvSpPr>
          <p:nvPr>
            <p:ph type="pic" sz="quarter" idx="22"/>
          </p:nvPr>
        </p:nvSpPr>
        <p:spPr>
          <a:xfrm>
            <a:off x="3840443" y="2231185"/>
            <a:ext cx="1678828" cy="1643062"/>
          </a:xfrm>
          <a:prstGeom prst="ellipse">
            <a:avLst/>
          </a:prstGeom>
        </p:spPr>
        <p:txBody>
          <a:bodyPr/>
          <a:lstStyle/>
          <a:p>
            <a:endParaRPr lang="en-GB"/>
          </a:p>
        </p:txBody>
      </p:sp>
      <p:sp>
        <p:nvSpPr>
          <p:cNvPr id="25" name="Picture Placeholder 23">
            <a:extLst>
              <a:ext uri="{FF2B5EF4-FFF2-40B4-BE49-F238E27FC236}">
                <a16:creationId xmlns:a16="http://schemas.microsoft.com/office/drawing/2014/main" id="{27948F64-5078-C2A8-476D-325175D8CE1C}"/>
              </a:ext>
            </a:extLst>
          </p:cNvPr>
          <p:cNvSpPr>
            <a:spLocks noGrp="1"/>
          </p:cNvSpPr>
          <p:nvPr>
            <p:ph type="pic" sz="quarter" idx="23"/>
          </p:nvPr>
        </p:nvSpPr>
        <p:spPr>
          <a:xfrm>
            <a:off x="1273549" y="2231185"/>
            <a:ext cx="1678828" cy="1643062"/>
          </a:xfrm>
          <a:prstGeom prst="ellipse">
            <a:avLst/>
          </a:prstGeom>
        </p:spPr>
        <p:txBody>
          <a:bodyPr/>
          <a:lstStyle/>
          <a:p>
            <a:endParaRPr lang="en-GB"/>
          </a:p>
        </p:txBody>
      </p:sp>
      <p:sp>
        <p:nvSpPr>
          <p:cNvPr id="26" name="Picture Placeholder 23">
            <a:extLst>
              <a:ext uri="{FF2B5EF4-FFF2-40B4-BE49-F238E27FC236}">
                <a16:creationId xmlns:a16="http://schemas.microsoft.com/office/drawing/2014/main" id="{3EE6B119-7DAA-82DC-791D-182F33AAD33A}"/>
              </a:ext>
            </a:extLst>
          </p:cNvPr>
          <p:cNvSpPr>
            <a:spLocks noGrp="1"/>
          </p:cNvSpPr>
          <p:nvPr>
            <p:ph type="pic" sz="quarter" idx="24"/>
          </p:nvPr>
        </p:nvSpPr>
        <p:spPr>
          <a:xfrm>
            <a:off x="6745007" y="2231185"/>
            <a:ext cx="1678828" cy="1643062"/>
          </a:xfrm>
          <a:prstGeom prst="ellipse">
            <a:avLst/>
          </a:prstGeom>
        </p:spPr>
        <p:txBody>
          <a:bodyPr/>
          <a:lstStyle/>
          <a:p>
            <a:endParaRPr lang="en-GB"/>
          </a:p>
        </p:txBody>
      </p:sp>
      <p:sp>
        <p:nvSpPr>
          <p:cNvPr id="27" name="Picture Placeholder 23">
            <a:extLst>
              <a:ext uri="{FF2B5EF4-FFF2-40B4-BE49-F238E27FC236}">
                <a16:creationId xmlns:a16="http://schemas.microsoft.com/office/drawing/2014/main" id="{14273026-6422-E25E-3232-729E8E56EB48}"/>
              </a:ext>
            </a:extLst>
          </p:cNvPr>
          <p:cNvSpPr>
            <a:spLocks noGrp="1"/>
          </p:cNvSpPr>
          <p:nvPr>
            <p:ph type="pic" sz="quarter" idx="25"/>
          </p:nvPr>
        </p:nvSpPr>
        <p:spPr>
          <a:xfrm>
            <a:off x="9494184" y="2231185"/>
            <a:ext cx="1678828" cy="1643062"/>
          </a:xfrm>
          <a:prstGeom prst="ellipse">
            <a:avLst/>
          </a:prstGeom>
        </p:spPr>
        <p:txBody>
          <a:bodyPr/>
          <a:lstStyle/>
          <a:p>
            <a:endParaRPr lang="en-GB"/>
          </a:p>
        </p:txBody>
      </p:sp>
    </p:spTree>
    <p:extLst>
      <p:ext uri="{BB962C8B-B14F-4D97-AF65-F5344CB8AC3E}">
        <p14:creationId xmlns:p14="http://schemas.microsoft.com/office/powerpoint/2010/main" val="24004891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9554121"/>
      </p:ext>
    </p:extLst>
  </p:cSld>
  <p:clrMap bg1="lt1" tx1="dk1" bg2="lt2" tx2="dk2" accent1="accent1" accent2="accent2" accent3="accent3" accent4="accent4" accent5="accent5" accent6="accent6" hlink="hlink" folHlink="folHlink"/>
  <p:sldLayoutIdLst>
    <p:sldLayoutId id="2147483650" r:id="rId1"/>
    <p:sldLayoutId id="2147483683" r:id="rId2"/>
    <p:sldLayoutId id="2147483684" r:id="rId3"/>
    <p:sldLayoutId id="2147483670" r:id="rId4"/>
    <p:sldLayoutId id="2147483671" r:id="rId5"/>
    <p:sldLayoutId id="2147483695" r:id="rId6"/>
    <p:sldLayoutId id="2147483678" r:id="rId7"/>
    <p:sldLayoutId id="2147483672" r:id="rId8"/>
    <p:sldLayoutId id="2147483673" r:id="rId9"/>
    <p:sldLayoutId id="2147483649" r:id="rId10"/>
    <p:sldLayoutId id="2147483669" r:id="rId11"/>
    <p:sldLayoutId id="2147483681" r:id="rId12"/>
    <p:sldLayoutId id="2147483663" r:id="rId13"/>
    <p:sldLayoutId id="2147483660" r:id="rId14"/>
    <p:sldLayoutId id="2147483682" r:id="rId15"/>
    <p:sldLayoutId id="2147483679" r:id="rId16"/>
    <p:sldLayoutId id="2147483668" r:id="rId17"/>
    <p:sldLayoutId id="2147483691" r:id="rId18"/>
    <p:sldLayoutId id="2147483689" r:id="rId19"/>
    <p:sldLayoutId id="2147483694" r:id="rId20"/>
    <p:sldLayoutId id="2147483693" r:id="rId21"/>
    <p:sldLayoutId id="2147483680"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3.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Data Model Explorer</a:t>
            </a:r>
          </a:p>
        </p:txBody>
      </p:sp>
      <p:sp>
        <p:nvSpPr>
          <p:cNvPr id="3" name="Subtitle"/>
          <p:cNvSpPr txBox="1"/>
          <p:nvPr/>
        </p:nvSpPr>
        <p:spPr>
          <a:xfrm>
            <a:off x="548640" y="3291840"/>
            <a:ext cx="11091672" cy="548640"/>
          </a:xfrm>
          <a:prstGeom prst="rect">
            <a:avLst/>
          </a:prstGeom>
          <a:noFill/>
        </p:spPr>
        <p:txBody>
          <a:bodyPr wrap="square" anchor="t" lIns="0" rIns="0" tIns="0" bIns="0">
            <a:spAutoFit/>
          </a:bodyPr>
          <a:lstStyle/>
          <a:p>
            <a:pPr algn="ctr">
              <a:spcAft>
                <a:spcPts val="600"/>
              </a:spcAft>
            </a:pPr>
            <a:r>
              <a:rPr sz="2200" b="0">
                <a:solidFill>
                  <a:srgbClr val="3E556B"/>
                </a:solidFill>
              </a:rPr>
              <a:t>Feature guide · version 1.9.3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Contents</a:t>
            </a:r>
          </a:p>
        </p:txBody>
      </p:sp>
      <p:sp>
        <p:nvSpPr>
          <p:cNvPr id="4" name="Section card"/>
          <p:cNvSpPr/>
          <p:nvPr/>
        </p:nvSpPr>
        <p:spPr>
          <a:xfrm>
            <a:off x="493776" y="1600200"/>
            <a:ext cx="3520440" cy="196596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68096" y="1783080"/>
            <a:ext cx="914400" cy="548640"/>
          </a:xfrm>
          <a:prstGeom prst="rect">
            <a:avLst/>
          </a:prstGeom>
          <a:noFill/>
        </p:spPr>
        <p:txBody>
          <a:bodyPr wrap="square" anchor="t" lIns="0" rIns="0" tIns="0" bIns="0">
            <a:spAutoFit/>
          </a:bodyPr>
          <a:lstStyle/>
          <a:p>
            <a:pPr algn="l">
              <a:spcAft>
                <a:spcPts val="600"/>
              </a:spcAft>
            </a:pPr>
            <a:r>
              <a:rPr sz="2800" b="1">
                <a:solidFill>
                  <a:schemeClr val="accent2"/>
                </a:solidFill>
              </a:rPr>
              <a:t>01</a:t>
            </a:r>
          </a:p>
        </p:txBody>
      </p:sp>
      <p:sp>
        <p:nvSpPr>
          <p:cNvPr id="6" name="TextBox 5"/>
          <p:cNvSpPr txBox="1"/>
          <p:nvPr/>
        </p:nvSpPr>
        <p:spPr>
          <a:xfrm>
            <a:off x="768096" y="2331720"/>
            <a:ext cx="2971800" cy="365760"/>
          </a:xfrm>
          <a:prstGeom prst="rect">
            <a:avLst/>
          </a:prstGeom>
          <a:noFill/>
        </p:spPr>
        <p:txBody>
          <a:bodyPr wrap="square" anchor="t" lIns="0" rIns="0" tIns="0" bIns="0">
            <a:spAutoFit/>
          </a:bodyPr>
          <a:lstStyle/>
          <a:p>
            <a:pPr algn="l">
              <a:spcAft>
                <a:spcPts val="600"/>
              </a:spcAft>
            </a:pPr>
            <a:r>
              <a:rPr sz="1900" b="1">
                <a:solidFill>
                  <a:schemeClr val="accent1"/>
                </a:solidFill>
              </a:rPr>
              <a:t>Getting started</a:t>
            </a:r>
          </a:p>
        </p:txBody>
      </p:sp>
      <p:sp>
        <p:nvSpPr>
          <p:cNvPr id="7" name="TextBox 6"/>
          <p:cNvSpPr txBox="1"/>
          <p:nvPr/>
        </p:nvSpPr>
        <p:spPr>
          <a:xfrm>
            <a:off x="768096" y="2715768"/>
            <a:ext cx="2971800" cy="777240"/>
          </a:xfrm>
          <a:prstGeom prst="rect">
            <a:avLst/>
          </a:prstGeom>
          <a:noFill/>
        </p:spPr>
        <p:txBody>
          <a:bodyPr wrap="square" anchor="t" lIns="0" rIns="0" tIns="0" bIns="0">
            <a:spAutoFit/>
          </a:bodyPr>
          <a:lstStyle/>
          <a:p>
            <a:pPr algn="l">
              <a:spcAft>
                <a:spcPts val="600"/>
              </a:spcAft>
            </a:pPr>
            <a:r>
              <a:rPr sz="1300" b="0">
                <a:solidFill>
                  <a:srgbClr val="3E556B"/>
                </a:solidFill>
              </a:rPr>
              <a:t>Opening workbooks, where they are kept, and the template</a:t>
            </a:r>
          </a:p>
        </p:txBody>
      </p:sp>
      <p:sp>
        <p:nvSpPr>
          <p:cNvPr id="8" name="Section card"/>
          <p:cNvSpPr/>
          <p:nvPr/>
        </p:nvSpPr>
        <p:spPr>
          <a:xfrm>
            <a:off x="4288536" y="1600200"/>
            <a:ext cx="3520440" cy="196596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62856" y="1783080"/>
            <a:ext cx="914400" cy="548640"/>
          </a:xfrm>
          <a:prstGeom prst="rect">
            <a:avLst/>
          </a:prstGeom>
          <a:noFill/>
        </p:spPr>
        <p:txBody>
          <a:bodyPr wrap="square" anchor="t" lIns="0" rIns="0" tIns="0" bIns="0">
            <a:spAutoFit/>
          </a:bodyPr>
          <a:lstStyle/>
          <a:p>
            <a:pPr algn="l">
              <a:spcAft>
                <a:spcPts val="600"/>
              </a:spcAft>
            </a:pPr>
            <a:r>
              <a:rPr sz="2800" b="1">
                <a:solidFill>
                  <a:schemeClr val="accent2"/>
                </a:solidFill>
              </a:rPr>
              <a:t>02</a:t>
            </a:r>
          </a:p>
        </p:txBody>
      </p:sp>
      <p:sp>
        <p:nvSpPr>
          <p:cNvPr id="10" name="TextBox 9"/>
          <p:cNvSpPr txBox="1"/>
          <p:nvPr/>
        </p:nvSpPr>
        <p:spPr>
          <a:xfrm>
            <a:off x="4562856" y="2331720"/>
            <a:ext cx="2971800" cy="365760"/>
          </a:xfrm>
          <a:prstGeom prst="rect">
            <a:avLst/>
          </a:prstGeom>
          <a:noFill/>
        </p:spPr>
        <p:txBody>
          <a:bodyPr wrap="square" anchor="t" lIns="0" rIns="0" tIns="0" bIns="0">
            <a:spAutoFit/>
          </a:bodyPr>
          <a:lstStyle/>
          <a:p>
            <a:pPr algn="l">
              <a:spcAft>
                <a:spcPts val="600"/>
              </a:spcAft>
            </a:pPr>
            <a:r>
              <a:rPr sz="1900" b="1">
                <a:solidFill>
                  <a:schemeClr val="accent1"/>
                </a:solidFill>
              </a:rPr>
              <a:t>Reviewing the model</a:t>
            </a:r>
          </a:p>
        </p:txBody>
      </p:sp>
      <p:sp>
        <p:nvSpPr>
          <p:cNvPr id="11" name="TextBox 10"/>
          <p:cNvSpPr txBox="1"/>
          <p:nvPr/>
        </p:nvSpPr>
        <p:spPr>
          <a:xfrm>
            <a:off x="4562856" y="2715768"/>
            <a:ext cx="2971800" cy="777240"/>
          </a:xfrm>
          <a:prstGeom prst="rect">
            <a:avLst/>
          </a:prstGeom>
          <a:noFill/>
        </p:spPr>
        <p:txBody>
          <a:bodyPr wrap="square" anchor="t" lIns="0" rIns="0" tIns="0" bIns="0">
            <a:spAutoFit/>
          </a:bodyPr>
          <a:lstStyle/>
          <a:p>
            <a:pPr algn="l">
              <a:spcAft>
                <a:spcPts val="600"/>
              </a:spcAft>
            </a:pPr>
            <a:r>
              <a:rPr sz="1300" b="0">
                <a:solidFill>
                  <a:srgbClr val="3E556B"/>
                </a:solidFill>
              </a:rPr>
              <a:t>The Overview, browsing and searching, Checks, and comparing with Dataverse</a:t>
            </a:r>
          </a:p>
        </p:txBody>
      </p:sp>
      <p:sp>
        <p:nvSpPr>
          <p:cNvPr id="12" name="Section card"/>
          <p:cNvSpPr/>
          <p:nvPr/>
        </p:nvSpPr>
        <p:spPr>
          <a:xfrm>
            <a:off x="8083296" y="1600200"/>
            <a:ext cx="3520440" cy="196596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57616" y="1783080"/>
            <a:ext cx="914400" cy="548640"/>
          </a:xfrm>
          <a:prstGeom prst="rect">
            <a:avLst/>
          </a:prstGeom>
          <a:noFill/>
        </p:spPr>
        <p:txBody>
          <a:bodyPr wrap="square" anchor="t" lIns="0" rIns="0" tIns="0" bIns="0">
            <a:spAutoFit/>
          </a:bodyPr>
          <a:lstStyle/>
          <a:p>
            <a:pPr algn="l">
              <a:spcAft>
                <a:spcPts val="600"/>
              </a:spcAft>
            </a:pPr>
            <a:r>
              <a:rPr sz="2800" b="1">
                <a:solidFill>
                  <a:schemeClr val="accent2"/>
                </a:solidFill>
              </a:rPr>
              <a:t>03</a:t>
            </a:r>
          </a:p>
        </p:txBody>
      </p:sp>
      <p:sp>
        <p:nvSpPr>
          <p:cNvPr id="14" name="TextBox 13"/>
          <p:cNvSpPr txBox="1"/>
          <p:nvPr/>
        </p:nvSpPr>
        <p:spPr>
          <a:xfrm>
            <a:off x="8357616" y="2331720"/>
            <a:ext cx="2971800" cy="365760"/>
          </a:xfrm>
          <a:prstGeom prst="rect">
            <a:avLst/>
          </a:prstGeom>
          <a:noFill/>
        </p:spPr>
        <p:txBody>
          <a:bodyPr wrap="square" anchor="t" lIns="0" rIns="0" tIns="0" bIns="0">
            <a:spAutoFit/>
          </a:bodyPr>
          <a:lstStyle/>
          <a:p>
            <a:pPr algn="l">
              <a:spcAft>
                <a:spcPts val="600"/>
              </a:spcAft>
            </a:pPr>
            <a:r>
              <a:rPr sz="1900" b="1">
                <a:solidFill>
                  <a:schemeClr val="accent1"/>
                </a:solidFill>
              </a:rPr>
              <a:t>The ERD</a:t>
            </a:r>
          </a:p>
        </p:txBody>
      </p:sp>
      <p:sp>
        <p:nvSpPr>
          <p:cNvPr id="15" name="TextBox 14"/>
          <p:cNvSpPr txBox="1"/>
          <p:nvPr/>
        </p:nvSpPr>
        <p:spPr>
          <a:xfrm>
            <a:off x="8357616" y="2715768"/>
            <a:ext cx="2971800" cy="777240"/>
          </a:xfrm>
          <a:prstGeom prst="rect">
            <a:avLst/>
          </a:prstGeom>
          <a:noFill/>
        </p:spPr>
        <p:txBody>
          <a:bodyPr wrap="square" anchor="t" lIns="0" rIns="0" tIns="0" bIns="0">
            <a:spAutoFit/>
          </a:bodyPr>
          <a:lstStyle/>
          <a:p>
            <a:pPr algn="l">
              <a:spcAft>
                <a:spcPts val="600"/>
              </a:spcAft>
            </a:pPr>
            <a:r>
              <a:rPr sz="1300" b="0">
                <a:solidFill>
                  <a:srgbClr val="3E556B"/>
                </a:solidFill>
              </a:rPr>
              <a:t>Choosing tables, reading the lines, hiding relationships, and exports</a:t>
            </a:r>
          </a:p>
        </p:txBody>
      </p:sp>
      <p:sp>
        <p:nvSpPr>
          <p:cNvPr id="16" name="Section card"/>
          <p:cNvSpPr/>
          <p:nvPr/>
        </p:nvSpPr>
        <p:spPr>
          <a:xfrm>
            <a:off x="493776" y="3840480"/>
            <a:ext cx="3520440" cy="196596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68096" y="4023360"/>
            <a:ext cx="914400" cy="548640"/>
          </a:xfrm>
          <a:prstGeom prst="rect">
            <a:avLst/>
          </a:prstGeom>
          <a:noFill/>
        </p:spPr>
        <p:txBody>
          <a:bodyPr wrap="square" anchor="t" lIns="0" rIns="0" tIns="0" bIns="0">
            <a:spAutoFit/>
          </a:bodyPr>
          <a:lstStyle/>
          <a:p>
            <a:pPr algn="l">
              <a:spcAft>
                <a:spcPts val="600"/>
              </a:spcAft>
            </a:pPr>
            <a:r>
              <a:rPr sz="2800" b="1">
                <a:solidFill>
                  <a:schemeClr val="accent2"/>
                </a:solidFill>
              </a:rPr>
              <a:t>04</a:t>
            </a:r>
          </a:p>
        </p:txBody>
      </p:sp>
      <p:sp>
        <p:nvSpPr>
          <p:cNvPr id="18" name="TextBox 17"/>
          <p:cNvSpPr txBox="1"/>
          <p:nvPr/>
        </p:nvSpPr>
        <p:spPr>
          <a:xfrm>
            <a:off x="768096" y="4572000"/>
            <a:ext cx="2971800" cy="365760"/>
          </a:xfrm>
          <a:prstGeom prst="rect">
            <a:avLst/>
          </a:prstGeom>
          <a:noFill/>
        </p:spPr>
        <p:txBody>
          <a:bodyPr wrap="square" anchor="t" lIns="0" rIns="0" tIns="0" bIns="0">
            <a:spAutoFit/>
          </a:bodyPr>
          <a:lstStyle/>
          <a:p>
            <a:pPr algn="l">
              <a:spcAft>
                <a:spcPts val="600"/>
              </a:spcAft>
            </a:pPr>
            <a:r>
              <a:rPr sz="1900" b="1">
                <a:solidFill>
                  <a:schemeClr val="accent1"/>
                </a:solidFill>
              </a:rPr>
              <a:t>Editing</a:t>
            </a:r>
          </a:p>
        </p:txBody>
      </p:sp>
      <p:sp>
        <p:nvSpPr>
          <p:cNvPr id="19" name="TextBox 18"/>
          <p:cNvSpPr txBox="1"/>
          <p:nvPr/>
        </p:nvSpPr>
        <p:spPr>
          <a:xfrm>
            <a:off x="768096" y="4956048"/>
            <a:ext cx="2971800" cy="777240"/>
          </a:xfrm>
          <a:prstGeom prst="rect">
            <a:avLst/>
          </a:prstGeom>
          <a:noFill/>
        </p:spPr>
        <p:txBody>
          <a:bodyPr wrap="square" anchor="t" lIns="0" rIns="0" tIns="0" bIns="0">
            <a:spAutoFit/>
          </a:bodyPr>
          <a:lstStyle/>
          <a:p>
            <a:pPr algn="l">
              <a:spcAft>
                <a:spcPts val="600"/>
              </a:spcAft>
            </a:pPr>
            <a:r>
              <a:rPr sz="1300" b="0">
                <a:solidFill>
                  <a:srgbClr val="3E556B"/>
                </a:solidFill>
              </a:rPr>
              <a:t>Values, keys and table details, adding fields and relationships, and the change list</a:t>
            </a:r>
          </a:p>
        </p:txBody>
      </p:sp>
      <p:sp>
        <p:nvSpPr>
          <p:cNvPr id="20" name="Section card"/>
          <p:cNvSpPr/>
          <p:nvPr/>
        </p:nvSpPr>
        <p:spPr>
          <a:xfrm>
            <a:off x="4288536" y="3840480"/>
            <a:ext cx="3520440" cy="196596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562856" y="4023360"/>
            <a:ext cx="914400" cy="548640"/>
          </a:xfrm>
          <a:prstGeom prst="rect">
            <a:avLst/>
          </a:prstGeom>
          <a:noFill/>
        </p:spPr>
        <p:txBody>
          <a:bodyPr wrap="square" anchor="t" lIns="0" rIns="0" tIns="0" bIns="0">
            <a:spAutoFit/>
          </a:bodyPr>
          <a:lstStyle/>
          <a:p>
            <a:pPr algn="l">
              <a:spcAft>
                <a:spcPts val="600"/>
              </a:spcAft>
            </a:pPr>
            <a:r>
              <a:rPr sz="2800" b="1">
                <a:solidFill>
                  <a:schemeClr val="accent2"/>
                </a:solidFill>
              </a:rPr>
              <a:t>05</a:t>
            </a:r>
          </a:p>
        </p:txBody>
      </p:sp>
      <p:sp>
        <p:nvSpPr>
          <p:cNvPr id="22" name="TextBox 21"/>
          <p:cNvSpPr txBox="1"/>
          <p:nvPr/>
        </p:nvSpPr>
        <p:spPr>
          <a:xfrm>
            <a:off x="4562856" y="4572000"/>
            <a:ext cx="2971800" cy="365760"/>
          </a:xfrm>
          <a:prstGeom prst="rect">
            <a:avLst/>
          </a:prstGeom>
          <a:noFill/>
        </p:spPr>
        <p:txBody>
          <a:bodyPr wrap="square" anchor="t" lIns="0" rIns="0" tIns="0" bIns="0">
            <a:spAutoFit/>
          </a:bodyPr>
          <a:lstStyle/>
          <a:p>
            <a:pPr algn="l">
              <a:spcAft>
                <a:spcPts val="600"/>
              </a:spcAft>
            </a:pPr>
            <a:r>
              <a:rPr sz="1900" b="1">
                <a:solidFill>
                  <a:schemeClr val="accent1"/>
                </a:solidFill>
              </a:rPr>
              <a:t>Versions and saving</a:t>
            </a:r>
          </a:p>
        </p:txBody>
      </p:sp>
      <p:sp>
        <p:nvSpPr>
          <p:cNvPr id="23" name="TextBox 22"/>
          <p:cNvSpPr txBox="1"/>
          <p:nvPr/>
        </p:nvSpPr>
        <p:spPr>
          <a:xfrm>
            <a:off x="4562856" y="4956048"/>
            <a:ext cx="2971800" cy="777240"/>
          </a:xfrm>
          <a:prstGeom prst="rect">
            <a:avLst/>
          </a:prstGeom>
          <a:noFill/>
        </p:spPr>
        <p:txBody>
          <a:bodyPr wrap="square" anchor="t" lIns="0" rIns="0" tIns="0" bIns="0">
            <a:spAutoFit/>
          </a:bodyPr>
          <a:lstStyle/>
          <a:p>
            <a:pPr algn="l">
              <a:spcAft>
                <a:spcPts val="600"/>
              </a:spcAft>
            </a:pPr>
            <a:r>
              <a:rPr sz="1300" b="0">
                <a:solidFill>
                  <a:srgbClr val="3E556B"/>
                </a:solidFill>
              </a:rPr>
              <a:t>Loading a newer workbook, exporting, and saving back safely</a:t>
            </a:r>
          </a:p>
        </p:txBody>
      </p:sp>
      <p:sp>
        <p:nvSpPr>
          <p:cNvPr id="24" name="Section card"/>
          <p:cNvSpPr/>
          <p:nvPr/>
        </p:nvSpPr>
        <p:spPr>
          <a:xfrm>
            <a:off x="8083296" y="3840480"/>
            <a:ext cx="3520440" cy="196596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57616" y="4023360"/>
            <a:ext cx="914400" cy="548640"/>
          </a:xfrm>
          <a:prstGeom prst="rect">
            <a:avLst/>
          </a:prstGeom>
          <a:noFill/>
        </p:spPr>
        <p:txBody>
          <a:bodyPr wrap="square" anchor="t" lIns="0" rIns="0" tIns="0" bIns="0">
            <a:spAutoFit/>
          </a:bodyPr>
          <a:lstStyle/>
          <a:p>
            <a:pPr algn="l">
              <a:spcAft>
                <a:spcPts val="600"/>
              </a:spcAft>
            </a:pPr>
            <a:r>
              <a:rPr sz="2800" b="1">
                <a:solidFill>
                  <a:schemeClr val="accent2"/>
                </a:solidFill>
              </a:rPr>
              <a:t>06</a:t>
            </a:r>
          </a:p>
        </p:txBody>
      </p:sp>
      <p:sp>
        <p:nvSpPr>
          <p:cNvPr id="26" name="TextBox 25"/>
          <p:cNvSpPr txBox="1"/>
          <p:nvPr/>
        </p:nvSpPr>
        <p:spPr>
          <a:xfrm>
            <a:off x="8357616" y="4572000"/>
            <a:ext cx="2971800" cy="365760"/>
          </a:xfrm>
          <a:prstGeom prst="rect">
            <a:avLst/>
          </a:prstGeom>
          <a:noFill/>
        </p:spPr>
        <p:txBody>
          <a:bodyPr wrap="square" anchor="t" lIns="0" rIns="0" tIns="0" bIns="0">
            <a:spAutoFit/>
          </a:bodyPr>
          <a:lstStyle/>
          <a:p>
            <a:pPr algn="l">
              <a:spcAft>
                <a:spcPts val="600"/>
              </a:spcAft>
            </a:pPr>
            <a:r>
              <a:rPr sz="1900" b="1">
                <a:solidFill>
                  <a:schemeClr val="accent1"/>
                </a:solidFill>
              </a:rPr>
              <a:t>Building in Dataverse</a:t>
            </a:r>
          </a:p>
        </p:txBody>
      </p:sp>
      <p:sp>
        <p:nvSpPr>
          <p:cNvPr id="27" name="TextBox 26"/>
          <p:cNvSpPr txBox="1"/>
          <p:nvPr/>
        </p:nvSpPr>
        <p:spPr>
          <a:xfrm>
            <a:off x="8357616" y="4956048"/>
            <a:ext cx="2971800" cy="777240"/>
          </a:xfrm>
          <a:prstGeom prst="rect">
            <a:avLst/>
          </a:prstGeom>
          <a:noFill/>
        </p:spPr>
        <p:txBody>
          <a:bodyPr wrap="square" anchor="t" lIns="0" rIns="0" tIns="0" bIns="0">
            <a:spAutoFit/>
          </a:bodyPr>
          <a:lstStyle/>
          <a:p>
            <a:pPr algn="l">
              <a:spcAft>
                <a:spcPts val="600"/>
              </a:spcAft>
            </a:pPr>
            <a:r>
              <a:rPr sz="1300" b="0">
                <a:solidFill>
                  <a:srgbClr val="3E556B"/>
                </a:solidFill>
              </a:rPr>
              <a:t>The solution builder, what it creates, importing, and what to do after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sz="1600"/>
              <a:t>Only the cells you change are written, and the file is read back and checked before it is saved.</a:t>
            </a:r>
          </a:p>
        </p:txBody>
      </p:sp>
      <p:sp>
        <p:nvSpPr>
          <p:cNvPr id="3" name="Text Placeholder 2"/>
          <p:cNvSpPr>
            <a:spLocks noGrp="1"/>
          </p:cNvSpPr>
          <p:nvPr>
            <p:ph type="body" idx="14" sz="quarter"/>
          </p:nvPr>
        </p:nvSpPr>
        <p:spPr/>
        <p:txBody>
          <a:bodyPr/>
          <a:lstStyle/>
          <a:p>
            <a:r>
              <a:rPr sz="1600"/>
              <a:t>Nothing is installed or uploaded. Workbooks and edits stay in this browser profile only.</a:t>
            </a:r>
          </a:p>
        </p:txBody>
      </p:sp>
      <p:sp>
        <p:nvSpPr>
          <p:cNvPr id="4" name="Text Placeholder 3"/>
          <p:cNvSpPr>
            <a:spLocks noGrp="1"/>
          </p:cNvSpPr>
          <p:nvPr>
            <p:ph type="body" idx="15" sz="quarter"/>
          </p:nvPr>
        </p:nvSpPr>
        <p:spPr/>
        <p:txBody>
          <a:bodyPr/>
          <a:lstStyle/>
          <a:p>
            <a:r>
              <a:rPr sz="1600"/>
              <a:t>Columns, table details and dropdowns come from the FormusPro template, which you can replace.</a:t>
            </a:r>
          </a:p>
        </p:txBody>
      </p:sp>
      <p:sp>
        <p:nvSpPr>
          <p:cNvPr id="5" name="Text Placeholder 4"/>
          <p:cNvSpPr>
            <a:spLocks noGrp="1"/>
          </p:cNvSpPr>
          <p:nvPr>
            <p:ph type="body" idx="16" sz="quarter"/>
          </p:nvPr>
        </p:nvSpPr>
        <p:spPr/>
        <p:txBody>
          <a:bodyPr/>
          <a:lstStyle/>
          <a:p>
            <a:r>
              <a:rPr sz="1600"/>
              <a:t>Data_Model_Explorer.html holds everything: the app, the libraries and the empty template. Open it in Chrome or Edge.</a:t>
            </a:r>
          </a:p>
        </p:txBody>
      </p:sp>
      <p:sp>
        <p:nvSpPr>
          <p:cNvPr id="6" name="Text Placeholder 5"/>
          <p:cNvSpPr>
            <a:spLocks noGrp="1"/>
          </p:cNvSpPr>
          <p:nvPr>
            <p:ph type="body" idx="17" sz="quarter"/>
          </p:nvPr>
        </p:nvSpPr>
        <p:spPr/>
        <p:txBody>
          <a:bodyPr/>
          <a:lstStyle/>
          <a:p>
            <a:r>
              <a:t>One file</a:t>
            </a:r>
          </a:p>
        </p:txBody>
      </p:sp>
      <p:sp>
        <p:nvSpPr>
          <p:cNvPr id="7" name="Text Placeholder 6"/>
          <p:cNvSpPr>
            <a:spLocks noGrp="1"/>
          </p:cNvSpPr>
          <p:nvPr>
            <p:ph type="body" idx="18" sz="quarter"/>
          </p:nvPr>
        </p:nvSpPr>
        <p:spPr/>
        <p:txBody>
          <a:bodyPr/>
          <a:lstStyle/>
          <a:p>
            <a:r>
              <a:t>Offline and private</a:t>
            </a:r>
          </a:p>
        </p:txBody>
      </p:sp>
      <p:sp>
        <p:nvSpPr>
          <p:cNvPr id="8" name="Text Placeholder 7"/>
          <p:cNvSpPr>
            <a:spLocks noGrp="1"/>
          </p:cNvSpPr>
          <p:nvPr>
            <p:ph type="body" idx="19" sz="quarter"/>
          </p:nvPr>
        </p:nvSpPr>
        <p:spPr/>
        <p:txBody>
          <a:bodyPr/>
          <a:lstStyle/>
          <a:p>
            <a:r>
              <a:t>Template-driven</a:t>
            </a:r>
          </a:p>
        </p:txBody>
      </p:sp>
      <p:sp>
        <p:nvSpPr>
          <p:cNvPr id="9" name="Text Placeholder 8"/>
          <p:cNvSpPr>
            <a:spLocks noGrp="1"/>
          </p:cNvSpPr>
          <p:nvPr>
            <p:ph type="body" idx="20" sz="quarter"/>
          </p:nvPr>
        </p:nvSpPr>
        <p:spPr/>
        <p:txBody>
          <a:bodyPr/>
          <a:lstStyle/>
          <a:p>
            <a:r>
              <a:t>Safe with your files</a:t>
            </a:r>
          </a:p>
        </p:txBody>
      </p:sp>
      <p:sp>
        <p:nvSpPr>
          <p:cNvPr id="10" name="Text Placeholder 9"/>
          <p:cNvSpPr>
            <a:spLocks noGrp="1"/>
          </p:cNvSpPr>
          <p:nvPr>
            <p:ph type="body" idx="13" sz="quarter"/>
          </p:nvPr>
        </p:nvSpPr>
        <p:spPr/>
        <p:txBody>
          <a:bodyPr/>
          <a:lstStyle/>
          <a:p>
            <a:r>
              <a:t>How it is built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a:xfrm>
            <a:off x="548640" y="2788920"/>
            <a:ext cx="10515600" cy="1051560"/>
          </a:xfrm>
        </p:spPr>
        <p:txBody>
          <a:bodyPr anchor="t"/>
          <a:lstStyle/>
          <a:p>
            <a:pPr algn="l"/>
            <a:r>
              <a:t>Getting started</a:t>
            </a:r>
          </a:p>
        </p:txBody>
      </p:sp>
      <p:sp>
        <p:nvSpPr>
          <p:cNvPr id="3" name="Section number"/>
          <p:cNvSpPr txBox="1"/>
          <p:nvPr/>
        </p:nvSpPr>
        <p:spPr>
          <a:xfrm>
            <a:off x="548640" y="1600200"/>
            <a:ext cx="2743200" cy="1097280"/>
          </a:xfrm>
          <a:prstGeom prst="rect">
            <a:avLst/>
          </a:prstGeom>
          <a:noFill/>
        </p:spPr>
        <p:txBody>
          <a:bodyPr wrap="square" anchor="t" lIns="0" rIns="0" tIns="0" bIns="0">
            <a:spAutoFit/>
          </a:bodyPr>
          <a:lstStyle/>
          <a:p>
            <a:pPr algn="l">
              <a:spcAft>
                <a:spcPts val="600"/>
              </a:spcAft>
            </a:pPr>
            <a:r>
              <a:rPr sz="7200" b="1">
                <a:solidFill>
                  <a:schemeClr val="accent2"/>
                </a:solidFill>
              </a:rPr>
              <a:t>01</a:t>
            </a:r>
          </a:p>
        </p:txBody>
      </p:sp>
      <p:sp>
        <p:nvSpPr>
          <p:cNvPr id="4" name="Section summary"/>
          <p:cNvSpPr txBox="1"/>
          <p:nvPr/>
        </p:nvSpPr>
        <p:spPr>
          <a:xfrm>
            <a:off x="548640" y="4206240"/>
            <a:ext cx="10515600" cy="731520"/>
          </a:xfrm>
          <a:prstGeom prst="rect">
            <a:avLst/>
          </a:prstGeom>
          <a:noFill/>
        </p:spPr>
        <p:txBody>
          <a:bodyPr wrap="square" anchor="t" lIns="0" rIns="0" tIns="0" bIns="0">
            <a:spAutoFit/>
          </a:bodyPr>
          <a:lstStyle/>
          <a:p>
            <a:pPr algn="l">
              <a:spcAft>
                <a:spcPts val="600"/>
              </a:spcAft>
            </a:pPr>
            <a:r>
              <a:rPr sz="2000" b="0">
                <a:solidFill>
                  <a:srgbClr val="3E556B"/>
                </a:solidFill>
              </a:rPr>
              <a:t>Opening workbooks, where they are kept, and the template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Opening a workbook</a:t>
            </a:r>
          </a:p>
        </p:txBody>
      </p:sp>
      <p:pic>
        <p:nvPicPr>
          <p:cNvPr id="4" name="Screenshot: 01-open" descr="The page header with Open workbook… marked"/>
          <p:cNvPicPr>
            <a:picLocks noChangeAspect="1"/>
          </p:cNvPicPr>
          <p:nvPr/>
        </p:nvPicPr>
        <p:blipFill>
          <a:blip r:embed="rId2"/>
          <a:stretch>
            <a:fillRect/>
          </a:stretch>
        </p:blipFill>
        <p:spPr>
          <a:xfrm>
            <a:off x="475488" y="1508760"/>
            <a:ext cx="6583680" cy="3931920"/>
          </a:xfrm>
          <a:prstGeom prst="rect">
            <a:avLst/>
          </a:prstGeom>
          <a:ln w="12700">
            <a:solidFill>
              <a:schemeClr val="accent5"/>
            </a:solidFill>
          </a:ln>
        </p:spPr>
      </p:pic>
      <p:sp>
        <p:nvSpPr>
          <p:cNvPr id="5" name="Point heading"/>
          <p:cNvSpPr txBox="1"/>
          <p:nvPr/>
        </p:nvSpPr>
        <p:spPr>
          <a:xfrm>
            <a:off x="7315200" y="1508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Open or drop</a:t>
            </a:r>
          </a:p>
        </p:txBody>
      </p:sp>
      <p:sp>
        <p:nvSpPr>
          <p:cNvPr id="6" name="Point text"/>
          <p:cNvSpPr txBox="1"/>
          <p:nvPr/>
        </p:nvSpPr>
        <p:spPr>
          <a:xfrm>
            <a:off x="7315200" y="1819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Click Open workbook… in the header, or drag the .xlsx onto the page</a:t>
            </a:r>
          </a:p>
        </p:txBody>
      </p:sp>
      <p:sp>
        <p:nvSpPr>
          <p:cNvPr id="7" name="Point heading"/>
          <p:cNvSpPr txBox="1"/>
          <p:nvPr/>
        </p:nvSpPr>
        <p:spPr>
          <a:xfrm>
            <a:off x="7315200" y="2651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Metadata exports converted</a:t>
            </a:r>
          </a:p>
        </p:txBody>
      </p:sp>
      <p:sp>
        <p:nvSpPr>
          <p:cNvPr id="8" name="Point text"/>
          <p:cNvSpPr txBox="1"/>
          <p:nvPr/>
        </p:nvSpPr>
        <p:spPr>
          <a:xfrm>
            <a:off x="7315200" y="2962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A Metadata Document Generator export is converted to the template layout, with progress shown</a:t>
            </a:r>
          </a:p>
        </p:txBody>
      </p:sp>
      <p:sp>
        <p:nvSpPr>
          <p:cNvPr id="9" name="Point heading"/>
          <p:cNvSpPr txBox="1"/>
          <p:nvPr/>
        </p:nvSpPr>
        <p:spPr>
          <a:xfrm>
            <a:off x="7315200" y="3794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Lands on the Overview</a:t>
            </a:r>
          </a:p>
        </p:txBody>
      </p:sp>
      <p:sp>
        <p:nvSpPr>
          <p:cNvPr id="10" name="Point text"/>
          <p:cNvSpPr txBox="1"/>
          <p:nvPr/>
        </p:nvSpPr>
        <p:spPr>
          <a:xfrm>
            <a:off x="7315200" y="4105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Tables are listed in the sidebar, grouped by area from the Table Dictionary</a:t>
            </a:r>
          </a:p>
        </p:txBody>
      </p:sp>
      <p:sp>
        <p:nvSpPr>
          <p:cNvPr id="11" name="Point heading"/>
          <p:cNvSpPr txBox="1"/>
          <p:nvPr/>
        </p:nvSpPr>
        <p:spPr>
          <a:xfrm>
            <a:off x="7315200" y="4937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Chrome or Edge</a:t>
            </a:r>
          </a:p>
        </p:txBody>
      </p:sp>
      <p:sp>
        <p:nvSpPr>
          <p:cNvPr id="12" name="Point text"/>
          <p:cNvSpPr txBox="1"/>
          <p:nvPr/>
        </p:nvSpPr>
        <p:spPr>
          <a:xfrm>
            <a:off x="7315200" y="5248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Needed to save back to the original file; everything else works in any modern browser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Several workbooks, kept apart</a:t>
            </a:r>
          </a:p>
        </p:txBody>
      </p:sp>
      <p:pic>
        <p:nvPicPr>
          <p:cNvPr id="4" name="Screenshot: 03-workbooks" descr="The workbook selector menu listing workbooks, with Manage files… marked"/>
          <p:cNvPicPr>
            <a:picLocks noChangeAspect="1"/>
          </p:cNvPicPr>
          <p:nvPr/>
        </p:nvPicPr>
        <p:blipFill>
          <a:blip r:embed="rId2"/>
          <a:stretch>
            <a:fillRect/>
          </a:stretch>
        </p:blipFill>
        <p:spPr>
          <a:xfrm>
            <a:off x="1490472" y="1508760"/>
            <a:ext cx="6583680" cy="3745886"/>
          </a:xfrm>
          <a:prstGeom prst="rect">
            <a:avLst/>
          </a:prstGeom>
          <a:ln w="12700">
            <a:solidFill>
              <a:schemeClr val="accent5"/>
            </a:solidFill>
          </a:ln>
        </p:spPr>
      </p:pic>
      <p:sp>
        <p:nvSpPr>
          <p:cNvPr id="5" name="Point heading"/>
          <p:cNvSpPr txBox="1"/>
          <p:nvPr/>
        </p:nvSpPr>
        <p:spPr>
          <a:xfrm>
            <a:off x="8366760" y="1508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Newer or different?</a:t>
            </a:r>
          </a:p>
        </p:txBody>
      </p:sp>
      <p:sp>
        <p:nvSpPr>
          <p:cNvPr id="6" name="Point text"/>
          <p:cNvSpPr txBox="1"/>
          <p:nvPr/>
        </p:nvSpPr>
        <p:spPr>
          <a:xfrm>
            <a:off x="8366760" y="1819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Opening a second file asks: a newer version carries your edits over; a different workbook gets its own</a:t>
            </a:r>
          </a:p>
        </p:txBody>
      </p:sp>
      <p:sp>
        <p:nvSpPr>
          <p:cNvPr id="7" name="Point heading"/>
          <p:cNvSpPr txBox="1"/>
          <p:nvPr/>
        </p:nvSpPr>
        <p:spPr>
          <a:xfrm>
            <a:off x="8366760" y="2651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Switch any time</a:t>
            </a:r>
          </a:p>
        </p:txBody>
      </p:sp>
      <p:sp>
        <p:nvSpPr>
          <p:cNvPr id="8" name="Point text"/>
          <p:cNvSpPr txBox="1"/>
          <p:nvPr/>
        </p:nvSpPr>
        <p:spPr>
          <a:xfrm>
            <a:off x="8366760" y="2962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The workbook selector in the header lists every workbook kept in this browser</a:t>
            </a:r>
          </a:p>
        </p:txBody>
      </p:sp>
      <p:sp>
        <p:nvSpPr>
          <p:cNvPr id="9" name="Point heading"/>
          <p:cNvSpPr txBox="1"/>
          <p:nvPr/>
        </p:nvSpPr>
        <p:spPr>
          <a:xfrm>
            <a:off x="8366760" y="3794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Manage files…</a:t>
            </a:r>
          </a:p>
        </p:txBody>
      </p:sp>
      <p:sp>
        <p:nvSpPr>
          <p:cNvPr id="10" name="Point text"/>
          <p:cNvSpPr txBox="1"/>
          <p:nvPr/>
        </p:nvSpPr>
        <p:spPr>
          <a:xfrm>
            <a:off x="8366760" y="4105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Shows them all, and Remove all… clears them</a:t>
            </a:r>
          </a:p>
        </p:txBody>
      </p:sp>
      <p:sp>
        <p:nvSpPr>
          <p:cNvPr id="11" name="Point heading"/>
          <p:cNvSpPr txBox="1"/>
          <p:nvPr/>
        </p:nvSpPr>
        <p:spPr>
          <a:xfrm>
            <a:off x="8366760" y="4937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Where it is kept</a:t>
            </a:r>
          </a:p>
        </p:txBody>
      </p:sp>
      <p:sp>
        <p:nvSpPr>
          <p:cNvPr id="12" name="Point text"/>
          <p:cNvSpPr txBox="1"/>
          <p:nvPr/>
        </p:nvSpPr>
        <p:spPr>
          <a:xfrm>
            <a:off x="8366760" y="5248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Workbooks in IndexedDB, edits and layouts in local storage. Saved in the header confirms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The template behind the page</a:t>
            </a:r>
          </a:p>
        </p:txBody>
      </p:sp>
      <p:pic>
        <p:nvPicPr>
          <p:cNvPr id="4" name="Screenshot: 15-template" descr="The Template panel with Download blank template, Use a different template… and Reset to bundled marked"/>
          <p:cNvPicPr>
            <a:picLocks noChangeAspect="1"/>
          </p:cNvPicPr>
          <p:nvPr/>
        </p:nvPicPr>
        <p:blipFill>
          <a:blip r:embed="rId2"/>
          <a:stretch>
            <a:fillRect/>
          </a:stretch>
        </p:blipFill>
        <p:spPr>
          <a:xfrm>
            <a:off x="835044" y="1508760"/>
            <a:ext cx="5864567" cy="4709160"/>
          </a:xfrm>
          <a:prstGeom prst="rect">
            <a:avLst/>
          </a:prstGeom>
          <a:ln w="12700">
            <a:solidFill>
              <a:schemeClr val="accent5"/>
            </a:solidFill>
          </a:ln>
        </p:spPr>
      </p:pic>
      <p:sp>
        <p:nvSpPr>
          <p:cNvPr id="5" name="Point heading"/>
          <p:cNvSpPr txBox="1"/>
          <p:nvPr/>
        </p:nvSpPr>
        <p:spPr>
          <a:xfrm>
            <a:off x="7315200" y="1508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Built in</a:t>
            </a:r>
          </a:p>
        </p:txBody>
      </p:sp>
      <p:sp>
        <p:nvSpPr>
          <p:cNvPr id="6" name="Point text"/>
          <p:cNvSpPr txBox="1"/>
          <p:nvPr/>
        </p:nvSpPr>
        <p:spPr>
          <a:xfrm>
            <a:off x="7315200" y="1819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The current FormusPro template sets the columns, table details and dropdown options</a:t>
            </a:r>
          </a:p>
        </p:txBody>
      </p:sp>
      <p:sp>
        <p:nvSpPr>
          <p:cNvPr id="7" name="Point heading"/>
          <p:cNvSpPr txBox="1"/>
          <p:nvPr/>
        </p:nvSpPr>
        <p:spPr>
          <a:xfrm>
            <a:off x="7315200" y="2651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Check a workbook</a:t>
            </a:r>
          </a:p>
        </p:txBody>
      </p:sp>
      <p:sp>
        <p:nvSpPr>
          <p:cNvPr id="8" name="Point text"/>
          <p:cNvSpPr txBox="1"/>
          <p:nvPr/>
        </p:nvSpPr>
        <p:spPr>
          <a:xfrm>
            <a:off x="7315200" y="2962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More ▾ → Template lists tables, columns and details that differ from it</a:t>
            </a:r>
          </a:p>
        </p:txBody>
      </p:sp>
      <p:sp>
        <p:nvSpPr>
          <p:cNvPr id="9" name="Point heading"/>
          <p:cNvSpPr txBox="1"/>
          <p:nvPr/>
        </p:nvSpPr>
        <p:spPr>
          <a:xfrm>
            <a:off x="7315200" y="3794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Older workbooks upgraded</a:t>
            </a:r>
          </a:p>
        </p:txBody>
      </p:sp>
      <p:sp>
        <p:nvSpPr>
          <p:cNvPr id="10" name="Point text"/>
          <p:cNvSpPr txBox="1"/>
          <p:nvPr/>
        </p:nvSpPr>
        <p:spPr>
          <a:xfrm>
            <a:off x="7315200" y="4105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Missing columns and details are added in the page, marked added, and written when filled in</a:t>
            </a:r>
          </a:p>
        </p:txBody>
      </p:sp>
      <p:sp>
        <p:nvSpPr>
          <p:cNvPr id="11" name="Point heading"/>
          <p:cNvSpPr txBox="1"/>
          <p:nvPr/>
        </p:nvSpPr>
        <p:spPr>
          <a:xfrm>
            <a:off x="7315200" y="4937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Use your own</a:t>
            </a:r>
          </a:p>
        </p:txBody>
      </p:sp>
      <p:sp>
        <p:nvSpPr>
          <p:cNvPr id="12" name="Point text"/>
          <p:cNvSpPr txBox="1"/>
          <p:nvPr/>
        </p:nvSpPr>
        <p:spPr>
          <a:xfrm>
            <a:off x="7315200" y="5248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Download blank template, change it in Excel, then Use a different template…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What a template change does</a:t>
            </a:r>
          </a:p>
        </p:txBody>
      </p:sp>
      <p:graphicFrame>
        <p:nvGraphicFramePr>
          <p:cNvPr id="4" name="Table 3"/>
          <p:cNvGraphicFramePr>
            <a:graphicFrameLocks noGrp="1"/>
          </p:cNvGraphicFramePr>
          <p:nvPr/>
        </p:nvGraphicFramePr>
        <p:xfrm>
          <a:off x="493776" y="1600200"/>
          <a:ext cx="11155680" cy="3291840"/>
        </p:xfrm>
        <a:graphic>
          <a:graphicData uri="http://schemas.openxmlformats.org/drawingml/2006/table">
            <a:tbl>
              <a:tblPr firstRow="1" bandRow="1">
                <a:tableStyleId>{5C22544A-7EE6-4342-B048-85BDC9FD1C3A}</a:tableStyleId>
              </a:tblPr>
              <a:tblGrid>
                <a:gridCol w="3840480"/>
                <a:gridCol w="7315200"/>
              </a:tblGrid>
              <a:tr h="548640">
                <a:tc>
                  <a:txBody>
                    <a:bodyPr/>
                    <a:lstStyle/>
                    <a:p>
                      <a:r>
                        <a:rPr sz="1500" b="1">
                          <a:solidFill>
                            <a:schemeClr val="bg1"/>
                          </a:solidFill>
                        </a:rPr>
                        <a:t>Change in the template</a:t>
                      </a:r>
                    </a:p>
                  </a:txBody>
                  <a:tcPr marL="109728" marR="109728" marT="54864" marB="54864" anchor="ctr">
                    <a:solidFill>
                      <a:schemeClr val="accent1"/>
                    </a:solidFill>
                  </a:tcPr>
                </a:tc>
                <a:tc>
                  <a:txBody>
                    <a:bodyPr/>
                    <a:lstStyle/>
                    <a:p>
                      <a:r>
                        <a:rPr sz="1500" b="1">
                          <a:solidFill>
                            <a:schemeClr val="bg1"/>
                          </a:solidFill>
                        </a:rPr>
                        <a:t>Effect in the page</a:t>
                      </a:r>
                    </a:p>
                  </a:txBody>
                  <a:tcPr marL="109728" marR="109728" marT="54864" marB="54864" anchor="ctr">
                    <a:solidFill>
                      <a:schemeClr val="accent1"/>
                    </a:solidFill>
                  </a:tcPr>
                </a:tc>
              </a:tr>
              <a:tr h="548640">
                <a:tc>
                  <a:txBody>
                    <a:bodyPr/>
                    <a:lstStyle/>
                    <a:p>
                      <a:r>
                        <a:rPr sz="1500" b="1">
                          <a:solidFill>
                            <a:schemeClr val="accent1"/>
                          </a:solidFill>
                        </a:rPr>
                        <a:t>A new column in the header row</a:t>
                      </a:r>
                    </a:p>
                  </a:txBody>
                  <a:tcPr marL="109728" marR="109728" marT="54864" marB="54864" anchor="ctr">
                    <a:solidFill>
                      <a:schemeClr val="bg1"/>
                    </a:solidFill>
                  </a:tcPr>
                </a:tc>
                <a:tc>
                  <a:txBody>
                    <a:bodyPr/>
                    <a:lstStyle/>
                    <a:p>
                      <a:r>
                        <a:rPr sz="1500" b="0">
                          <a:solidFill>
                            <a:schemeClr val="tx1"/>
                          </a:solidFill>
                        </a:rPr>
                        <a:t>Read, shown, filterable and editable; added to workbooks that lack it</a:t>
                      </a:r>
                    </a:p>
                  </a:txBody>
                  <a:tcPr marL="109728" marR="109728" marT="54864" marB="54864" anchor="ctr">
                    <a:solidFill>
                      <a:schemeClr val="bg1"/>
                    </a:solidFill>
                  </a:tcPr>
                </a:tc>
              </a:tr>
              <a:tr h="548640">
                <a:tc>
                  <a:txBody>
                    <a:bodyPr/>
                    <a:lstStyle/>
                    <a:p>
                      <a:r>
                        <a:rPr sz="1500" b="1">
                          <a:solidFill>
                            <a:schemeClr val="accent1"/>
                          </a:solidFill>
                        </a:rPr>
                        <a:t>Text in the hint row above a column</a:t>
                      </a:r>
                    </a:p>
                  </a:txBody>
                  <a:tcPr marL="109728" marR="109728" marT="54864" marB="54864" anchor="ctr">
                    <a:solidFill>
                      <a:schemeClr val="accent5"/>
                    </a:solidFill>
                  </a:tcPr>
                </a:tc>
                <a:tc>
                  <a:txBody>
                    <a:bodyPr/>
                    <a:lstStyle/>
                    <a:p>
                      <a:r>
                        <a:rPr sz="1500" b="0">
                          <a:solidFill>
                            <a:schemeClr val="tx1"/>
                          </a:solidFill>
                        </a:rPr>
                        <a:t>Shown as the column’s tooltip and written with the column</a:t>
                      </a:r>
                    </a:p>
                  </a:txBody>
                  <a:tcPr marL="109728" marR="109728" marT="54864" marB="54864" anchor="ctr">
                    <a:solidFill>
                      <a:schemeClr val="accent5"/>
                    </a:solidFill>
                  </a:tcPr>
                </a:tc>
              </a:tr>
              <a:tr h="548640">
                <a:tc>
                  <a:txBody>
                    <a:bodyPr/>
                    <a:lstStyle/>
                    <a:p>
                      <a:r>
                        <a:rPr sz="1500" b="1">
                          <a:solidFill>
                            <a:schemeClr val="accent1"/>
                          </a:solidFill>
                        </a:rPr>
                        <a:t>An Excel data-validation list</a:t>
                      </a:r>
                    </a:p>
                  </a:txBody>
                  <a:tcPr marL="109728" marR="109728" marT="54864" marB="54864" anchor="ctr">
                    <a:solidFill>
                      <a:schemeClr val="bg1"/>
                    </a:solidFill>
                  </a:tcPr>
                </a:tc>
                <a:tc>
                  <a:txBody>
                    <a:bodyPr/>
                    <a:lstStyle/>
                    <a:p>
                      <a:r>
                        <a:rPr sz="1500" b="0">
                          <a:solidFill>
                            <a:schemeClr val="tx1"/>
                          </a:solidFill>
                        </a:rPr>
                        <a:t>Its options become the column’s dropdown</a:t>
                      </a:r>
                    </a:p>
                  </a:txBody>
                  <a:tcPr marL="109728" marR="109728" marT="54864" marB="54864" anchor="ctr">
                    <a:solidFill>
                      <a:schemeClr val="bg1"/>
                    </a:solidFill>
                  </a:tcPr>
                </a:tc>
              </a:tr>
              <a:tr h="548640">
                <a:tc>
                  <a:txBody>
                    <a:bodyPr/>
                    <a:lstStyle/>
                    <a:p>
                      <a:r>
                        <a:rPr sz="1500" b="1">
                          <a:solidFill>
                            <a:schemeClr val="accent1"/>
                          </a:solidFill>
                        </a:rPr>
                        <a:t>A new label row in the table details</a:t>
                      </a:r>
                    </a:p>
                  </a:txBody>
                  <a:tcPr marL="109728" marR="109728" marT="54864" marB="54864" anchor="ctr">
                    <a:solidFill>
                      <a:schemeClr val="accent5"/>
                    </a:solidFill>
                  </a:tcPr>
                </a:tc>
                <a:tc>
                  <a:txBody>
                    <a:bodyPr/>
                    <a:lstStyle/>
                    <a:p>
                      <a:r>
                        <a:rPr sz="1500" b="0">
                          <a:solidFill>
                            <a:schemeClr val="tx1"/>
                          </a:solidFill>
                        </a:rPr>
                        <a:t>Shown in ✎ Table details and added to tables that lack it</a:t>
                      </a:r>
                    </a:p>
                  </a:txBody>
                  <a:tcPr marL="109728" marR="109728" marT="54864" marB="54864" anchor="ctr">
                    <a:solidFill>
                      <a:schemeClr val="accent5"/>
                    </a:solidFill>
                  </a:tcPr>
                </a:tc>
              </a:tr>
              <a:tr h="548640">
                <a:tc>
                  <a:txBody>
                    <a:bodyPr/>
                    <a:lstStyle/>
                    <a:p>
                      <a:r>
                        <a:rPr sz="1500" b="1">
                          <a:solidFill>
                            <a:schemeClr val="accent1"/>
                          </a:solidFill>
                        </a:rPr>
                        <a:t>Fonts, colours, widths</a:t>
                      </a:r>
                    </a:p>
                  </a:txBody>
                  <a:tcPr marL="109728" marR="109728" marT="54864" marB="54864" anchor="ctr">
                    <a:solidFill>
                      <a:schemeClr val="bg1"/>
                    </a:solidFill>
                  </a:tcPr>
                </a:tc>
                <a:tc>
                  <a:txBody>
                    <a:bodyPr/>
                    <a:lstStyle/>
                    <a:p>
                      <a:r>
                        <a:rPr sz="1500" b="0">
                          <a:solidFill>
                            <a:schemeClr val="tx1"/>
                          </a:solidFill>
                        </a:rPr>
                        <a:t>Used by New version in template format</a:t>
                      </a:r>
                    </a:p>
                  </a:txBody>
                  <a:tcPr marL="109728" marR="109728" marT="54864" marB="54864" anchor="ctr">
                    <a:solidFill>
                      <a:schemeClr val="bg1"/>
                    </a:solidFill>
                  </a:tcPr>
                </a:tc>
              </a:tr>
            </a:tbl>
          </a:graphicData>
        </a:graphic>
      </p:graphicFrame>
      <p:sp>
        <p:nvSpPr>
          <p:cNvPr id="5" name="TextBox 4"/>
          <p:cNvSpPr txBox="1"/>
          <p:nvPr/>
        </p:nvSpPr>
        <p:spPr>
          <a:xfrm>
            <a:off x="493776" y="5257800"/>
            <a:ext cx="11155680" cy="731520"/>
          </a:xfrm>
          <a:prstGeom prst="rect">
            <a:avLst/>
          </a:prstGeom>
          <a:noFill/>
        </p:spPr>
        <p:txBody>
          <a:bodyPr wrap="square" anchor="t" lIns="0" rIns="0" tIns="0" bIns="0">
            <a:spAutoFit/>
          </a:bodyPr>
          <a:lstStyle/>
          <a:p>
            <a:pPr algn="l">
              <a:spcAft>
                <a:spcPts val="600"/>
              </a:spcAft>
            </a:pPr>
            <a:r>
              <a:rPr sz="1400" b="0">
                <a:solidFill>
                  <a:srgbClr val="3E556B"/>
                </a:solidFill>
              </a:rPr>
              <a:t>Keep the layout when editing the template: the Table Dictionary, and one example table tab with its detail rows, hint row and header row starting Logical Name, Schema Name. A new column needs a code change only if the solution builder or a check should use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a:xfrm>
            <a:off x="548640" y="2788920"/>
            <a:ext cx="10515600" cy="1051560"/>
          </a:xfrm>
        </p:spPr>
        <p:txBody>
          <a:bodyPr anchor="t"/>
          <a:lstStyle/>
          <a:p>
            <a:pPr algn="l"/>
            <a:r>
              <a:t>Reviewing the model</a:t>
            </a:r>
          </a:p>
        </p:txBody>
      </p:sp>
      <p:sp>
        <p:nvSpPr>
          <p:cNvPr id="3" name="Section number"/>
          <p:cNvSpPr txBox="1"/>
          <p:nvPr/>
        </p:nvSpPr>
        <p:spPr>
          <a:xfrm>
            <a:off x="548640" y="1600200"/>
            <a:ext cx="2743200" cy="1097280"/>
          </a:xfrm>
          <a:prstGeom prst="rect">
            <a:avLst/>
          </a:prstGeom>
          <a:noFill/>
        </p:spPr>
        <p:txBody>
          <a:bodyPr wrap="square" anchor="t" lIns="0" rIns="0" tIns="0" bIns="0">
            <a:spAutoFit/>
          </a:bodyPr>
          <a:lstStyle/>
          <a:p>
            <a:pPr algn="l">
              <a:spcAft>
                <a:spcPts val="600"/>
              </a:spcAft>
            </a:pPr>
            <a:r>
              <a:rPr sz="7200" b="1">
                <a:solidFill>
                  <a:schemeClr val="accent2"/>
                </a:solidFill>
              </a:rPr>
              <a:t>02</a:t>
            </a:r>
          </a:p>
        </p:txBody>
      </p:sp>
      <p:sp>
        <p:nvSpPr>
          <p:cNvPr id="4" name="Section summary"/>
          <p:cNvSpPr txBox="1"/>
          <p:nvPr/>
        </p:nvSpPr>
        <p:spPr>
          <a:xfrm>
            <a:off x="548640" y="4206240"/>
            <a:ext cx="10515600" cy="731520"/>
          </a:xfrm>
          <a:prstGeom prst="rect">
            <a:avLst/>
          </a:prstGeom>
          <a:noFill/>
        </p:spPr>
        <p:txBody>
          <a:bodyPr wrap="square" anchor="t" lIns="0" rIns="0" tIns="0" bIns="0">
            <a:spAutoFit/>
          </a:bodyPr>
          <a:lstStyle/>
          <a:p>
            <a:pPr algn="l">
              <a:spcAft>
                <a:spcPts val="600"/>
              </a:spcAft>
            </a:pPr>
            <a:r>
              <a:rPr sz="2000" b="0">
                <a:solidFill>
                  <a:srgbClr val="3E556B"/>
                </a:solidFill>
              </a:rPr>
              <a:t>The Overview, browsing and searching, Checks, and comparing with Dataverse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The Overview</a:t>
            </a:r>
          </a:p>
        </p:txBody>
      </p:sp>
      <p:pic>
        <p:nvPicPr>
          <p:cNvPr id="4" name="Screenshot: 02-overview" descr="The Overview with a count card, Open all checks, Build solution… and Check against Dataverse… marked"/>
          <p:cNvPicPr>
            <a:picLocks noChangeAspect="1"/>
          </p:cNvPicPr>
          <p:nvPr/>
        </p:nvPicPr>
        <p:blipFill>
          <a:blip r:embed="rId2"/>
          <a:stretch>
            <a:fillRect/>
          </a:stretch>
        </p:blipFill>
        <p:spPr>
          <a:xfrm>
            <a:off x="1490472" y="1508760"/>
            <a:ext cx="6583680" cy="3931920"/>
          </a:xfrm>
          <a:prstGeom prst="rect">
            <a:avLst/>
          </a:prstGeom>
          <a:ln w="12700">
            <a:solidFill>
              <a:schemeClr val="accent5"/>
            </a:solidFill>
          </a:ln>
        </p:spPr>
      </p:pic>
      <p:sp>
        <p:nvSpPr>
          <p:cNvPr id="5" name="Point heading"/>
          <p:cNvSpPr txBox="1"/>
          <p:nvPr/>
        </p:nvSpPr>
        <p:spPr>
          <a:xfrm>
            <a:off x="8366760" y="1508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Counts that open lists</a:t>
            </a:r>
          </a:p>
        </p:txBody>
      </p:sp>
      <p:sp>
        <p:nvSpPr>
          <p:cNvPr id="6" name="Point text"/>
          <p:cNvSpPr txBox="1"/>
          <p:nvPr/>
        </p:nvSpPr>
        <p:spPr>
          <a:xfrm>
            <a:off x="8366760" y="1819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Tables, fields, lookups, related pairs, unresolved lookups, errors, warnings, your edits</a:t>
            </a:r>
          </a:p>
        </p:txBody>
      </p:sp>
      <p:sp>
        <p:nvSpPr>
          <p:cNvPr id="7" name="Point heading"/>
          <p:cNvSpPr txBox="1"/>
          <p:nvPr/>
        </p:nvSpPr>
        <p:spPr>
          <a:xfrm>
            <a:off x="8366760" y="2651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Completeness</a:t>
            </a:r>
          </a:p>
        </p:txBody>
      </p:sp>
      <p:sp>
        <p:nvSpPr>
          <p:cNvPr id="8" name="Point text"/>
          <p:cNvSpPr txBox="1"/>
          <p:nvPr/>
        </p:nvSpPr>
        <p:spPr>
          <a:xfrm>
            <a:off x="8366760" y="2962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Descriptions, areas and purposes, and the least described tables</a:t>
            </a:r>
          </a:p>
        </p:txBody>
      </p:sp>
      <p:sp>
        <p:nvSpPr>
          <p:cNvPr id="9" name="Point heading"/>
          <p:cNvSpPr txBox="1"/>
          <p:nvPr/>
        </p:nvSpPr>
        <p:spPr>
          <a:xfrm>
            <a:off x="8366760" y="3794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By area</a:t>
            </a:r>
          </a:p>
        </p:txBody>
      </p:sp>
      <p:sp>
        <p:nvSpPr>
          <p:cNvPr id="10" name="Point text"/>
          <p:cNvSpPr txBox="1"/>
          <p:nvPr/>
        </p:nvSpPr>
        <p:spPr>
          <a:xfrm>
            <a:off x="8366760" y="4105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Tables, fields, how much is described and issues, per area</a:t>
            </a:r>
          </a:p>
        </p:txBody>
      </p:sp>
      <p:sp>
        <p:nvSpPr>
          <p:cNvPr id="11" name="Point heading"/>
          <p:cNvSpPr txBox="1"/>
          <p:nvPr/>
        </p:nvSpPr>
        <p:spPr>
          <a:xfrm>
            <a:off x="8366760" y="4937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Shortcuts</a:t>
            </a:r>
          </a:p>
        </p:txBody>
      </p:sp>
      <p:sp>
        <p:nvSpPr>
          <p:cNvPr id="12" name="Point text"/>
          <p:cNvSpPr txBox="1"/>
          <p:nvPr/>
        </p:nvSpPr>
        <p:spPr>
          <a:xfrm>
            <a:off x="8366760" y="5248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Open all checks, Build solution… and Check against Dataverse…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Browsing and searching</a:t>
            </a:r>
          </a:p>
        </p:txBody>
      </p:sp>
      <p:pic>
        <p:nvPicPr>
          <p:cNvPr id="4" name="Screenshot: 06-table" descr="A table page with the search box, Add field, Columns, a column filter and Table details marked"/>
          <p:cNvPicPr>
            <a:picLocks noChangeAspect="1"/>
          </p:cNvPicPr>
          <p:nvPr/>
        </p:nvPicPr>
        <p:blipFill>
          <a:blip r:embed="rId2"/>
          <a:stretch>
            <a:fillRect/>
          </a:stretch>
        </p:blipFill>
        <p:spPr>
          <a:xfrm>
            <a:off x="475488" y="1508760"/>
            <a:ext cx="6583680" cy="3931920"/>
          </a:xfrm>
          <a:prstGeom prst="rect">
            <a:avLst/>
          </a:prstGeom>
          <a:ln w="12700">
            <a:solidFill>
              <a:schemeClr val="accent5"/>
            </a:solidFill>
          </a:ln>
        </p:spPr>
      </p:pic>
      <p:sp>
        <p:nvSpPr>
          <p:cNvPr id="5" name="Point heading"/>
          <p:cNvSpPr txBox="1"/>
          <p:nvPr/>
        </p:nvSpPr>
        <p:spPr>
          <a:xfrm>
            <a:off x="7315200" y="1508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Every tab is a page</a:t>
            </a:r>
          </a:p>
        </p:txBody>
      </p:sp>
      <p:sp>
        <p:nvSpPr>
          <p:cNvPr id="6" name="Point text"/>
          <p:cNvSpPr txBox="1"/>
          <p:nvPr/>
        </p:nvSpPr>
        <p:spPr>
          <a:xfrm>
            <a:off x="7315200" y="1819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Details along the top, counts by field type, then the field list</a:t>
            </a:r>
          </a:p>
        </p:txBody>
      </p:sp>
      <p:sp>
        <p:nvSpPr>
          <p:cNvPr id="7" name="Point heading"/>
          <p:cNvSpPr txBox="1"/>
          <p:nvPr/>
        </p:nvSpPr>
        <p:spPr>
          <a:xfrm>
            <a:off x="7315200" y="2651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Search and filter</a:t>
            </a:r>
          </a:p>
        </p:txBody>
      </p:sp>
      <p:sp>
        <p:nvSpPr>
          <p:cNvPr id="8" name="Point text"/>
          <p:cNvSpPr txBox="1"/>
          <p:nvPr/>
        </p:nvSpPr>
        <p:spPr>
          <a:xfrm>
            <a:off x="7315200" y="2962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The header search (shortcut /), a funnel on every column, Edited only, Area</a:t>
            </a:r>
          </a:p>
        </p:txBody>
      </p:sp>
      <p:sp>
        <p:nvSpPr>
          <p:cNvPr id="9" name="Point heading"/>
          <p:cNvSpPr txBox="1"/>
          <p:nvPr/>
        </p:nvSpPr>
        <p:spPr>
          <a:xfrm>
            <a:off x="7315200" y="3794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All fields</a:t>
            </a:r>
          </a:p>
        </p:txBody>
      </p:sp>
      <p:sp>
        <p:nvSpPr>
          <p:cNvPr id="10" name="Point text"/>
          <p:cNvSpPr txBox="1"/>
          <p:nvPr/>
        </p:nvSpPr>
        <p:spPr>
          <a:xfrm>
            <a:off x="7315200" y="4105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Every field of every table in one searchable list</a:t>
            </a:r>
          </a:p>
        </p:txBody>
      </p:sp>
      <p:sp>
        <p:nvSpPr>
          <p:cNvPr id="11" name="Point heading"/>
          <p:cNvSpPr txBox="1"/>
          <p:nvPr/>
        </p:nvSpPr>
        <p:spPr>
          <a:xfrm>
            <a:off x="7315200" y="4937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Your view</a:t>
            </a:r>
          </a:p>
        </p:txBody>
      </p:sp>
      <p:sp>
        <p:nvSpPr>
          <p:cNvPr id="12" name="Point text"/>
          <p:cNvSpPr txBox="1"/>
          <p:nvPr/>
        </p:nvSpPr>
        <p:spPr>
          <a:xfrm>
            <a:off x="7315200" y="5248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Columns ▾ shows or hides columns; expand or collapse long rows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Checks</a:t>
            </a:r>
          </a:p>
        </p:txBody>
      </p:sp>
      <p:pic>
        <p:nvPicPr>
          <p:cNvPr id="4" name="Screenshot: 04-checks" descr="The Checks page with the Errors, Warnings, Info and Export (CSV) buttons marked"/>
          <p:cNvPicPr>
            <a:picLocks noChangeAspect="1"/>
          </p:cNvPicPr>
          <p:nvPr/>
        </p:nvPicPr>
        <p:blipFill>
          <a:blip r:embed="rId2"/>
          <a:stretch>
            <a:fillRect/>
          </a:stretch>
        </p:blipFill>
        <p:spPr>
          <a:xfrm>
            <a:off x="1490471" y="1508760"/>
            <a:ext cx="6583680" cy="2560068"/>
          </a:xfrm>
          <a:prstGeom prst="rect">
            <a:avLst/>
          </a:prstGeom>
          <a:ln w="12700">
            <a:solidFill>
              <a:schemeClr val="accent5"/>
            </a:solidFill>
          </a:ln>
        </p:spPr>
      </p:pic>
      <p:sp>
        <p:nvSpPr>
          <p:cNvPr id="5" name="Point heading"/>
          <p:cNvSpPr txBox="1"/>
          <p:nvPr/>
        </p:nvSpPr>
        <p:spPr>
          <a:xfrm>
            <a:off x="8366760" y="1508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Always current</a:t>
            </a:r>
          </a:p>
        </p:txBody>
      </p:sp>
      <p:sp>
        <p:nvSpPr>
          <p:cNvPr id="6" name="Point text"/>
          <p:cNvSpPr txBox="1"/>
          <p:nvPr/>
        </p:nvSpPr>
        <p:spPr>
          <a:xfrm>
            <a:off x="8366760" y="1819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Runs over the whole model and updates as you edit</a:t>
            </a:r>
          </a:p>
        </p:txBody>
      </p:sp>
      <p:sp>
        <p:nvSpPr>
          <p:cNvPr id="7" name="Point heading"/>
          <p:cNvSpPr txBox="1"/>
          <p:nvPr/>
        </p:nvSpPr>
        <p:spPr>
          <a:xfrm>
            <a:off x="8366760" y="2651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Straight to the field</a:t>
            </a:r>
          </a:p>
        </p:txBody>
      </p:sp>
      <p:sp>
        <p:nvSpPr>
          <p:cNvPr id="8" name="Point text"/>
          <p:cNvSpPr txBox="1"/>
          <p:nvPr/>
        </p:nvSpPr>
        <p:spPr>
          <a:xfrm>
            <a:off x="8366760" y="2962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Each finding names the table and field and opens it when clicked</a:t>
            </a:r>
          </a:p>
        </p:txBody>
      </p:sp>
      <p:sp>
        <p:nvSpPr>
          <p:cNvPr id="9" name="Point heading"/>
          <p:cNvSpPr txBox="1"/>
          <p:nvPr/>
        </p:nvSpPr>
        <p:spPr>
          <a:xfrm>
            <a:off x="8366760" y="3794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Filter</a:t>
            </a:r>
          </a:p>
        </p:txBody>
      </p:sp>
      <p:sp>
        <p:nvSpPr>
          <p:cNvPr id="10" name="Point text"/>
          <p:cNvSpPr txBox="1"/>
          <p:nvPr/>
        </p:nvSpPr>
        <p:spPr>
          <a:xfrm>
            <a:off x="8366760" y="4105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Errors, Warnings and Info with counts, plus Area and search</a:t>
            </a:r>
          </a:p>
        </p:txBody>
      </p:sp>
      <p:sp>
        <p:nvSpPr>
          <p:cNvPr id="11" name="Point heading"/>
          <p:cNvSpPr txBox="1"/>
          <p:nvPr/>
        </p:nvSpPr>
        <p:spPr>
          <a:xfrm>
            <a:off x="8366760" y="4937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Share</a:t>
            </a:r>
          </a:p>
        </p:txBody>
      </p:sp>
      <p:sp>
        <p:nvSpPr>
          <p:cNvPr id="12" name="Point text"/>
          <p:cNvSpPr txBox="1"/>
          <p:nvPr/>
        </p:nvSpPr>
        <p:spPr>
          <a:xfrm>
            <a:off x="8366760" y="5248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Export (CSV) downloads the list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What Checks look for</a:t>
            </a:r>
          </a:p>
        </p:txBody>
      </p:sp>
      <p:graphicFrame>
        <p:nvGraphicFramePr>
          <p:cNvPr id="4" name="Table 3"/>
          <p:cNvGraphicFramePr>
            <a:graphicFrameLocks noGrp="1"/>
          </p:cNvGraphicFramePr>
          <p:nvPr/>
        </p:nvGraphicFramePr>
        <p:xfrm>
          <a:off x="493776" y="1508760"/>
          <a:ext cx="11155679" cy="4480560"/>
        </p:xfrm>
        <a:graphic>
          <a:graphicData uri="http://schemas.openxmlformats.org/drawingml/2006/table">
            <a:tbl>
              <a:tblPr firstRow="1" bandRow="1">
                <a:tableStyleId>{5C22544A-7EE6-4342-B048-85BDC9FD1C3A}</a:tableStyleId>
              </a:tblPr>
              <a:tblGrid>
                <a:gridCol w="1234440"/>
                <a:gridCol w="6172200"/>
                <a:gridCol w="3749039"/>
              </a:tblGrid>
              <a:tr h="497840">
                <a:tc>
                  <a:txBody>
                    <a:bodyPr/>
                    <a:lstStyle/>
                    <a:p>
                      <a:r>
                        <a:rPr sz="1250" b="1">
                          <a:solidFill>
                            <a:schemeClr val="bg1"/>
                          </a:solidFill>
                        </a:rPr>
                        <a:t>Severity</a:t>
                      </a:r>
                    </a:p>
                  </a:txBody>
                  <a:tcPr marL="109728" marR="109728" marT="54864" marB="54864" anchor="ctr">
                    <a:solidFill>
                      <a:schemeClr val="accent1"/>
                    </a:solidFill>
                  </a:tcPr>
                </a:tc>
                <a:tc>
                  <a:txBody>
                    <a:bodyPr/>
                    <a:lstStyle/>
                    <a:p>
                      <a:r>
                        <a:rPr sz="1250" b="1">
                          <a:solidFill>
                            <a:schemeClr val="bg1"/>
                          </a:solidFill>
                        </a:rPr>
                        <a:t>Check</a:t>
                      </a:r>
                    </a:p>
                  </a:txBody>
                  <a:tcPr marL="109728" marR="109728" marT="54864" marB="54864" anchor="ctr">
                    <a:solidFill>
                      <a:schemeClr val="accent1"/>
                    </a:solidFill>
                  </a:tcPr>
                </a:tc>
                <a:tc>
                  <a:txBody>
                    <a:bodyPr/>
                    <a:lstStyle/>
                    <a:p>
                      <a:r>
                        <a:rPr sz="1250" b="1">
                          <a:solidFill>
                            <a:schemeClr val="bg1"/>
                          </a:solidFill>
                        </a:rPr>
                        <a:t>How to fix it</a:t>
                      </a:r>
                    </a:p>
                  </a:txBody>
                  <a:tcPr marL="109728" marR="109728" marT="54864" marB="54864" anchor="ctr">
                    <a:solidFill>
                      <a:schemeClr val="accent1"/>
                    </a:solidFill>
                  </a:tcPr>
                </a:tc>
              </a:tr>
              <a:tr h="497840">
                <a:tc>
                  <a:txBody>
                    <a:bodyPr/>
                    <a:lstStyle/>
                    <a:p>
                      <a:r>
                        <a:rPr sz="1250" b="1">
                          <a:solidFill>
                            <a:schemeClr val="accent1"/>
                          </a:solidFill>
                        </a:rPr>
                        <a:t>Error</a:t>
                      </a:r>
                    </a:p>
                  </a:txBody>
                  <a:tcPr marL="109728" marR="109728" marT="54864" marB="54864" anchor="ctr">
                    <a:solidFill>
                      <a:schemeClr val="bg1"/>
                    </a:solidFill>
                  </a:tcPr>
                </a:tc>
                <a:tc>
                  <a:txBody>
                    <a:bodyPr/>
                    <a:lstStyle/>
                    <a:p>
                      <a:r>
                        <a:rPr sz="1250" b="0">
                          <a:solidFill>
                            <a:schemeClr val="tx1"/>
                          </a:solidFill>
                        </a:rPr>
                        <a:t>No primary name column, or not in the field list, or not single-line text</a:t>
                      </a:r>
                    </a:p>
                  </a:txBody>
                  <a:tcPr marL="109728" marR="109728" marT="54864" marB="54864" anchor="ctr">
                    <a:solidFill>
                      <a:schemeClr val="bg1"/>
                    </a:solidFill>
                  </a:tcPr>
                </a:tc>
                <a:tc>
                  <a:txBody>
                    <a:bodyPr/>
                    <a:lstStyle/>
                    <a:p>
                      <a:r>
                        <a:rPr sz="1250" b="0">
                          <a:solidFill>
                            <a:schemeClr val="tx1"/>
                          </a:solidFill>
                        </a:rPr>
                        <a:t>Set as primary name on a Text field</a:t>
                      </a:r>
                    </a:p>
                  </a:txBody>
                  <a:tcPr marL="109728" marR="109728" marT="54864" marB="54864" anchor="ctr">
                    <a:solidFill>
                      <a:schemeClr val="bg1"/>
                    </a:solidFill>
                  </a:tcPr>
                </a:tc>
              </a:tr>
              <a:tr h="497840">
                <a:tc>
                  <a:txBody>
                    <a:bodyPr/>
                    <a:lstStyle/>
                    <a:p>
                      <a:r>
                        <a:rPr sz="1250" b="1">
                          <a:solidFill>
                            <a:schemeClr val="accent1"/>
                          </a:solidFill>
                        </a:rPr>
                        <a:t>Error</a:t>
                      </a:r>
                    </a:p>
                  </a:txBody>
                  <a:tcPr marL="109728" marR="109728" marT="54864" marB="54864" anchor="ctr">
                    <a:solidFill>
                      <a:schemeClr val="accent5"/>
                    </a:solidFill>
                  </a:tcPr>
                </a:tc>
                <a:tc>
                  <a:txBody>
                    <a:bodyPr/>
                    <a:lstStyle/>
                    <a:p>
                      <a:r>
                        <a:rPr sz="1250" b="0">
                          <a:solidFill>
                            <a:schemeClr val="tx1"/>
                          </a:solidFill>
                        </a:rPr>
                        <a:t>Primary key is not a unique identifier</a:t>
                      </a:r>
                    </a:p>
                  </a:txBody>
                  <a:tcPr marL="109728" marR="109728" marT="54864" marB="54864" anchor="ctr">
                    <a:solidFill>
                      <a:schemeClr val="accent5"/>
                    </a:solidFill>
                  </a:tcPr>
                </a:tc>
                <a:tc>
                  <a:txBody>
                    <a:bodyPr/>
                    <a:lstStyle/>
                    <a:p>
                      <a:r>
                        <a:rPr sz="1250" b="0">
                          <a:solidFill>
                            <a:schemeClr val="tx1"/>
                          </a:solidFill>
                        </a:rPr>
                        <a:t>Keep the table name + id; use an alternate key</a:t>
                      </a:r>
                    </a:p>
                  </a:txBody>
                  <a:tcPr marL="109728" marR="109728" marT="54864" marB="54864" anchor="ctr">
                    <a:solidFill>
                      <a:schemeClr val="accent5"/>
                    </a:solidFill>
                  </a:tcPr>
                </a:tc>
              </a:tr>
              <a:tr h="497840">
                <a:tc>
                  <a:txBody>
                    <a:bodyPr/>
                    <a:lstStyle/>
                    <a:p>
                      <a:r>
                        <a:rPr sz="1250" b="1">
                          <a:solidFill>
                            <a:schemeClr val="accent1"/>
                          </a:solidFill>
                        </a:rPr>
                        <a:t>Error</a:t>
                      </a:r>
                    </a:p>
                  </a:txBody>
                  <a:tcPr marL="109728" marR="109728" marT="54864" marB="54864" anchor="ctr">
                    <a:solidFill>
                      <a:schemeClr val="bg1"/>
                    </a:solidFill>
                  </a:tcPr>
                </a:tc>
                <a:tc>
                  <a:txBody>
                    <a:bodyPr/>
                    <a:lstStyle/>
                    <a:p>
                      <a:r>
                        <a:rPr sz="1250" b="0">
                          <a:solidFill>
                            <a:schemeClr val="tx1"/>
                          </a:solidFill>
                        </a:rPr>
                        <a:t>Missing logical name; duplicate field or tab; relationship name used twice</a:t>
                      </a:r>
                    </a:p>
                  </a:txBody>
                  <a:tcPr marL="109728" marR="109728" marT="54864" marB="54864" anchor="ctr">
                    <a:solidFill>
                      <a:schemeClr val="bg1"/>
                    </a:solidFill>
                  </a:tcPr>
                </a:tc>
                <a:tc>
                  <a:txBody>
                    <a:bodyPr/>
                    <a:lstStyle/>
                    <a:p>
                      <a:r>
                        <a:rPr sz="1250" b="0">
                          <a:solidFill>
                            <a:schemeClr val="tx1"/>
                          </a:solidFill>
                        </a:rPr>
                        <a:t>Fill in, remove or rename</a:t>
                      </a:r>
                    </a:p>
                  </a:txBody>
                  <a:tcPr marL="109728" marR="109728" marT="54864" marB="54864" anchor="ctr">
                    <a:solidFill>
                      <a:schemeClr val="bg1"/>
                    </a:solidFill>
                  </a:tcPr>
                </a:tc>
              </a:tr>
              <a:tr h="497840">
                <a:tc>
                  <a:txBody>
                    <a:bodyPr/>
                    <a:lstStyle/>
                    <a:p>
                      <a:r>
                        <a:rPr sz="1250" b="1">
                          <a:solidFill>
                            <a:schemeClr val="accent1"/>
                          </a:solidFill>
                        </a:rPr>
                        <a:t>Warning</a:t>
                      </a:r>
                    </a:p>
                  </a:txBody>
                  <a:tcPr marL="109728" marR="109728" marT="54864" marB="54864" anchor="ctr">
                    <a:solidFill>
                      <a:schemeClr val="accent5"/>
                    </a:solidFill>
                  </a:tcPr>
                </a:tc>
                <a:tc>
                  <a:txBody>
                    <a:bodyPr/>
                    <a:lstStyle/>
                    <a:p>
                      <a:r>
                        <a:rPr sz="1250" b="0">
                          <a:solidFill>
                            <a:schemeClr val="tx1"/>
                          </a:solidFill>
                        </a:rPr>
                        <a:t>No attribute type; lookup without targets or to a table not in the workbook</a:t>
                      </a:r>
                    </a:p>
                  </a:txBody>
                  <a:tcPr marL="109728" marR="109728" marT="54864" marB="54864" anchor="ctr">
                    <a:solidFill>
                      <a:schemeClr val="accent5"/>
                    </a:solidFill>
                  </a:tcPr>
                </a:tc>
                <a:tc>
                  <a:txBody>
                    <a:bodyPr/>
                    <a:lstStyle/>
                    <a:p>
                      <a:r>
                        <a:rPr sz="1250" b="0">
                          <a:solidFill>
                            <a:schemeClr val="tx1"/>
                          </a:solidFill>
                        </a:rPr>
                        <a:t>Fill in Attribute Type or Targets:</a:t>
                      </a:r>
                    </a:p>
                  </a:txBody>
                  <a:tcPr marL="109728" marR="109728" marT="54864" marB="54864" anchor="ctr">
                    <a:solidFill>
                      <a:schemeClr val="accent5"/>
                    </a:solidFill>
                  </a:tcPr>
                </a:tc>
              </a:tr>
              <a:tr h="497840">
                <a:tc>
                  <a:txBody>
                    <a:bodyPr/>
                    <a:lstStyle/>
                    <a:p>
                      <a:r>
                        <a:rPr sz="1250" b="1">
                          <a:solidFill>
                            <a:schemeClr val="accent1"/>
                          </a:solidFill>
                        </a:rPr>
                        <a:t>Warning</a:t>
                      </a:r>
                    </a:p>
                  </a:txBody>
                  <a:tcPr marL="109728" marR="109728" marT="54864" marB="54864" anchor="ctr">
                    <a:solidFill>
                      <a:schemeClr val="bg1"/>
                    </a:solidFill>
                  </a:tcPr>
                </a:tc>
                <a:tc>
                  <a:txBody>
                    <a:bodyPr/>
                    <a:lstStyle/>
                    <a:p>
                      <a:r>
                        <a:rPr sz="1250" b="0">
                          <a:solidFill>
                            <a:schemeClr val="tx1"/>
                          </a:solidFill>
                        </a:rPr>
                        <a:t>Relationship type or cascade not valid; N:N with an unknown table</a:t>
                      </a:r>
                    </a:p>
                  </a:txBody>
                  <a:tcPr marL="109728" marR="109728" marT="54864" marB="54864" anchor="ctr">
                    <a:solidFill>
                      <a:schemeClr val="bg1"/>
                    </a:solidFill>
                  </a:tcPr>
                </a:tc>
                <a:tc>
                  <a:txBody>
                    <a:bodyPr/>
                    <a:lstStyle/>
                    <a:p>
                      <a:r>
                        <a:rPr sz="1250" b="0">
                          <a:solidFill>
                            <a:schemeClr val="tx1"/>
                          </a:solidFill>
                        </a:rPr>
                        <a:t>N:1 on lookups, N:N on relationship rows</a:t>
                      </a:r>
                    </a:p>
                  </a:txBody>
                  <a:tcPr marL="109728" marR="109728" marT="54864" marB="54864" anchor="ctr">
                    <a:solidFill>
                      <a:schemeClr val="bg1"/>
                    </a:solidFill>
                  </a:tcPr>
                </a:tc>
              </a:tr>
              <a:tr h="497840">
                <a:tc>
                  <a:txBody>
                    <a:bodyPr/>
                    <a:lstStyle/>
                    <a:p>
                      <a:r>
                        <a:rPr sz="1250" b="1">
                          <a:solidFill>
                            <a:schemeClr val="accent1"/>
                          </a:solidFill>
                        </a:rPr>
                        <a:t>Warning</a:t>
                      </a:r>
                    </a:p>
                  </a:txBody>
                  <a:tcPr marL="109728" marR="109728" marT="54864" marB="54864" anchor="ctr">
                    <a:solidFill>
                      <a:schemeClr val="accent5"/>
                    </a:solidFill>
                  </a:tcPr>
                </a:tc>
                <a:tc>
                  <a:txBody>
                    <a:bodyPr/>
                    <a:lstStyle/>
                    <a:p>
                      <a:r>
                        <a:rPr sz="1250" b="0">
                          <a:solidFill>
                            <a:schemeClr val="tx1"/>
                          </a:solidFill>
                        </a:rPr>
                        <a:t>Table Dictionary and tabs don’t match</a:t>
                      </a:r>
                    </a:p>
                  </a:txBody>
                  <a:tcPr marL="109728" marR="109728" marT="54864" marB="54864" anchor="ctr">
                    <a:solidFill>
                      <a:schemeClr val="accent5"/>
                    </a:solidFill>
                  </a:tcPr>
                </a:tc>
                <a:tc>
                  <a:txBody>
                    <a:bodyPr/>
                    <a:lstStyle/>
                    <a:p>
                      <a:r>
                        <a:rPr sz="1250" b="0">
                          <a:solidFill>
                            <a:schemeClr val="tx1"/>
                          </a:solidFill>
                        </a:rPr>
                        <a:t>Match the dictionary to the tabs</a:t>
                      </a:r>
                    </a:p>
                  </a:txBody>
                  <a:tcPr marL="109728" marR="109728" marT="54864" marB="54864" anchor="ctr">
                    <a:solidFill>
                      <a:schemeClr val="accent5"/>
                    </a:solidFill>
                  </a:tcPr>
                </a:tc>
              </a:tr>
              <a:tr h="497840">
                <a:tc>
                  <a:txBody>
                    <a:bodyPr/>
                    <a:lstStyle/>
                    <a:p>
                      <a:r>
                        <a:rPr sz="1250" b="1">
                          <a:solidFill>
                            <a:schemeClr val="accent1"/>
                          </a:solidFill>
                        </a:rPr>
                        <a:t>Info</a:t>
                      </a:r>
                    </a:p>
                  </a:txBody>
                  <a:tcPr marL="109728" marR="109728" marT="54864" marB="54864" anchor="ctr">
                    <a:solidFill>
                      <a:schemeClr val="bg1"/>
                    </a:solidFill>
                  </a:tcPr>
                </a:tc>
                <a:tc>
                  <a:txBody>
                    <a:bodyPr/>
                    <a:lstStyle/>
                    <a:p>
                      <a:r>
                        <a:rPr sz="1250" b="0">
                          <a:solidFill>
                            <a:schemeClr val="tx1"/>
                          </a:solidFill>
                        </a:rPr>
                        <a:t>Relationship type not recorded; calculated or rollup field to build by hand</a:t>
                      </a:r>
                    </a:p>
                  </a:txBody>
                  <a:tcPr marL="109728" marR="109728" marT="54864" marB="54864" anchor="ctr">
                    <a:solidFill>
                      <a:schemeClr val="bg1"/>
                    </a:solidFill>
                  </a:tcPr>
                </a:tc>
                <a:tc>
                  <a:txBody>
                    <a:bodyPr/>
                    <a:lstStyle/>
                    <a:p>
                      <a:r>
                        <a:rPr sz="1250" b="0">
                          <a:solidFill>
                            <a:schemeClr val="tx1"/>
                          </a:solidFill>
                        </a:rPr>
                        <a:t>Set N:1 once confirmed; nothing to fix</a:t>
                      </a:r>
                    </a:p>
                  </a:txBody>
                  <a:tcPr marL="109728" marR="109728" marT="54864" marB="54864" anchor="ctr">
                    <a:solidFill>
                      <a:schemeClr val="bg1"/>
                    </a:solidFill>
                  </a:tcPr>
                </a:tc>
              </a:tr>
              <a:tr h="497840">
                <a:tc>
                  <a:txBody>
                    <a:bodyPr/>
                    <a:lstStyle/>
                    <a:p>
                      <a:r>
                        <a:rPr sz="1250" b="1">
                          <a:solidFill>
                            <a:schemeClr val="accent1"/>
                          </a:solidFill>
                        </a:rPr>
                        <a:t>Info</a:t>
                      </a:r>
                    </a:p>
                  </a:txBody>
                  <a:tcPr marL="109728" marR="109728" marT="54864" marB="54864" anchor="ctr">
                    <a:solidFill>
                      <a:schemeClr val="accent5"/>
                    </a:solidFill>
                  </a:tcPr>
                </a:tc>
                <a:tc>
                  <a:txBody>
                    <a:bodyPr/>
                    <a:lstStyle/>
                    <a:p>
                      <a:r>
                        <a:rPr sz="1250" b="0">
                          <a:solidFill>
                            <a:schemeClr val="tx1"/>
                          </a:solidFill>
                        </a:rPr>
                        <a:t>Logical name format; custom field without prefix; no primary key listed</a:t>
                      </a:r>
                    </a:p>
                  </a:txBody>
                  <a:tcPr marL="109728" marR="109728" marT="54864" marB="54864" anchor="ctr">
                    <a:solidFill>
                      <a:schemeClr val="accent5"/>
                    </a:solidFill>
                  </a:tcPr>
                </a:tc>
                <a:tc>
                  <a:txBody>
                    <a:bodyPr/>
                    <a:lstStyle/>
                    <a:p>
                      <a:r>
                        <a:rPr sz="1250" b="0">
                          <a:solidFill>
                            <a:schemeClr val="tx1"/>
                          </a:solidFill>
                        </a:rPr>
                        <a:t>Usually Microsoft’s own fields</a:t>
                      </a:r>
                    </a:p>
                  </a:txBody>
                  <a:tcPr marL="109728" marR="109728" marT="54864" marB="54864" anchor="ctr">
                    <a:solidFill>
                      <a:schemeClr val="accent5"/>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Comparing with Dataverse</a:t>
            </a:r>
          </a:p>
        </p:txBody>
      </p:sp>
      <p:pic>
        <p:nvPicPr>
          <p:cNvPr id="4" name="Screenshot: 16-dataverse" descr="The Dataverse check panel with the environment URL, the generated links and Choose JSON files… marked"/>
          <p:cNvPicPr>
            <a:picLocks noChangeAspect="1"/>
          </p:cNvPicPr>
          <p:nvPr/>
        </p:nvPicPr>
        <p:blipFill>
          <a:blip r:embed="rId2"/>
          <a:stretch>
            <a:fillRect/>
          </a:stretch>
        </p:blipFill>
        <p:spPr>
          <a:xfrm>
            <a:off x="999663" y="1508760"/>
            <a:ext cx="5535328" cy="4709160"/>
          </a:xfrm>
          <a:prstGeom prst="rect">
            <a:avLst/>
          </a:prstGeom>
          <a:ln w="12700">
            <a:solidFill>
              <a:schemeClr val="accent5"/>
            </a:solidFill>
          </a:ln>
        </p:spPr>
      </p:pic>
      <p:sp>
        <p:nvSpPr>
          <p:cNvPr id="5" name="Point heading"/>
          <p:cNvSpPr txBox="1"/>
          <p:nvPr/>
        </p:nvSpPr>
        <p:spPr>
          <a:xfrm>
            <a:off x="7315200" y="1508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Enter the environment</a:t>
            </a:r>
          </a:p>
        </p:txBody>
      </p:sp>
      <p:sp>
        <p:nvSpPr>
          <p:cNvPr id="6" name="Point text"/>
          <p:cNvSpPr txBox="1"/>
          <p:nvPr/>
        </p:nvSpPr>
        <p:spPr>
          <a:xfrm>
            <a:off x="7315200" y="1819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The page builds one metadata link per 20 tables</a:t>
            </a:r>
          </a:p>
        </p:txBody>
      </p:sp>
      <p:sp>
        <p:nvSpPr>
          <p:cNvPr id="7" name="Point heading"/>
          <p:cNvSpPr txBox="1"/>
          <p:nvPr/>
        </p:nvSpPr>
        <p:spPr>
          <a:xfrm>
            <a:off x="7315200" y="2651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Open and save</a:t>
            </a:r>
          </a:p>
        </p:txBody>
      </p:sp>
      <p:sp>
        <p:nvSpPr>
          <p:cNvPr id="8" name="Point text"/>
          <p:cNvSpPr txBox="1"/>
          <p:nvPr/>
        </p:nvSpPr>
        <p:spPr>
          <a:xfrm>
            <a:off x="7315200" y="2962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Open each link while signed in and save it (Ctrl+S) as .json</a:t>
            </a:r>
          </a:p>
        </p:txBody>
      </p:sp>
      <p:sp>
        <p:nvSpPr>
          <p:cNvPr id="9" name="Point heading"/>
          <p:cNvSpPr txBox="1"/>
          <p:nvPr/>
        </p:nvSpPr>
        <p:spPr>
          <a:xfrm>
            <a:off x="7315200" y="3794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Load the files</a:t>
            </a:r>
          </a:p>
        </p:txBody>
      </p:sp>
      <p:sp>
        <p:nvSpPr>
          <p:cNvPr id="10" name="Point text"/>
          <p:cNvSpPr txBox="1"/>
          <p:nvPr/>
        </p:nvSpPr>
        <p:spPr>
          <a:xfrm>
            <a:off x="7315200" y="4105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Choose JSON files… or drop them; add more any time</a:t>
            </a:r>
          </a:p>
        </p:txBody>
      </p:sp>
      <p:sp>
        <p:nvSpPr>
          <p:cNvPr id="11" name="Point heading"/>
          <p:cNvSpPr txBox="1"/>
          <p:nvPr/>
        </p:nvSpPr>
        <p:spPr>
          <a:xfrm>
            <a:off x="7315200" y="4937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See the differences</a:t>
            </a:r>
          </a:p>
        </p:txBody>
      </p:sp>
      <p:sp>
        <p:nvSpPr>
          <p:cNvPr id="12" name="Point text"/>
          <p:cNvSpPr txBox="1"/>
          <p:nvPr/>
        </p:nvSpPr>
        <p:spPr>
          <a:xfrm>
            <a:off x="7315200" y="5248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Fields, types, required levels, relationships and keys, in Checks and on each table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a:xfrm>
            <a:off x="548640" y="2788920"/>
            <a:ext cx="10515600" cy="1051560"/>
          </a:xfrm>
        </p:spPr>
        <p:txBody>
          <a:bodyPr anchor="t"/>
          <a:lstStyle/>
          <a:p>
            <a:pPr algn="l"/>
            <a:r>
              <a:t>The ERD</a:t>
            </a:r>
          </a:p>
        </p:txBody>
      </p:sp>
      <p:sp>
        <p:nvSpPr>
          <p:cNvPr id="3" name="Section number"/>
          <p:cNvSpPr txBox="1"/>
          <p:nvPr/>
        </p:nvSpPr>
        <p:spPr>
          <a:xfrm>
            <a:off x="548640" y="1600200"/>
            <a:ext cx="2743200" cy="1097280"/>
          </a:xfrm>
          <a:prstGeom prst="rect">
            <a:avLst/>
          </a:prstGeom>
          <a:noFill/>
        </p:spPr>
        <p:txBody>
          <a:bodyPr wrap="square" anchor="t" lIns="0" rIns="0" tIns="0" bIns="0">
            <a:spAutoFit/>
          </a:bodyPr>
          <a:lstStyle/>
          <a:p>
            <a:pPr algn="l">
              <a:spcAft>
                <a:spcPts val="600"/>
              </a:spcAft>
            </a:pPr>
            <a:r>
              <a:rPr sz="7200" b="1">
                <a:solidFill>
                  <a:schemeClr val="accent2"/>
                </a:solidFill>
              </a:rPr>
              <a:t>03</a:t>
            </a:r>
          </a:p>
        </p:txBody>
      </p:sp>
      <p:sp>
        <p:nvSpPr>
          <p:cNvPr id="4" name="Section summary"/>
          <p:cNvSpPr txBox="1"/>
          <p:nvPr/>
        </p:nvSpPr>
        <p:spPr>
          <a:xfrm>
            <a:off x="548640" y="4206240"/>
            <a:ext cx="10515600" cy="731520"/>
          </a:xfrm>
          <a:prstGeom prst="rect">
            <a:avLst/>
          </a:prstGeom>
          <a:noFill/>
        </p:spPr>
        <p:txBody>
          <a:bodyPr wrap="square" anchor="t" lIns="0" rIns="0" tIns="0" bIns="0">
            <a:spAutoFit/>
          </a:bodyPr>
          <a:lstStyle/>
          <a:p>
            <a:pPr algn="l">
              <a:spcAft>
                <a:spcPts val="600"/>
              </a:spcAft>
            </a:pPr>
            <a:r>
              <a:rPr sz="2000" b="0">
                <a:solidFill>
                  <a:srgbClr val="3E556B"/>
                </a:solidFill>
              </a:rPr>
              <a:t>Choosing tables, reading the lines, hiding relationships, and exports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Drawing the ERD</a:t>
            </a:r>
          </a:p>
        </p:txBody>
      </p:sp>
      <p:pic>
        <p:nvPicPr>
          <p:cNvPr id="4" name="Screenshot: 05-erd" descr="The ERD with All, Keys + lookups and draw.io marked"/>
          <p:cNvPicPr>
            <a:picLocks noChangeAspect="1"/>
          </p:cNvPicPr>
          <p:nvPr/>
        </p:nvPicPr>
        <p:blipFill>
          <a:blip r:embed="rId2"/>
          <a:stretch>
            <a:fillRect/>
          </a:stretch>
        </p:blipFill>
        <p:spPr>
          <a:xfrm>
            <a:off x="1490472" y="1508760"/>
            <a:ext cx="6583680" cy="3931920"/>
          </a:xfrm>
          <a:prstGeom prst="rect">
            <a:avLst/>
          </a:prstGeom>
          <a:ln w="12700">
            <a:solidFill>
              <a:schemeClr val="accent5"/>
            </a:solidFill>
          </a:ln>
        </p:spPr>
      </p:pic>
      <p:sp>
        <p:nvSpPr>
          <p:cNvPr id="5" name="Point heading"/>
          <p:cNvSpPr txBox="1"/>
          <p:nvPr/>
        </p:nvSpPr>
        <p:spPr>
          <a:xfrm>
            <a:off x="8366760" y="1508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Pick tables</a:t>
            </a:r>
          </a:p>
        </p:txBody>
      </p:sp>
      <p:sp>
        <p:nvSpPr>
          <p:cNvPr id="6" name="Point text"/>
          <p:cNvSpPr txBox="1"/>
          <p:nvPr/>
        </p:nvSpPr>
        <p:spPr>
          <a:xfrm>
            <a:off x="8366760" y="1819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Tick them, filter and Select shown, or Custom only, All, None, or by area</a:t>
            </a:r>
          </a:p>
        </p:txBody>
      </p:sp>
      <p:sp>
        <p:nvSpPr>
          <p:cNvPr id="7" name="Point heading"/>
          <p:cNvSpPr txBox="1"/>
          <p:nvPr/>
        </p:nvSpPr>
        <p:spPr>
          <a:xfrm>
            <a:off x="8366760" y="2651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Core tables</a:t>
            </a:r>
          </a:p>
        </p:txBody>
      </p:sp>
      <p:sp>
        <p:nvSpPr>
          <p:cNvPr id="8" name="Point text"/>
          <p:cNvSpPr txBox="1"/>
          <p:nvPr/>
        </p:nvSpPr>
        <p:spPr>
          <a:xfrm>
            <a:off x="8366760" y="2962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 lays the diagram out around a table and brings its neighbours</a:t>
            </a:r>
          </a:p>
        </p:txBody>
      </p:sp>
      <p:sp>
        <p:nvSpPr>
          <p:cNvPr id="9" name="Point heading"/>
          <p:cNvSpPr txBox="1"/>
          <p:nvPr/>
        </p:nvSpPr>
        <p:spPr>
          <a:xfrm>
            <a:off x="8366760" y="3794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What boxes show</a:t>
            </a:r>
          </a:p>
        </p:txBody>
      </p:sp>
      <p:sp>
        <p:nvSpPr>
          <p:cNvPr id="10" name="Point text"/>
          <p:cNvSpPr txBox="1"/>
          <p:nvPr/>
        </p:nvSpPr>
        <p:spPr>
          <a:xfrm>
            <a:off x="8366760" y="4105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Names only, Keys + lookups or All fields; left to right or top to bottom</a:t>
            </a:r>
          </a:p>
        </p:txBody>
      </p:sp>
      <p:sp>
        <p:nvSpPr>
          <p:cNvPr id="11" name="Point heading"/>
          <p:cNvSpPr txBox="1"/>
          <p:nvPr/>
        </p:nvSpPr>
        <p:spPr>
          <a:xfrm>
            <a:off x="8366760" y="4937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Your layout</a:t>
            </a:r>
          </a:p>
        </p:txBody>
      </p:sp>
      <p:sp>
        <p:nvSpPr>
          <p:cNvPr id="12" name="Point text"/>
          <p:cNvSpPr txBox="1"/>
          <p:nvPr/>
        </p:nvSpPr>
        <p:spPr>
          <a:xfrm>
            <a:off x="8366760" y="5248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Drag tables; layouts are remembered. Opens at screen size; Fit fits the panel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pPr marL="228600" indent="-228600">
              <a:spcBef>
                <a:spcPts val="500"/>
              </a:spcBef>
              <a:buChar char="•"/>
            </a:pPr>
            <a:r>
              <a:rPr sz="1500"/>
              <a:t>Ends (one or many) show only where the relationship type is recorded in the workbook.</a:t>
            </a:r>
          </a:p>
          <a:p>
            <a:pPr marL="228600" indent="-228600">
              <a:spcBef>
                <a:spcPts val="500"/>
              </a:spcBef>
              <a:buChar char="•"/>
            </a:pPr>
            <a:r>
              <a:rPr sz="1500"/>
              <a:t>A relationship with no recorded type is a plain grey line, listed in Checks for review.</a:t>
            </a:r>
          </a:p>
          <a:p>
            <a:pPr marL="228600" indent="-228600">
              <a:spcBef>
                <a:spcPts val="500"/>
              </a:spcBef>
              <a:buChar char="•"/>
            </a:pPr>
            <a:r>
              <a:rPr sz="1500"/>
              <a:t>N:N relationships are dashed.</a:t>
            </a:r>
          </a:p>
          <a:p>
            <a:pPr marL="228600" indent="-228600">
              <a:spcBef>
                <a:spcPts val="500"/>
              </a:spcBef>
              <a:buChar char="•"/>
            </a:pPr>
            <a:r>
              <a:rPr sz="1500"/>
              <a:t>Custom tables have a pink border; standard and referenced tables a plain one. Or colour by area.</a:t>
            </a:r>
          </a:p>
        </p:txBody>
      </p:sp>
      <p:sp>
        <p:nvSpPr>
          <p:cNvPr id="3" name="Text Placeholder 2"/>
          <p:cNvSpPr>
            <a:spLocks noGrp="1"/>
          </p:cNvSpPr>
          <p:nvPr>
            <p:ph type="body" idx="18" sz="quarter"/>
          </p:nvPr>
        </p:nvSpPr>
        <p:spPr/>
        <p:txBody>
          <a:bodyPr/>
          <a:lstStyle/>
          <a:p>
            <a:r>
              <a:t>The lines and boxes</a:t>
            </a:r>
          </a:p>
        </p:txBody>
      </p:sp>
      <p:sp>
        <p:nvSpPr>
          <p:cNvPr id="4" name="Text Placeholder 3"/>
          <p:cNvSpPr>
            <a:spLocks noGrp="1"/>
          </p:cNvSpPr>
          <p:nvPr>
            <p:ph type="body" idx="19" sz="quarter"/>
          </p:nvPr>
        </p:nvSpPr>
        <p:spPr/>
        <p:txBody>
          <a:bodyPr/>
          <a:lstStyle/>
          <a:p>
            <a:pPr marL="228600" indent="-228600">
              <a:spcBef>
                <a:spcPts val="500"/>
              </a:spcBef>
              <a:buChar char="•"/>
            </a:pPr>
            <a:r>
              <a:rPr sz="1500"/>
              <a:t>Selecting a table also selects the tables it relates to</a:t>
            </a:r>
          </a:p>
          <a:p>
            <a:pPr marL="228600" indent="-228600">
              <a:spcBef>
                <a:spcPts val="500"/>
              </a:spcBef>
              <a:buChar char="•"/>
            </a:pPr>
            <a:r>
              <a:rPr sz="1500"/>
              <a:t>Show tables that selected tables look up to</a:t>
            </a:r>
          </a:p>
          <a:p>
            <a:pPr marL="228600" indent="-228600">
              <a:spcBef>
                <a:spcPts val="500"/>
              </a:spcBef>
              <a:buChar char="•"/>
            </a:pPr>
            <a:r>
              <a:rPr sz="1500"/>
              <a:t>Hide tables with no relationships</a:t>
            </a:r>
          </a:p>
          <a:p>
            <a:pPr marL="228600" indent="-228600">
              <a:spcBef>
                <a:spcPts val="500"/>
              </a:spcBef>
              <a:buChar char="•"/>
            </a:pPr>
            <a:r>
              <a:rPr sz="1500"/>
              <a:t>Also show tables not in the workbook</a:t>
            </a:r>
          </a:p>
          <a:p>
            <a:pPr marL="228600" indent="-228600">
              <a:spcBef>
                <a:spcPts val="500"/>
              </a:spcBef>
              <a:buChar char="•"/>
            </a:pPr>
            <a:r>
              <a:rPr sz="1500"/>
              <a:t>Merge lines between the same two tables</a:t>
            </a:r>
          </a:p>
          <a:p>
            <a:pPr marL="228600" indent="-228600">
              <a:spcBef>
                <a:spcPts val="500"/>
              </a:spcBef>
              <a:buChar char="•"/>
            </a:pPr>
            <a:r>
              <a:rPr sz="1500"/>
              <a:t>Hide user, team and business unit</a:t>
            </a:r>
          </a:p>
          <a:p>
            <a:pPr marL="228600" indent="-228600">
              <a:spcBef>
                <a:spcPts val="500"/>
              </a:spcBef>
              <a:buChar char="•"/>
            </a:pPr>
            <a:r>
              <a:rPr sz="1500"/>
              <a:t>Show N:N relationships from Dataverse</a:t>
            </a:r>
          </a:p>
        </p:txBody>
      </p:sp>
      <p:sp>
        <p:nvSpPr>
          <p:cNvPr id="5" name="Text Placeholder 4"/>
          <p:cNvSpPr>
            <a:spLocks noGrp="1"/>
          </p:cNvSpPr>
          <p:nvPr>
            <p:ph type="body" idx="20" sz="quarter"/>
          </p:nvPr>
        </p:nvSpPr>
        <p:spPr/>
        <p:txBody>
          <a:bodyPr/>
          <a:lstStyle/>
          <a:p>
            <a:r>
              <a:t>Options</a:t>
            </a:r>
          </a:p>
        </p:txBody>
      </p:sp>
      <p:sp>
        <p:nvSpPr>
          <p:cNvPr id="6" name="Text Placeholder 5"/>
          <p:cNvSpPr>
            <a:spLocks noGrp="1"/>
          </p:cNvSpPr>
          <p:nvPr>
            <p:ph type="body" idx="13" sz="quarter"/>
          </p:nvPr>
        </p:nvSpPr>
        <p:spPr/>
        <p:txBody>
          <a:bodyPr/>
          <a:lstStyle/>
          <a:p>
            <a:r>
              <a:t>Reading the ERD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Hiding relationships</a:t>
            </a:r>
          </a:p>
        </p:txBody>
      </p:sp>
      <p:pic>
        <p:nvPicPr>
          <p:cNvPr id="4" name="Screenshot: 18-erd-hide" descr="The ERD with Test Project’s relationship list open: the count button, an unticked N:N relationship, and show all marked"/>
          <p:cNvPicPr>
            <a:picLocks noChangeAspect="1"/>
          </p:cNvPicPr>
          <p:nvPr/>
        </p:nvPicPr>
        <p:blipFill>
          <a:blip r:embed="rId2"/>
          <a:stretch>
            <a:fillRect/>
          </a:stretch>
        </p:blipFill>
        <p:spPr>
          <a:xfrm>
            <a:off x="475488" y="1508760"/>
            <a:ext cx="6583680" cy="3931920"/>
          </a:xfrm>
          <a:prstGeom prst="rect">
            <a:avLst/>
          </a:prstGeom>
          <a:ln w="12700">
            <a:solidFill>
              <a:schemeClr val="accent5"/>
            </a:solidFill>
          </a:ln>
        </p:spPr>
      </p:pic>
      <p:sp>
        <p:nvSpPr>
          <p:cNvPr id="5" name="Point heading"/>
          <p:cNvSpPr txBox="1"/>
          <p:nvPr/>
        </p:nvSpPr>
        <p:spPr>
          <a:xfrm>
            <a:off x="7315200" y="1508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Every relationship listed</a:t>
            </a:r>
          </a:p>
        </p:txBody>
      </p:sp>
      <p:sp>
        <p:nvSpPr>
          <p:cNvPr id="6" name="Point text"/>
          <p:cNvSpPr txBox="1"/>
          <p:nvPr/>
        </p:nvSpPr>
        <p:spPr>
          <a:xfrm>
            <a:off x="7315200" y="1819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Click the count beside a table: its lookups →, lookups to it ←, and N:N ↔</a:t>
            </a:r>
          </a:p>
        </p:txBody>
      </p:sp>
      <p:sp>
        <p:nvSpPr>
          <p:cNvPr id="7" name="Point heading"/>
          <p:cNvSpPr txBox="1"/>
          <p:nvPr/>
        </p:nvSpPr>
        <p:spPr>
          <a:xfrm>
            <a:off x="7315200" y="2651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Untick to hide</a:t>
            </a:r>
          </a:p>
        </p:txBody>
      </p:sp>
      <p:sp>
        <p:nvSpPr>
          <p:cNvPr id="8" name="Point text"/>
          <p:cNvSpPr txBox="1"/>
          <p:nvPr/>
        </p:nvSpPr>
        <p:spPr>
          <a:xfrm>
            <a:off x="7315200" y="2962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Gone from the diagram and every export; a table it alone brought in drops out</a:t>
            </a:r>
          </a:p>
        </p:txBody>
      </p:sp>
      <p:sp>
        <p:nvSpPr>
          <p:cNvPr id="9" name="Point heading"/>
          <p:cNvSpPr txBox="1"/>
          <p:nvPr/>
        </p:nvSpPr>
        <p:spPr>
          <a:xfrm>
            <a:off x="7315200" y="3794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Per table, at a glance</a:t>
            </a:r>
          </a:p>
        </p:txBody>
      </p:sp>
      <p:sp>
        <p:nvSpPr>
          <p:cNvPr id="10" name="Point text"/>
          <p:cNvSpPr txBox="1"/>
          <p:nvPr/>
        </p:nvSpPr>
        <p:spPr>
          <a:xfrm>
            <a:off x="7315200" y="4105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Hide all or Show all per table; the button reads, say, 1 of 3 hidden</a:t>
            </a:r>
          </a:p>
        </p:txBody>
      </p:sp>
      <p:sp>
        <p:nvSpPr>
          <p:cNvPr id="11" name="Point heading"/>
          <p:cNvSpPr txBox="1"/>
          <p:nvPr/>
        </p:nvSpPr>
        <p:spPr>
          <a:xfrm>
            <a:off x="7315200" y="4937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Nothing moves</a:t>
            </a:r>
          </a:p>
        </p:txBody>
      </p:sp>
      <p:sp>
        <p:nvSpPr>
          <p:cNvPr id="12" name="Point text"/>
          <p:cNvSpPr txBox="1"/>
          <p:nvPr/>
        </p:nvSpPr>
        <p:spPr>
          <a:xfrm>
            <a:off x="7315200" y="5248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Tables keep their places; show all brings everything back; the choice is remembered</a:t>
            </a:r>
          </a:p>
        </p:txBody>
      </p:sp>
      <p:sp>
        <p:nvSpPr>
          <p:cNvPr id="13" name="New badge"/>
          <p:cNvSpPr/>
          <p:nvPr/>
        </p:nvSpPr>
        <p:spPr>
          <a:xfrm>
            <a:off x="5806440" y="658368"/>
            <a:ext cx="1463040" cy="310896"/>
          </a:xfrm>
          <a:prstGeom prst="roundRect">
            <a:avLst>
              <a:gd name="adj" fmla="val 50000"/>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1D2B36"/>
                </a:solidFill>
              </a:rPr>
              <a:t>NEW IN 1.9.3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Taking the diagram with you</a:t>
            </a:r>
          </a:p>
        </p:txBody>
      </p:sp>
      <p:sp>
        <p:nvSpPr>
          <p:cNvPr id="4" name="Export card"/>
          <p:cNvSpPr/>
          <p:nvPr/>
        </p:nvSpPr>
        <p:spPr>
          <a:xfrm>
            <a:off x="493776" y="1691640"/>
            <a:ext cx="2084831" cy="237744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94944" y="1874519"/>
            <a:ext cx="1737360" cy="411480"/>
          </a:xfrm>
          <a:prstGeom prst="rect">
            <a:avLst/>
          </a:prstGeom>
          <a:noFill/>
        </p:spPr>
        <p:txBody>
          <a:bodyPr wrap="square" anchor="t" lIns="0" rIns="0" tIns="0" bIns="0">
            <a:spAutoFit/>
          </a:bodyPr>
          <a:lstStyle/>
          <a:p>
            <a:pPr algn="l">
              <a:spcAft>
                <a:spcPts val="600"/>
              </a:spcAft>
            </a:pPr>
            <a:r>
              <a:rPr sz="1800" b="1">
                <a:solidFill>
                  <a:schemeClr val="accent1"/>
                </a:solidFill>
              </a:rPr>
              <a:t>draw.io</a:t>
            </a:r>
          </a:p>
        </p:txBody>
      </p:sp>
      <p:sp>
        <p:nvSpPr>
          <p:cNvPr id="6" name="TextBox 5"/>
          <p:cNvSpPr txBox="1"/>
          <p:nvPr/>
        </p:nvSpPr>
        <p:spPr>
          <a:xfrm>
            <a:off x="694944" y="2377440"/>
            <a:ext cx="1737360" cy="1554480"/>
          </a:xfrm>
          <a:prstGeom prst="rect">
            <a:avLst/>
          </a:prstGeom>
          <a:noFill/>
        </p:spPr>
        <p:txBody>
          <a:bodyPr wrap="square" anchor="t" lIns="0" rIns="0" tIns="0" bIns="0">
            <a:spAutoFit/>
          </a:bodyPr>
          <a:lstStyle/>
          <a:p>
            <a:pPr algn="l">
              <a:spcAft>
                <a:spcPts val="600"/>
              </a:spcAft>
            </a:pPr>
            <a:r>
              <a:rPr sz="1400" b="0">
                <a:solidFill>
                  <a:srgbClr val="3E556B"/>
                </a:solidFill>
              </a:rPr>
              <a:t>An editable diagram with your layout, ready to keep working on in draw.io</a:t>
            </a:r>
          </a:p>
        </p:txBody>
      </p:sp>
      <p:sp>
        <p:nvSpPr>
          <p:cNvPr id="7" name="Export card"/>
          <p:cNvSpPr/>
          <p:nvPr/>
        </p:nvSpPr>
        <p:spPr>
          <a:xfrm>
            <a:off x="2761488" y="1691640"/>
            <a:ext cx="2084831" cy="237744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962656" y="1874519"/>
            <a:ext cx="1737360" cy="411480"/>
          </a:xfrm>
          <a:prstGeom prst="rect">
            <a:avLst/>
          </a:prstGeom>
          <a:noFill/>
        </p:spPr>
        <p:txBody>
          <a:bodyPr wrap="square" anchor="t" lIns="0" rIns="0" tIns="0" bIns="0">
            <a:spAutoFit/>
          </a:bodyPr>
          <a:lstStyle/>
          <a:p>
            <a:pPr algn="l">
              <a:spcAft>
                <a:spcPts val="600"/>
              </a:spcAft>
            </a:pPr>
            <a:r>
              <a:rPr sz="1800" b="1">
                <a:solidFill>
                  <a:schemeClr val="accent1"/>
                </a:solidFill>
              </a:rPr>
              <a:t>SVG</a:t>
            </a:r>
          </a:p>
        </p:txBody>
      </p:sp>
      <p:sp>
        <p:nvSpPr>
          <p:cNvPr id="9" name="TextBox 8"/>
          <p:cNvSpPr txBox="1"/>
          <p:nvPr/>
        </p:nvSpPr>
        <p:spPr>
          <a:xfrm>
            <a:off x="2962656" y="2377440"/>
            <a:ext cx="1737360" cy="1554480"/>
          </a:xfrm>
          <a:prstGeom prst="rect">
            <a:avLst/>
          </a:prstGeom>
          <a:noFill/>
        </p:spPr>
        <p:txBody>
          <a:bodyPr wrap="square" anchor="t" lIns="0" rIns="0" tIns="0" bIns="0">
            <a:spAutoFit/>
          </a:bodyPr>
          <a:lstStyle/>
          <a:p>
            <a:pPr algn="l">
              <a:spcAft>
                <a:spcPts val="600"/>
              </a:spcAft>
            </a:pPr>
            <a:r>
              <a:rPr sz="1400" b="0">
                <a:solidFill>
                  <a:srgbClr val="3E556B"/>
                </a:solidFill>
              </a:rPr>
              <a:t>Sharp at any size, for documents and wikis</a:t>
            </a:r>
          </a:p>
        </p:txBody>
      </p:sp>
      <p:sp>
        <p:nvSpPr>
          <p:cNvPr id="10" name="Export card"/>
          <p:cNvSpPr/>
          <p:nvPr/>
        </p:nvSpPr>
        <p:spPr>
          <a:xfrm>
            <a:off x="5029200" y="1691640"/>
            <a:ext cx="2084831" cy="237744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30368" y="1874519"/>
            <a:ext cx="1737360" cy="411480"/>
          </a:xfrm>
          <a:prstGeom prst="rect">
            <a:avLst/>
          </a:prstGeom>
          <a:noFill/>
        </p:spPr>
        <p:txBody>
          <a:bodyPr wrap="square" anchor="t" lIns="0" rIns="0" tIns="0" bIns="0">
            <a:spAutoFit/>
          </a:bodyPr>
          <a:lstStyle/>
          <a:p>
            <a:pPr algn="l">
              <a:spcAft>
                <a:spcPts val="600"/>
              </a:spcAft>
            </a:pPr>
            <a:r>
              <a:rPr sz="1800" b="1">
                <a:solidFill>
                  <a:schemeClr val="accent1"/>
                </a:solidFill>
              </a:rPr>
              <a:t>PNG</a:t>
            </a:r>
          </a:p>
        </p:txBody>
      </p:sp>
      <p:sp>
        <p:nvSpPr>
          <p:cNvPr id="12" name="TextBox 11"/>
          <p:cNvSpPr txBox="1"/>
          <p:nvPr/>
        </p:nvSpPr>
        <p:spPr>
          <a:xfrm>
            <a:off x="5230368" y="2377440"/>
            <a:ext cx="1737360" cy="1554480"/>
          </a:xfrm>
          <a:prstGeom prst="rect">
            <a:avLst/>
          </a:prstGeom>
          <a:noFill/>
        </p:spPr>
        <p:txBody>
          <a:bodyPr wrap="square" anchor="t" lIns="0" rIns="0" tIns="0" bIns="0">
            <a:spAutoFit/>
          </a:bodyPr>
          <a:lstStyle/>
          <a:p>
            <a:pPr algn="l">
              <a:spcAft>
                <a:spcPts val="600"/>
              </a:spcAft>
            </a:pPr>
            <a:r>
              <a:rPr sz="1400" b="0">
                <a:solidFill>
                  <a:srgbClr val="3E556B"/>
                </a:solidFill>
              </a:rPr>
              <a:t>A picture, up to 8,000 pixels across</a:t>
            </a:r>
          </a:p>
        </p:txBody>
      </p:sp>
      <p:sp>
        <p:nvSpPr>
          <p:cNvPr id="13" name="Export card"/>
          <p:cNvSpPr/>
          <p:nvPr/>
        </p:nvSpPr>
        <p:spPr>
          <a:xfrm>
            <a:off x="7296912" y="1691640"/>
            <a:ext cx="2084831" cy="237744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98079" y="1874519"/>
            <a:ext cx="1737360" cy="411480"/>
          </a:xfrm>
          <a:prstGeom prst="rect">
            <a:avLst/>
          </a:prstGeom>
          <a:noFill/>
        </p:spPr>
        <p:txBody>
          <a:bodyPr wrap="square" anchor="t" lIns="0" rIns="0" tIns="0" bIns="0">
            <a:spAutoFit/>
          </a:bodyPr>
          <a:lstStyle/>
          <a:p>
            <a:pPr algn="l">
              <a:spcAft>
                <a:spcPts val="600"/>
              </a:spcAft>
            </a:pPr>
            <a:r>
              <a:rPr sz="1800" b="1">
                <a:solidFill>
                  <a:schemeClr val="accent1"/>
                </a:solidFill>
              </a:rPr>
              <a:t>.mmd</a:t>
            </a:r>
          </a:p>
        </p:txBody>
      </p:sp>
      <p:sp>
        <p:nvSpPr>
          <p:cNvPr id="15" name="TextBox 14"/>
          <p:cNvSpPr txBox="1"/>
          <p:nvPr/>
        </p:nvSpPr>
        <p:spPr>
          <a:xfrm>
            <a:off x="7498079" y="2377440"/>
            <a:ext cx="1737360" cy="1554480"/>
          </a:xfrm>
          <a:prstGeom prst="rect">
            <a:avLst/>
          </a:prstGeom>
          <a:noFill/>
        </p:spPr>
        <p:txBody>
          <a:bodyPr wrap="square" anchor="t" lIns="0" rIns="0" tIns="0" bIns="0">
            <a:spAutoFit/>
          </a:bodyPr>
          <a:lstStyle/>
          <a:p>
            <a:pPr algn="l">
              <a:spcAft>
                <a:spcPts val="600"/>
              </a:spcAft>
            </a:pPr>
            <a:r>
              <a:rPr sz="1400" b="0">
                <a:solidFill>
                  <a:srgbClr val="3E556B"/>
                </a:solidFill>
              </a:rPr>
              <a:t>The Mermaid source as a file</a:t>
            </a:r>
          </a:p>
        </p:txBody>
      </p:sp>
      <p:sp>
        <p:nvSpPr>
          <p:cNvPr id="16" name="Export card"/>
          <p:cNvSpPr/>
          <p:nvPr/>
        </p:nvSpPr>
        <p:spPr>
          <a:xfrm>
            <a:off x="9564624" y="1691640"/>
            <a:ext cx="2084831" cy="237744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765792" y="1874519"/>
            <a:ext cx="1737360" cy="411480"/>
          </a:xfrm>
          <a:prstGeom prst="rect">
            <a:avLst/>
          </a:prstGeom>
          <a:noFill/>
        </p:spPr>
        <p:txBody>
          <a:bodyPr wrap="square" anchor="t" lIns="0" rIns="0" tIns="0" bIns="0">
            <a:spAutoFit/>
          </a:bodyPr>
          <a:lstStyle/>
          <a:p>
            <a:pPr algn="l">
              <a:spcAft>
                <a:spcPts val="600"/>
              </a:spcAft>
            </a:pPr>
            <a:r>
              <a:rPr sz="1800" b="1">
                <a:solidFill>
                  <a:schemeClr val="accent1"/>
                </a:solidFill>
              </a:rPr>
              <a:t>Copy Mermaid</a:t>
            </a:r>
          </a:p>
        </p:txBody>
      </p:sp>
      <p:sp>
        <p:nvSpPr>
          <p:cNvPr id="18" name="TextBox 17"/>
          <p:cNvSpPr txBox="1"/>
          <p:nvPr/>
        </p:nvSpPr>
        <p:spPr>
          <a:xfrm>
            <a:off x="9765792" y="2377440"/>
            <a:ext cx="1737360" cy="1554480"/>
          </a:xfrm>
          <a:prstGeom prst="rect">
            <a:avLst/>
          </a:prstGeom>
          <a:noFill/>
        </p:spPr>
        <p:txBody>
          <a:bodyPr wrap="square" anchor="t" lIns="0" rIns="0" tIns="0" bIns="0">
            <a:spAutoFit/>
          </a:bodyPr>
          <a:lstStyle/>
          <a:p>
            <a:pPr algn="l">
              <a:spcAft>
                <a:spcPts val="600"/>
              </a:spcAft>
            </a:pPr>
            <a:r>
              <a:rPr sz="1400" b="0">
                <a:solidFill>
                  <a:srgbClr val="3E556B"/>
                </a:solidFill>
              </a:rPr>
              <a:t>The source on the clipboard, for Markdown, Azure DevOps or GitHub</a:t>
            </a:r>
          </a:p>
        </p:txBody>
      </p:sp>
      <p:sp>
        <p:nvSpPr>
          <p:cNvPr id="19" name="TextBox 18"/>
          <p:cNvSpPr txBox="1"/>
          <p:nvPr/>
        </p:nvSpPr>
        <p:spPr>
          <a:xfrm>
            <a:off x="493776" y="4434840"/>
            <a:ext cx="11155680" cy="822960"/>
          </a:xfrm>
          <a:prstGeom prst="rect">
            <a:avLst/>
          </a:prstGeom>
          <a:noFill/>
        </p:spPr>
        <p:txBody>
          <a:bodyPr wrap="square" anchor="t" lIns="0" rIns="0" tIns="0" bIns="0">
            <a:spAutoFit/>
          </a:bodyPr>
          <a:lstStyle/>
          <a:p>
            <a:pPr algn="l">
              <a:spcAft>
                <a:spcPts val="600"/>
              </a:spcAft>
            </a:pPr>
            <a:r>
              <a:rPr sz="1500" b="0">
                <a:solidFill>
                  <a:srgbClr val="3E556B"/>
                </a:solidFill>
              </a:rPr>
              <a:t>Exports follow what you see: the tables you picked, the attributes shown, the relationships you hid, and your layout. Source opens the read-only Mermaid text beside the diagram.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a:xfrm>
            <a:off x="548640" y="2788920"/>
            <a:ext cx="10515600" cy="1051560"/>
          </a:xfrm>
        </p:spPr>
        <p:txBody>
          <a:bodyPr anchor="t"/>
          <a:lstStyle/>
          <a:p>
            <a:pPr algn="l"/>
            <a:r>
              <a:t>Editing</a:t>
            </a:r>
          </a:p>
        </p:txBody>
      </p:sp>
      <p:sp>
        <p:nvSpPr>
          <p:cNvPr id="3" name="Section number"/>
          <p:cNvSpPr txBox="1"/>
          <p:nvPr/>
        </p:nvSpPr>
        <p:spPr>
          <a:xfrm>
            <a:off x="548640" y="1600200"/>
            <a:ext cx="2743200" cy="1097280"/>
          </a:xfrm>
          <a:prstGeom prst="rect">
            <a:avLst/>
          </a:prstGeom>
          <a:noFill/>
        </p:spPr>
        <p:txBody>
          <a:bodyPr wrap="square" anchor="t" lIns="0" rIns="0" tIns="0" bIns="0">
            <a:spAutoFit/>
          </a:bodyPr>
          <a:lstStyle/>
          <a:p>
            <a:pPr algn="l">
              <a:spcAft>
                <a:spcPts val="600"/>
              </a:spcAft>
            </a:pPr>
            <a:r>
              <a:rPr sz="7200" b="1">
                <a:solidFill>
                  <a:schemeClr val="accent2"/>
                </a:solidFill>
              </a:rPr>
              <a:t>04</a:t>
            </a:r>
          </a:p>
        </p:txBody>
      </p:sp>
      <p:sp>
        <p:nvSpPr>
          <p:cNvPr id="4" name="Section summary"/>
          <p:cNvSpPr txBox="1"/>
          <p:nvPr/>
        </p:nvSpPr>
        <p:spPr>
          <a:xfrm>
            <a:off x="548640" y="4206240"/>
            <a:ext cx="10515600" cy="731520"/>
          </a:xfrm>
          <a:prstGeom prst="rect">
            <a:avLst/>
          </a:prstGeom>
          <a:noFill/>
        </p:spPr>
        <p:txBody>
          <a:bodyPr wrap="square" anchor="t" lIns="0" rIns="0" tIns="0" bIns="0">
            <a:spAutoFit/>
          </a:bodyPr>
          <a:lstStyle/>
          <a:p>
            <a:pPr algn="l">
              <a:spcAft>
                <a:spcPts val="600"/>
              </a:spcAft>
            </a:pPr>
            <a:r>
              <a:rPr sz="2000" b="0">
                <a:solidFill>
                  <a:srgbClr val="3E556B"/>
                </a:solidFill>
              </a:rPr>
              <a:t>Values, keys and table details, adding fields and relationships, and the change list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Editing values</a:t>
            </a:r>
          </a:p>
        </p:txBody>
      </p:sp>
      <p:pic>
        <p:nvPicPr>
          <p:cNvPr id="4" name="Screenshot: 07-edit" descr="A Required Level cell being edited with a dropdown of values"/>
          <p:cNvPicPr>
            <a:picLocks noChangeAspect="1"/>
          </p:cNvPicPr>
          <p:nvPr/>
        </p:nvPicPr>
        <p:blipFill>
          <a:blip r:embed="rId2"/>
          <a:stretch>
            <a:fillRect/>
          </a:stretch>
        </p:blipFill>
        <p:spPr>
          <a:xfrm>
            <a:off x="1490472" y="1508760"/>
            <a:ext cx="6583680" cy="2246474"/>
          </a:xfrm>
          <a:prstGeom prst="rect">
            <a:avLst/>
          </a:prstGeom>
          <a:ln w="12700">
            <a:solidFill>
              <a:schemeClr val="accent5"/>
            </a:solidFill>
          </a:ln>
        </p:spPr>
      </p:pic>
      <p:sp>
        <p:nvSpPr>
          <p:cNvPr id="5" name="Point heading"/>
          <p:cNvSpPr txBox="1"/>
          <p:nvPr/>
        </p:nvSpPr>
        <p:spPr>
          <a:xfrm>
            <a:off x="8366760" y="1508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Double-click a cell</a:t>
            </a:r>
          </a:p>
        </p:txBody>
      </p:sp>
      <p:sp>
        <p:nvSpPr>
          <p:cNvPr id="6" name="Point text"/>
          <p:cNvSpPr txBox="1"/>
          <p:nvPr/>
        </p:nvSpPr>
        <p:spPr>
          <a:xfrm>
            <a:off x="8366760" y="1819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Or click a row and edit in its panel. Enter saves, Esc cancels</a:t>
            </a:r>
          </a:p>
        </p:txBody>
      </p:sp>
      <p:sp>
        <p:nvSpPr>
          <p:cNvPr id="7" name="Point heading"/>
          <p:cNvSpPr txBox="1"/>
          <p:nvPr/>
        </p:nvSpPr>
        <p:spPr>
          <a:xfrm>
            <a:off x="8366760" y="2651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Dropdowns</a:t>
            </a:r>
          </a:p>
        </p:txBody>
      </p:sp>
      <p:sp>
        <p:nvSpPr>
          <p:cNvPr id="8" name="Point text"/>
          <p:cNvSpPr txBox="1"/>
          <p:nvPr/>
        </p:nvSpPr>
        <p:spPr>
          <a:xfrm>
            <a:off x="8366760" y="2962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Fixed-value columns edit as a dropdown; + New value… adds one</a:t>
            </a:r>
          </a:p>
        </p:txBody>
      </p:sp>
      <p:sp>
        <p:nvSpPr>
          <p:cNvPr id="9" name="Point heading"/>
          <p:cNvSpPr txBox="1"/>
          <p:nvPr/>
        </p:nvSpPr>
        <p:spPr>
          <a:xfrm>
            <a:off x="8366760" y="3794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Visible edits</a:t>
            </a:r>
          </a:p>
        </p:txBody>
      </p:sp>
      <p:sp>
        <p:nvSpPr>
          <p:cNvPr id="10" name="Point text"/>
          <p:cNvSpPr txBox="1"/>
          <p:nvPr/>
        </p:nvSpPr>
        <p:spPr>
          <a:xfrm>
            <a:off x="8366760" y="4105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Edited cells are highlighted; the panel shows the original with revert</a:t>
            </a:r>
          </a:p>
        </p:txBody>
      </p:sp>
      <p:sp>
        <p:nvSpPr>
          <p:cNvPr id="11" name="Point heading"/>
          <p:cNvSpPr txBox="1"/>
          <p:nvPr/>
        </p:nvSpPr>
        <p:spPr>
          <a:xfrm>
            <a:off x="8366760" y="4937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Keyboard</a:t>
            </a:r>
          </a:p>
        </p:txBody>
      </p:sp>
      <p:sp>
        <p:nvSpPr>
          <p:cNvPr id="12" name="Point text"/>
          <p:cNvSpPr txBox="1"/>
          <p:nvPr/>
        </p:nvSpPr>
        <p:spPr>
          <a:xfrm>
            <a:off x="8366760" y="5248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Shift+Enter for a new line; j and k move between rows in the panel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Keys and table details</a:t>
            </a:r>
          </a:p>
        </p:txBody>
      </p:sp>
      <p:pic>
        <p:nvPicPr>
          <p:cNvPr id="4" name="Screenshot: 08-keys" descr="A field panel with Set as primary key, Set as primary name and an editable Description marked"/>
          <p:cNvPicPr>
            <a:picLocks noChangeAspect="1"/>
          </p:cNvPicPr>
          <p:nvPr/>
        </p:nvPicPr>
        <p:blipFill>
          <a:blip r:embed="rId2"/>
          <a:stretch>
            <a:fillRect/>
          </a:stretch>
        </p:blipFill>
        <p:spPr>
          <a:xfrm>
            <a:off x="1052063" y="1508760"/>
            <a:ext cx="5430528" cy="4709160"/>
          </a:xfrm>
          <a:prstGeom prst="rect">
            <a:avLst/>
          </a:prstGeom>
          <a:ln w="12700">
            <a:solidFill>
              <a:schemeClr val="accent5"/>
            </a:solidFill>
          </a:ln>
        </p:spPr>
      </p:pic>
      <p:sp>
        <p:nvSpPr>
          <p:cNvPr id="5" name="Point heading"/>
          <p:cNvSpPr txBox="1"/>
          <p:nvPr/>
        </p:nvSpPr>
        <p:spPr>
          <a:xfrm>
            <a:off x="7315200" y="1508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Shown in the header</a:t>
            </a:r>
          </a:p>
        </p:txBody>
      </p:sp>
      <p:sp>
        <p:nvSpPr>
          <p:cNvPr id="6" name="Point text"/>
          <p:cNvSpPr txBox="1"/>
          <p:nvPr/>
        </p:nvSpPr>
        <p:spPr>
          <a:xfrm>
            <a:off x="7315200" y="1819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Primary name and primary key; an unrecorded key shows as assumed</a:t>
            </a:r>
          </a:p>
        </p:txBody>
      </p:sp>
      <p:sp>
        <p:nvSpPr>
          <p:cNvPr id="7" name="Point heading"/>
          <p:cNvSpPr txBox="1"/>
          <p:nvPr/>
        </p:nvSpPr>
        <p:spPr>
          <a:xfrm>
            <a:off x="7315200" y="2651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Tagged in the list</a:t>
            </a:r>
          </a:p>
        </p:txBody>
      </p:sp>
      <p:sp>
        <p:nvSpPr>
          <p:cNvPr id="8" name="Point text"/>
          <p:cNvSpPr txBox="1"/>
          <p:nvPr/>
        </p:nvSpPr>
        <p:spPr>
          <a:xfrm>
            <a:off x="7315200" y="2962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The two fields carry Primary key and Primary name tags</a:t>
            </a:r>
          </a:p>
        </p:txBody>
      </p:sp>
      <p:sp>
        <p:nvSpPr>
          <p:cNvPr id="9" name="Point heading"/>
          <p:cNvSpPr txBox="1"/>
          <p:nvPr/>
        </p:nvSpPr>
        <p:spPr>
          <a:xfrm>
            <a:off x="7315200" y="3794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Set on any field</a:t>
            </a:r>
          </a:p>
        </p:txBody>
      </p:sp>
      <p:sp>
        <p:nvSpPr>
          <p:cNvPr id="10" name="Point text"/>
          <p:cNvSpPr txBox="1"/>
          <p:nvPr/>
        </p:nvSpPr>
        <p:spPr>
          <a:xfrm>
            <a:off x="7315200" y="4105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Set as primary key or Set as primary name in the field’s panel</a:t>
            </a:r>
          </a:p>
        </p:txBody>
      </p:sp>
      <p:sp>
        <p:nvSpPr>
          <p:cNvPr id="11" name="Point heading"/>
          <p:cNvSpPr txBox="1"/>
          <p:nvPr/>
        </p:nvSpPr>
        <p:spPr>
          <a:xfrm>
            <a:off x="7315200" y="4937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 Table details</a:t>
            </a:r>
          </a:p>
        </p:txBody>
      </p:sp>
      <p:sp>
        <p:nvSpPr>
          <p:cNvPr id="12" name="Point text"/>
          <p:cNvSpPr txBox="1"/>
          <p:nvPr/>
        </p:nvSpPr>
        <p:spPr>
          <a:xfrm>
            <a:off x="7315200" y="5248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Ownership, notes, activities and every other detail row, including missing ones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Adding fields and relationships</a:t>
            </a:r>
          </a:p>
        </p:txBody>
      </p:sp>
      <p:pic>
        <p:nvPicPr>
          <p:cNvPr id="4" name="Screenshot: 09-addfield" descr="The Add field dialog with the kind, display name, field type and Add button marked"/>
          <p:cNvPicPr>
            <a:picLocks noChangeAspect="1"/>
          </p:cNvPicPr>
          <p:nvPr/>
        </p:nvPicPr>
        <p:blipFill>
          <a:blip r:embed="rId2"/>
          <a:stretch>
            <a:fillRect/>
          </a:stretch>
        </p:blipFill>
        <p:spPr>
          <a:xfrm>
            <a:off x="1490472" y="1508760"/>
            <a:ext cx="6583680" cy="3677550"/>
          </a:xfrm>
          <a:prstGeom prst="rect">
            <a:avLst/>
          </a:prstGeom>
          <a:ln w="12700">
            <a:solidFill>
              <a:schemeClr val="accent5"/>
            </a:solidFill>
          </a:ln>
        </p:spPr>
      </p:pic>
      <p:sp>
        <p:nvSpPr>
          <p:cNvPr id="5" name="Point heading"/>
          <p:cNvSpPr txBox="1"/>
          <p:nvPr/>
        </p:nvSpPr>
        <p:spPr>
          <a:xfrm>
            <a:off x="8366760" y="1508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A field or an N:N</a:t>
            </a:r>
          </a:p>
        </p:txBody>
      </p:sp>
      <p:sp>
        <p:nvSpPr>
          <p:cNvPr id="6" name="Point text"/>
          <p:cNvSpPr txBox="1"/>
          <p:nvPr/>
        </p:nvSpPr>
        <p:spPr>
          <a:xfrm>
            <a:off x="8366760" y="1819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Choose the kind, then type the display name</a:t>
            </a:r>
          </a:p>
        </p:txBody>
      </p:sp>
      <p:sp>
        <p:nvSpPr>
          <p:cNvPr id="7" name="Point heading"/>
          <p:cNvSpPr txBox="1"/>
          <p:nvPr/>
        </p:nvSpPr>
        <p:spPr>
          <a:xfrm>
            <a:off x="8366760" y="2651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Names follow</a:t>
            </a:r>
          </a:p>
        </p:txBody>
      </p:sp>
      <p:sp>
        <p:nvSpPr>
          <p:cNvPr id="8" name="Point text"/>
          <p:cNvSpPr txBox="1"/>
          <p:nvPr/>
        </p:nvSpPr>
        <p:spPr>
          <a:xfrm>
            <a:off x="8366760" y="2962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Actual hours becomes formus_actualhours and formus_ActualHours</a:t>
            </a:r>
          </a:p>
        </p:txBody>
      </p:sp>
      <p:sp>
        <p:nvSpPr>
          <p:cNvPr id="9" name="Point heading"/>
          <p:cNvSpPr txBox="1"/>
          <p:nvPr/>
        </p:nvSpPr>
        <p:spPr>
          <a:xfrm>
            <a:off x="8366760" y="3794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Lookups and N:N</a:t>
            </a:r>
          </a:p>
        </p:txBody>
      </p:sp>
      <p:sp>
        <p:nvSpPr>
          <p:cNvPr id="10" name="Point text"/>
          <p:cNvSpPr txBox="1"/>
          <p:nvPr/>
        </p:nvSpPr>
        <p:spPr>
          <a:xfrm>
            <a:off x="8366760" y="4105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Pick the related table: Targets and the relationship type are filled in</a:t>
            </a:r>
          </a:p>
        </p:txBody>
      </p:sp>
      <p:sp>
        <p:nvSpPr>
          <p:cNvPr id="11" name="Point heading"/>
          <p:cNvSpPr txBox="1"/>
          <p:nvPr/>
        </p:nvSpPr>
        <p:spPr>
          <a:xfrm>
            <a:off x="8366760" y="4937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Then the details</a:t>
            </a:r>
          </a:p>
        </p:txBody>
      </p:sp>
      <p:sp>
        <p:nvSpPr>
          <p:cNvPr id="12" name="Point text"/>
          <p:cNvSpPr txBox="1"/>
          <p:nvPr/>
        </p:nvSpPr>
        <p:spPr>
          <a:xfrm>
            <a:off x="8366760" y="5248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The new row is tagged ADDED and opens for options, length, cascade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Reviewing and undoing changes</a:t>
            </a:r>
          </a:p>
        </p:txBody>
      </p:sp>
      <p:pic>
        <p:nvPicPr>
          <p:cNvPr id="4" name="Screenshot: 10-changes" descr="The Changes panel with the Changes button, remove, revert and Revert all marked"/>
          <p:cNvPicPr>
            <a:picLocks noChangeAspect="1"/>
          </p:cNvPicPr>
          <p:nvPr/>
        </p:nvPicPr>
        <p:blipFill>
          <a:blip r:embed="rId2"/>
          <a:stretch>
            <a:fillRect/>
          </a:stretch>
        </p:blipFill>
        <p:spPr>
          <a:xfrm>
            <a:off x="475487" y="1508760"/>
            <a:ext cx="6583680" cy="3734027"/>
          </a:xfrm>
          <a:prstGeom prst="rect">
            <a:avLst/>
          </a:prstGeom>
          <a:ln w="12700">
            <a:solidFill>
              <a:schemeClr val="accent5"/>
            </a:solidFill>
          </a:ln>
        </p:spPr>
      </p:pic>
      <p:sp>
        <p:nvSpPr>
          <p:cNvPr id="5" name="Point heading"/>
          <p:cNvSpPr txBox="1"/>
          <p:nvPr/>
        </p:nvSpPr>
        <p:spPr>
          <a:xfrm>
            <a:off x="7315200" y="1508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Everything in one list</a:t>
            </a:r>
          </a:p>
        </p:txBody>
      </p:sp>
      <p:sp>
        <p:nvSpPr>
          <p:cNvPr id="6" name="Point text"/>
          <p:cNvSpPr txBox="1"/>
          <p:nvPr/>
        </p:nvSpPr>
        <p:spPr>
          <a:xfrm>
            <a:off x="7315200" y="1819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Rows added, table details changed, and each cell as original against new</a:t>
            </a:r>
          </a:p>
        </p:txBody>
      </p:sp>
      <p:sp>
        <p:nvSpPr>
          <p:cNvPr id="7" name="Point heading"/>
          <p:cNvSpPr txBox="1"/>
          <p:nvPr/>
        </p:nvSpPr>
        <p:spPr>
          <a:xfrm>
            <a:off x="7315200" y="2651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Go or revert</a:t>
            </a:r>
          </a:p>
        </p:txBody>
      </p:sp>
      <p:sp>
        <p:nvSpPr>
          <p:cNvPr id="8" name="Point text"/>
          <p:cNvSpPr txBox="1"/>
          <p:nvPr/>
        </p:nvSpPr>
        <p:spPr>
          <a:xfrm>
            <a:off x="7315200" y="2962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Jump to any edit, or undo it on its own</a:t>
            </a:r>
          </a:p>
        </p:txBody>
      </p:sp>
      <p:sp>
        <p:nvSpPr>
          <p:cNvPr id="9" name="Point heading"/>
          <p:cNvSpPr txBox="1"/>
          <p:nvPr/>
        </p:nvSpPr>
        <p:spPr>
          <a:xfrm>
            <a:off x="7315200" y="3794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Revert all</a:t>
            </a:r>
          </a:p>
        </p:txBody>
      </p:sp>
      <p:sp>
        <p:nvSpPr>
          <p:cNvPr id="10" name="Point text"/>
          <p:cNvSpPr txBox="1"/>
          <p:nvPr/>
        </p:nvSpPr>
        <p:spPr>
          <a:xfrm>
            <a:off x="7315200" y="4105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Undo everything at once</a:t>
            </a:r>
          </a:p>
        </p:txBody>
      </p:sp>
      <p:sp>
        <p:nvSpPr>
          <p:cNvPr id="11" name="Point heading"/>
          <p:cNvSpPr txBox="1"/>
          <p:nvPr/>
        </p:nvSpPr>
        <p:spPr>
          <a:xfrm>
            <a:off x="7315200" y="4937760"/>
            <a:ext cx="3383280" cy="320040"/>
          </a:xfrm>
          <a:prstGeom prst="rect">
            <a:avLst/>
          </a:prstGeom>
          <a:noFill/>
        </p:spPr>
        <p:txBody>
          <a:bodyPr wrap="square" anchor="t" lIns="0" rIns="0" tIns="0" bIns="0">
            <a:spAutoFit/>
          </a:bodyPr>
          <a:lstStyle/>
          <a:p>
            <a:pPr algn="l">
              <a:spcAft>
                <a:spcPts val="600"/>
              </a:spcAft>
            </a:pPr>
            <a:r>
              <a:rPr sz="1700" b="1">
                <a:solidFill>
                  <a:schemeClr val="accent2"/>
                </a:solidFill>
              </a:rPr>
              <a:t>Keep a record</a:t>
            </a:r>
          </a:p>
        </p:txBody>
      </p:sp>
      <p:sp>
        <p:nvSpPr>
          <p:cNvPr id="12" name="Point text"/>
          <p:cNvSpPr txBox="1"/>
          <p:nvPr/>
        </p:nvSpPr>
        <p:spPr>
          <a:xfrm>
            <a:off x="7315200" y="5248656"/>
            <a:ext cx="3383280" cy="777240"/>
          </a:xfrm>
          <a:prstGeom prst="rect">
            <a:avLst/>
          </a:prstGeom>
          <a:noFill/>
        </p:spPr>
        <p:txBody>
          <a:bodyPr wrap="square" anchor="t" lIns="0" rIns="0" tIns="0" bIns="0">
            <a:spAutoFit/>
          </a:bodyPr>
          <a:lstStyle/>
          <a:p>
            <a:pPr algn="l">
              <a:spcAft>
                <a:spcPts val="600"/>
              </a:spcAft>
            </a:pPr>
            <a:r>
              <a:rPr sz="1300" b="0">
                <a:solidFill>
                  <a:srgbClr val="3E556B"/>
                </a:solidFill>
              </a:rPr>
              <a:t>Export log (CSV) downloads the list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a:xfrm>
            <a:off x="548640" y="2788920"/>
            <a:ext cx="10515600" cy="1051560"/>
          </a:xfrm>
        </p:spPr>
        <p:txBody>
          <a:bodyPr anchor="t"/>
          <a:lstStyle/>
          <a:p>
            <a:pPr algn="l"/>
            <a:r>
              <a:t>Versions and saving</a:t>
            </a:r>
          </a:p>
        </p:txBody>
      </p:sp>
      <p:sp>
        <p:nvSpPr>
          <p:cNvPr id="3" name="Section number"/>
          <p:cNvSpPr txBox="1"/>
          <p:nvPr/>
        </p:nvSpPr>
        <p:spPr>
          <a:xfrm>
            <a:off x="548640" y="1600200"/>
            <a:ext cx="2743200" cy="1097280"/>
          </a:xfrm>
          <a:prstGeom prst="rect">
            <a:avLst/>
          </a:prstGeom>
          <a:noFill/>
        </p:spPr>
        <p:txBody>
          <a:bodyPr wrap="square" anchor="t" lIns="0" rIns="0" tIns="0" bIns="0">
            <a:spAutoFit/>
          </a:bodyPr>
          <a:lstStyle/>
          <a:p>
            <a:pPr algn="l">
              <a:spcAft>
                <a:spcPts val="600"/>
              </a:spcAft>
            </a:pPr>
            <a:r>
              <a:rPr sz="7200" b="1">
                <a:solidFill>
                  <a:schemeClr val="accent2"/>
                </a:solidFill>
              </a:rPr>
              <a:t>05</a:t>
            </a:r>
          </a:p>
        </p:txBody>
      </p:sp>
      <p:sp>
        <p:nvSpPr>
          <p:cNvPr id="4" name="Section summary"/>
          <p:cNvSpPr txBox="1"/>
          <p:nvPr/>
        </p:nvSpPr>
        <p:spPr>
          <a:xfrm>
            <a:off x="548640" y="4206240"/>
            <a:ext cx="10515600" cy="731520"/>
          </a:xfrm>
          <a:prstGeom prst="rect">
            <a:avLst/>
          </a:prstGeom>
          <a:noFill/>
        </p:spPr>
        <p:txBody>
          <a:bodyPr wrap="square" anchor="t" lIns="0" rIns="0" tIns="0" bIns="0">
            <a:spAutoFit/>
          </a:bodyPr>
          <a:lstStyle/>
          <a:p>
            <a:pPr algn="l">
              <a:spcAft>
                <a:spcPts val="600"/>
              </a:spcAft>
            </a:pPr>
            <a:r>
              <a:rPr sz="2000" b="0">
                <a:solidFill>
                  <a:srgbClr val="3E556B"/>
                </a:solidFill>
              </a:rPr>
              <a:t>Loading a newer workbook, exporting, and saving back safely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Loading a newer version</a:t>
            </a:r>
          </a:p>
        </p:txBody>
      </p:sp>
      <p:pic>
        <p:nvPicPr>
          <p:cNvPr id="4" name="Screenshot: 13-loadversion" descr="The dialog asking whether the file is a newer version or a different workbook"/>
          <p:cNvPicPr>
            <a:picLocks noChangeAspect="1"/>
          </p:cNvPicPr>
          <p:nvPr/>
        </p:nvPicPr>
        <p:blipFill>
          <a:blip r:embed="rId2"/>
          <a:stretch>
            <a:fillRect/>
          </a:stretch>
        </p:blipFill>
        <p:spPr>
          <a:xfrm>
            <a:off x="1551609" y="1508760"/>
            <a:ext cx="6461405" cy="4709160"/>
          </a:xfrm>
          <a:prstGeom prst="rect">
            <a:avLst/>
          </a:prstGeom>
          <a:ln w="12700">
            <a:solidFill>
              <a:schemeClr val="accent5"/>
            </a:solidFill>
          </a:ln>
        </p:spPr>
      </p:pic>
      <p:sp>
        <p:nvSpPr>
          <p:cNvPr id="5" name="Point heading"/>
          <p:cNvSpPr txBox="1"/>
          <p:nvPr/>
        </p:nvSpPr>
        <p:spPr>
          <a:xfrm>
            <a:off x="8366760" y="1508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Every difference</a:t>
            </a:r>
          </a:p>
        </p:txBody>
      </p:sp>
      <p:sp>
        <p:nvSpPr>
          <p:cNvPr id="6" name="Point text"/>
          <p:cNvSpPr txBox="1"/>
          <p:nvPr/>
        </p:nvSpPr>
        <p:spPr>
          <a:xfrm>
            <a:off x="8366760" y="1819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Tables, fields, values, columns, details, forms, views and lookup targets</a:t>
            </a:r>
          </a:p>
        </p:txBody>
      </p:sp>
      <p:sp>
        <p:nvSpPr>
          <p:cNvPr id="7" name="Point heading"/>
          <p:cNvSpPr txBox="1"/>
          <p:nvPr/>
        </p:nvSpPr>
        <p:spPr>
          <a:xfrm>
            <a:off x="8366760" y="2651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Edits carry over</a:t>
            </a:r>
          </a:p>
        </p:txBody>
      </p:sp>
      <p:sp>
        <p:nvSpPr>
          <p:cNvPr id="8" name="Point text"/>
          <p:cNvSpPr txBox="1"/>
          <p:nvPr/>
        </p:nvSpPr>
        <p:spPr>
          <a:xfrm>
            <a:off x="8366760" y="2962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Conflicts go to Needs your attention: Keep mine or Use new version</a:t>
            </a:r>
          </a:p>
        </p:txBody>
      </p:sp>
      <p:sp>
        <p:nvSpPr>
          <p:cNvPr id="9" name="Point heading"/>
          <p:cNvSpPr txBox="1"/>
          <p:nvPr/>
        </p:nvSpPr>
        <p:spPr>
          <a:xfrm>
            <a:off x="8366760" y="3794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Added rows too</a:t>
            </a:r>
          </a:p>
        </p:txBody>
      </p:sp>
      <p:sp>
        <p:nvSpPr>
          <p:cNvPr id="10" name="Point text"/>
          <p:cNvSpPr txBox="1"/>
          <p:nvPr/>
        </p:nvSpPr>
        <p:spPr>
          <a:xfrm>
            <a:off x="8366760" y="4105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If the new version already has the field, you choose which to keep</a:t>
            </a:r>
          </a:p>
        </p:txBody>
      </p:sp>
      <p:sp>
        <p:nvSpPr>
          <p:cNvPr id="11" name="Point heading"/>
          <p:cNvSpPr txBox="1"/>
          <p:nvPr/>
        </p:nvSpPr>
        <p:spPr>
          <a:xfrm>
            <a:off x="8366760" y="4937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Share the differences</a:t>
            </a:r>
          </a:p>
        </p:txBody>
      </p:sp>
      <p:sp>
        <p:nvSpPr>
          <p:cNvPr id="12" name="Point text"/>
          <p:cNvSpPr txBox="1"/>
          <p:nvPr/>
        </p:nvSpPr>
        <p:spPr>
          <a:xfrm>
            <a:off x="8366760" y="5248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Version differences (CSV) in the Export 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The Export menu</a:t>
            </a:r>
          </a:p>
        </p:txBody>
      </p:sp>
      <p:pic>
        <p:nvPicPr>
          <p:cNvPr id="4" name="Screenshot: 11-export" descr="The Export menu with Download an updated copy, New version in template format and Dataverse solution marked"/>
          <p:cNvPicPr>
            <a:picLocks noChangeAspect="1"/>
          </p:cNvPicPr>
          <p:nvPr/>
        </p:nvPicPr>
        <p:blipFill>
          <a:blip r:embed="rId2"/>
          <a:stretch>
            <a:fillRect/>
          </a:stretch>
        </p:blipFill>
        <p:spPr>
          <a:xfrm>
            <a:off x="1490472" y="1463040"/>
            <a:ext cx="3017520" cy="3647263"/>
          </a:xfrm>
          <a:prstGeom prst="rect">
            <a:avLst/>
          </a:prstGeom>
          <a:ln w="12700">
            <a:solidFill>
              <a:schemeClr val="accent5"/>
            </a:solidFill>
          </a:ln>
        </p:spPr>
      </p:pic>
      <p:graphicFrame>
        <p:nvGraphicFramePr>
          <p:cNvPr id="5" name="Table 4"/>
          <p:cNvGraphicFramePr>
            <a:graphicFrameLocks noGrp="1"/>
          </p:cNvGraphicFramePr>
          <p:nvPr/>
        </p:nvGraphicFramePr>
        <p:xfrm>
          <a:off x="4846320" y="1463040"/>
          <a:ext cx="6812280" cy="4206240"/>
        </p:xfrm>
        <a:graphic>
          <a:graphicData uri="http://schemas.openxmlformats.org/drawingml/2006/table">
            <a:tbl>
              <a:tblPr firstRow="1" bandRow="1">
                <a:tableStyleId>{5C22544A-7EE6-4342-B048-85BDC9FD1C3A}</a:tableStyleId>
              </a:tblPr>
              <a:tblGrid>
                <a:gridCol w="2514600"/>
                <a:gridCol w="4297680"/>
              </a:tblGrid>
              <a:tr h="600891">
                <a:tc>
                  <a:txBody>
                    <a:bodyPr/>
                    <a:lstStyle/>
                    <a:p>
                      <a:r>
                        <a:rPr sz="1250" b="1">
                          <a:solidFill>
                            <a:schemeClr val="bg1"/>
                          </a:solidFill>
                        </a:rPr>
                        <a:t>Export</a:t>
                      </a:r>
                    </a:p>
                  </a:txBody>
                  <a:tcPr marL="109728" marR="109728" marT="54864" marB="54864" anchor="ctr">
                    <a:solidFill>
                      <a:schemeClr val="accent1"/>
                    </a:solidFill>
                  </a:tcPr>
                </a:tc>
                <a:tc>
                  <a:txBody>
                    <a:bodyPr/>
                    <a:lstStyle/>
                    <a:p>
                      <a:r>
                        <a:rPr sz="1250" b="1">
                          <a:solidFill>
                            <a:schemeClr val="bg1"/>
                          </a:solidFill>
                        </a:rPr>
                        <a:t>What you get</a:t>
                      </a:r>
                    </a:p>
                  </a:txBody>
                  <a:tcPr marL="109728" marR="109728" marT="54864" marB="54864" anchor="ctr">
                    <a:solidFill>
                      <a:schemeClr val="accent1"/>
                    </a:solidFill>
                  </a:tcPr>
                </a:tc>
              </a:tr>
              <a:tr h="600891">
                <a:tc>
                  <a:txBody>
                    <a:bodyPr/>
                    <a:lstStyle/>
                    <a:p>
                      <a:r>
                        <a:rPr sz="1250" b="1">
                          <a:solidFill>
                            <a:schemeClr val="accent1"/>
                          </a:solidFill>
                        </a:rPr>
                        <a:t>Save back to the original file</a:t>
                      </a:r>
                    </a:p>
                  </a:txBody>
                  <a:tcPr marL="109728" marR="109728" marT="54864" marB="54864" anchor="ctr">
                    <a:solidFill>
                      <a:schemeClr val="bg1"/>
                    </a:solidFill>
                  </a:tcPr>
                </a:tc>
                <a:tc>
                  <a:txBody>
                    <a:bodyPr/>
                    <a:lstStyle/>
                    <a:p>
                      <a:r>
                        <a:rPr sz="1250" b="0">
                          <a:solidFill>
                            <a:schemeClr val="tx1"/>
                          </a:solidFill>
                        </a:rPr>
                        <a:t>Your edits written into the file on disk (Chrome or Edge, opened with the button)</a:t>
                      </a:r>
                    </a:p>
                  </a:txBody>
                  <a:tcPr marL="109728" marR="109728" marT="54864" marB="54864" anchor="ctr">
                    <a:solidFill>
                      <a:schemeClr val="bg1"/>
                    </a:solidFill>
                  </a:tcPr>
                </a:tc>
              </a:tr>
              <a:tr h="600891">
                <a:tc>
                  <a:txBody>
                    <a:bodyPr/>
                    <a:lstStyle/>
                    <a:p>
                      <a:r>
                        <a:rPr sz="1250" b="1">
                          <a:solidFill>
                            <a:schemeClr val="accent1"/>
                          </a:solidFill>
                        </a:rPr>
                        <a:t>Download an updated copy</a:t>
                      </a:r>
                    </a:p>
                  </a:txBody>
                  <a:tcPr marL="109728" marR="109728" marT="54864" marB="54864" anchor="ctr">
                    <a:solidFill>
                      <a:schemeClr val="accent5"/>
                    </a:solidFill>
                  </a:tcPr>
                </a:tc>
                <a:tc>
                  <a:txBody>
                    <a:bodyPr/>
                    <a:lstStyle/>
                    <a:p>
                      <a:r>
                        <a:rPr sz="1250" b="0">
                          <a:solidFill>
                            <a:schemeClr val="tx1"/>
                          </a:solidFill>
                        </a:rPr>
                        <a:t>The same file and formatting with your edits written in</a:t>
                      </a:r>
                    </a:p>
                  </a:txBody>
                  <a:tcPr marL="109728" marR="109728" marT="54864" marB="54864" anchor="ctr">
                    <a:solidFill>
                      <a:schemeClr val="accent5"/>
                    </a:solidFill>
                  </a:tcPr>
                </a:tc>
              </a:tr>
              <a:tr h="600891">
                <a:tc>
                  <a:txBody>
                    <a:bodyPr/>
                    <a:lstStyle/>
                    <a:p>
                      <a:r>
                        <a:rPr sz="1250" b="1">
                          <a:solidFill>
                            <a:schemeClr val="accent1"/>
                          </a:solidFill>
                        </a:rPr>
                        <a:t>New version in template format</a:t>
                      </a:r>
                    </a:p>
                  </a:txBody>
                  <a:tcPr marL="109728" marR="109728" marT="54864" marB="54864" anchor="ctr">
                    <a:solidFill>
                      <a:schemeClr val="bg1"/>
                    </a:solidFill>
                  </a:tcPr>
                </a:tc>
                <a:tc>
                  <a:txBody>
                    <a:bodyPr/>
                    <a:lstStyle/>
                    <a:p>
                      <a:r>
                        <a:rPr sz="1250" b="0">
                          <a:solidFill>
                            <a:schemeClr val="tx1"/>
                          </a:solidFill>
                        </a:rPr>
                        <a:t>The whole workbook rebuilt and styled by the template, with a Change log sheet</a:t>
                      </a:r>
                    </a:p>
                  </a:txBody>
                  <a:tcPr marL="109728" marR="109728" marT="54864" marB="54864" anchor="ctr">
                    <a:solidFill>
                      <a:schemeClr val="bg1"/>
                    </a:solidFill>
                  </a:tcPr>
                </a:tc>
              </a:tr>
              <a:tr h="600891">
                <a:tc>
                  <a:txBody>
                    <a:bodyPr/>
                    <a:lstStyle/>
                    <a:p>
                      <a:r>
                        <a:rPr sz="1250" b="1">
                          <a:solidFill>
                            <a:schemeClr val="accent1"/>
                          </a:solidFill>
                        </a:rPr>
                        <a:t>Full workbook, plain values</a:t>
                      </a:r>
                    </a:p>
                  </a:txBody>
                  <a:tcPr marL="109728" marR="109728" marT="54864" marB="54864" anchor="ctr">
                    <a:solidFill>
                      <a:schemeClr val="accent5"/>
                    </a:solidFill>
                  </a:tcPr>
                </a:tc>
                <a:tc>
                  <a:txBody>
                    <a:bodyPr/>
                    <a:lstStyle/>
                    <a:p>
                      <a:r>
                        <a:rPr sz="1250" b="0">
                          <a:solidFill>
                            <a:schemeClr val="tx1"/>
                          </a:solidFill>
                        </a:rPr>
                        <a:t>Values only, no styling</a:t>
                      </a:r>
                    </a:p>
                  </a:txBody>
                  <a:tcPr marL="109728" marR="109728" marT="54864" marB="54864" anchor="ctr">
                    <a:solidFill>
                      <a:schemeClr val="accent5"/>
                    </a:solidFill>
                  </a:tcPr>
                </a:tc>
              </a:tr>
              <a:tr h="600891">
                <a:tc>
                  <a:txBody>
                    <a:bodyPr/>
                    <a:lstStyle/>
                    <a:p>
                      <a:r>
                        <a:rPr sz="1250" b="1">
                          <a:solidFill>
                            <a:schemeClr val="accent1"/>
                          </a:solidFill>
                        </a:rPr>
                        <a:t>Current view as CSV</a:t>
                      </a:r>
                    </a:p>
                  </a:txBody>
                  <a:tcPr marL="109728" marR="109728" marT="54864" marB="54864" anchor="ctr">
                    <a:solidFill>
                      <a:schemeClr val="bg1"/>
                    </a:solidFill>
                  </a:tcPr>
                </a:tc>
                <a:tc>
                  <a:txBody>
                    <a:bodyPr/>
                    <a:lstStyle/>
                    <a:p>
                      <a:r>
                        <a:rPr sz="1250" b="0">
                          <a:solidFill>
                            <a:schemeClr val="tx1"/>
                          </a:solidFill>
                        </a:rPr>
                        <a:t>The rows you can see, with visible or all columns</a:t>
                      </a:r>
                    </a:p>
                  </a:txBody>
                  <a:tcPr marL="109728" marR="109728" marT="54864" marB="54864" anchor="ctr">
                    <a:solidFill>
                      <a:schemeClr val="bg1"/>
                    </a:solidFill>
                  </a:tcPr>
                </a:tc>
              </a:tr>
              <a:tr h="600894">
                <a:tc>
                  <a:txBody>
                    <a:bodyPr/>
                    <a:lstStyle/>
                    <a:p>
                      <a:r>
                        <a:rPr sz="1250" b="1">
                          <a:solidFill>
                            <a:schemeClr val="accent1"/>
                          </a:solidFill>
                        </a:rPr>
                        <a:t>Change log · Version differences</a:t>
                      </a:r>
                    </a:p>
                  </a:txBody>
                  <a:tcPr marL="109728" marR="109728" marT="54864" marB="54864" anchor="ctr">
                    <a:solidFill>
                      <a:schemeClr val="accent5"/>
                    </a:solidFill>
                  </a:tcPr>
                </a:tc>
                <a:tc>
                  <a:txBody>
                    <a:bodyPr/>
                    <a:lstStyle/>
                    <a:p>
                      <a:r>
                        <a:rPr sz="1250" b="0">
                          <a:solidFill>
                            <a:schemeClr val="tx1"/>
                          </a:solidFill>
                        </a:rPr>
                        <a:t>Your edits, or the differences between versions, as CSV</a:t>
                      </a:r>
                    </a:p>
                  </a:txBody>
                  <a:tcPr marL="109728" marR="109728" marT="54864" marB="54864" anchor="ctr">
                    <a:solidFill>
                      <a:schemeClr val="accent5"/>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9" sz="quarter"/>
          </p:nvPr>
        </p:nvSpPr>
        <p:spPr/>
        <p:txBody>
          <a:bodyPr/>
          <a:lstStyle/>
          <a:p>
            <a:pPr marL="228600" indent="-228600">
              <a:spcBef>
                <a:spcPts val="500"/>
              </a:spcBef>
              <a:buChar char="•"/>
            </a:pPr>
            <a:r>
              <a:rPr sz="1500"/>
              <a:t>Only the cells you changed are rewritten; formatting and validations stay byte for byte</a:t>
            </a:r>
          </a:p>
          <a:p>
            <a:pPr marL="228600" indent="-228600">
              <a:spcBef>
                <a:spcPts val="500"/>
              </a:spcBef>
              <a:buChar char="•"/>
            </a:pPr>
            <a:r>
              <a:rPr sz="1500"/>
              <a:t>Added rows go into the empty rows after the field list, new details above it</a:t>
            </a:r>
          </a:p>
          <a:p>
            <a:pPr marL="228600" indent="-228600">
              <a:spcBef>
                <a:spcPts val="500"/>
              </a:spcBef>
              <a:buChar char="•"/>
            </a:pPr>
            <a:r>
              <a:rPr sz="1500"/>
              <a:t>If anything can’t be written, nothing is saved and your edits are kept</a:t>
            </a:r>
          </a:p>
        </p:txBody>
      </p:sp>
      <p:sp>
        <p:nvSpPr>
          <p:cNvPr id="4" name="Text Placeholder 3"/>
          <p:cNvSpPr>
            <a:spLocks noGrp="1"/>
          </p:cNvSpPr>
          <p:nvPr>
            <p:ph type="body" idx="20" sz="quarter"/>
          </p:nvPr>
        </p:nvSpPr>
        <p:spPr/>
        <p:txBody>
          <a:bodyPr/>
          <a:lstStyle/>
          <a:p>
            <a:r>
              <a:t>What is guaranteed</a:t>
            </a:r>
          </a:p>
        </p:txBody>
      </p:sp>
      <p:sp>
        <p:nvSpPr>
          <p:cNvPr id="5" name="Text Placeholder 4"/>
          <p:cNvSpPr>
            <a:spLocks noGrp="1"/>
          </p:cNvSpPr>
          <p:nvPr>
            <p:ph type="body" idx="13" sz="quarter"/>
          </p:nvPr>
        </p:nvSpPr>
        <p:spPr/>
        <p:txBody>
          <a:bodyPr/>
          <a:lstStyle/>
          <a:p>
            <a:r>
              <a:t>Saving back safely</a:t>
            </a:r>
          </a:p>
        </p:txBody>
      </p:sp>
      <p:sp>
        <p:nvSpPr>
          <p:cNvPr id="6" name="Step"/>
          <p:cNvSpPr/>
          <p:nvPr/>
        </p:nvSpPr>
        <p:spPr>
          <a:xfrm>
            <a:off x="6675120" y="1691640"/>
            <a:ext cx="4937760" cy="8686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949440" y="1801368"/>
            <a:ext cx="4480560" cy="365760"/>
          </a:xfrm>
          <a:prstGeom prst="rect">
            <a:avLst/>
          </a:prstGeom>
          <a:noFill/>
        </p:spPr>
        <p:txBody>
          <a:bodyPr wrap="square" anchor="t" lIns="0" rIns="0" tIns="0" bIns="0">
            <a:spAutoFit/>
          </a:bodyPr>
          <a:lstStyle/>
          <a:p>
            <a:pPr algn="l">
              <a:spcAft>
                <a:spcPts val="600"/>
              </a:spcAft>
            </a:pPr>
            <a:r>
              <a:rPr sz="1800" b="1">
                <a:solidFill>
                  <a:schemeClr val="accent1"/>
                </a:solidFill>
              </a:rPr>
              <a:t>Name the file</a:t>
            </a:r>
          </a:p>
        </p:txBody>
      </p:sp>
      <p:sp>
        <p:nvSpPr>
          <p:cNvPr id="8" name="TextBox 7"/>
          <p:cNvSpPr txBox="1"/>
          <p:nvPr/>
        </p:nvSpPr>
        <p:spPr>
          <a:xfrm>
            <a:off x="6949440" y="2148840"/>
            <a:ext cx="4480560" cy="320040"/>
          </a:xfrm>
          <a:prstGeom prst="rect">
            <a:avLst/>
          </a:prstGeom>
          <a:noFill/>
        </p:spPr>
        <p:txBody>
          <a:bodyPr wrap="square" anchor="t" lIns="0" rIns="0" tIns="0" bIns="0">
            <a:spAutoFit/>
          </a:bodyPr>
          <a:lstStyle/>
          <a:p>
            <a:pPr algn="l">
              <a:spcAft>
                <a:spcPts val="600"/>
              </a:spcAft>
            </a:pPr>
            <a:r>
              <a:rPr sz="1400" b="0">
                <a:solidFill>
                  <a:srgbClr val="3E556B"/>
                </a:solidFill>
              </a:rPr>
              <a:t>Model v1.2 is suggested as Model v1.3</a:t>
            </a:r>
          </a:p>
        </p:txBody>
      </p:sp>
      <p:sp>
        <p:nvSpPr>
          <p:cNvPr id="9" name="Arrow"/>
          <p:cNvSpPr/>
          <p:nvPr/>
        </p:nvSpPr>
        <p:spPr>
          <a:xfrm>
            <a:off x="9006840" y="2587752"/>
            <a:ext cx="274320" cy="310896"/>
          </a:xfrm>
          <a:prstGeom prst="downArrow">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ep"/>
          <p:cNvSpPr/>
          <p:nvPr/>
        </p:nvSpPr>
        <p:spPr>
          <a:xfrm>
            <a:off x="6675120" y="2926080"/>
            <a:ext cx="4937760" cy="8686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949440" y="3035808"/>
            <a:ext cx="4480560" cy="365760"/>
          </a:xfrm>
          <a:prstGeom prst="rect">
            <a:avLst/>
          </a:prstGeom>
          <a:noFill/>
        </p:spPr>
        <p:txBody>
          <a:bodyPr wrap="square" anchor="t" lIns="0" rIns="0" tIns="0" bIns="0">
            <a:spAutoFit/>
          </a:bodyPr>
          <a:lstStyle/>
          <a:p>
            <a:pPr algn="l">
              <a:spcAft>
                <a:spcPts val="600"/>
              </a:spcAft>
            </a:pPr>
            <a:r>
              <a:rPr sz="1800" b="1">
                <a:solidFill>
                  <a:schemeClr val="accent1"/>
                </a:solidFill>
              </a:rPr>
              <a:t>Write your edits</a:t>
            </a:r>
          </a:p>
        </p:txBody>
      </p:sp>
      <p:sp>
        <p:nvSpPr>
          <p:cNvPr id="12" name="TextBox 11"/>
          <p:cNvSpPr txBox="1"/>
          <p:nvPr/>
        </p:nvSpPr>
        <p:spPr>
          <a:xfrm>
            <a:off x="6949440" y="3383280"/>
            <a:ext cx="4480560" cy="320040"/>
          </a:xfrm>
          <a:prstGeom prst="rect">
            <a:avLst/>
          </a:prstGeom>
          <a:noFill/>
        </p:spPr>
        <p:txBody>
          <a:bodyPr wrap="square" anchor="t" lIns="0" rIns="0" tIns="0" bIns="0">
            <a:spAutoFit/>
          </a:bodyPr>
          <a:lstStyle/>
          <a:p>
            <a:pPr algn="l">
              <a:spcAft>
                <a:spcPts val="600"/>
              </a:spcAft>
            </a:pPr>
            <a:r>
              <a:rPr sz="1400" b="0">
                <a:solidFill>
                  <a:srgbClr val="3E556B"/>
                </a:solidFill>
              </a:rPr>
              <a:t>Into the original or a copy</a:t>
            </a:r>
          </a:p>
        </p:txBody>
      </p:sp>
      <p:sp>
        <p:nvSpPr>
          <p:cNvPr id="13" name="Arrow"/>
          <p:cNvSpPr/>
          <p:nvPr/>
        </p:nvSpPr>
        <p:spPr>
          <a:xfrm>
            <a:off x="9006840" y="3822191"/>
            <a:ext cx="274320" cy="310896"/>
          </a:xfrm>
          <a:prstGeom prst="downArrow">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ep"/>
          <p:cNvSpPr/>
          <p:nvPr/>
        </p:nvSpPr>
        <p:spPr>
          <a:xfrm>
            <a:off x="6675120" y="4160520"/>
            <a:ext cx="4937760" cy="8686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0" y="4270248"/>
            <a:ext cx="4480560" cy="365760"/>
          </a:xfrm>
          <a:prstGeom prst="rect">
            <a:avLst/>
          </a:prstGeom>
          <a:noFill/>
        </p:spPr>
        <p:txBody>
          <a:bodyPr wrap="square" anchor="t" lIns="0" rIns="0" tIns="0" bIns="0">
            <a:spAutoFit/>
          </a:bodyPr>
          <a:lstStyle/>
          <a:p>
            <a:pPr algn="l">
              <a:spcAft>
                <a:spcPts val="600"/>
              </a:spcAft>
            </a:pPr>
            <a:r>
              <a:rPr sz="1800" b="1">
                <a:solidFill>
                  <a:schemeClr val="accent1"/>
                </a:solidFill>
              </a:rPr>
              <a:t>Read it back</a:t>
            </a:r>
          </a:p>
        </p:txBody>
      </p:sp>
      <p:sp>
        <p:nvSpPr>
          <p:cNvPr id="16" name="TextBox 15"/>
          <p:cNvSpPr txBox="1"/>
          <p:nvPr/>
        </p:nvSpPr>
        <p:spPr>
          <a:xfrm>
            <a:off x="6949440" y="4617720"/>
            <a:ext cx="4480560" cy="320040"/>
          </a:xfrm>
          <a:prstGeom prst="rect">
            <a:avLst/>
          </a:prstGeom>
          <a:noFill/>
        </p:spPr>
        <p:txBody>
          <a:bodyPr wrap="square" anchor="t" lIns="0" rIns="0" tIns="0" bIns="0">
            <a:spAutoFit/>
          </a:bodyPr>
          <a:lstStyle/>
          <a:p>
            <a:pPr algn="l">
              <a:spcAft>
                <a:spcPts val="600"/>
              </a:spcAft>
            </a:pPr>
            <a:r>
              <a:rPr sz="1400" b="0">
                <a:solidFill>
                  <a:srgbClr val="3E556B"/>
                </a:solidFill>
              </a:rPr>
              <a:t>Every edit checked in the saved file</a:t>
            </a:r>
          </a:p>
        </p:txBody>
      </p:sp>
      <p:sp>
        <p:nvSpPr>
          <p:cNvPr id="17" name="Arrow"/>
          <p:cNvSpPr/>
          <p:nvPr/>
        </p:nvSpPr>
        <p:spPr>
          <a:xfrm>
            <a:off x="9006840" y="5056632"/>
            <a:ext cx="274320" cy="310896"/>
          </a:xfrm>
          <a:prstGeom prst="downArrow">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ep"/>
          <p:cNvSpPr/>
          <p:nvPr/>
        </p:nvSpPr>
        <p:spPr>
          <a:xfrm>
            <a:off x="6675120" y="5394960"/>
            <a:ext cx="4937760" cy="8686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949440" y="5504688"/>
            <a:ext cx="4480560" cy="365760"/>
          </a:xfrm>
          <a:prstGeom prst="rect">
            <a:avLst/>
          </a:prstGeom>
          <a:noFill/>
        </p:spPr>
        <p:txBody>
          <a:bodyPr wrap="square" anchor="t" lIns="0" rIns="0" tIns="0" bIns="0">
            <a:spAutoFit/>
          </a:bodyPr>
          <a:lstStyle/>
          <a:p>
            <a:pPr algn="l">
              <a:spcAft>
                <a:spcPts val="600"/>
              </a:spcAft>
            </a:pPr>
            <a:r>
              <a:rPr sz="1800" b="1">
                <a:solidFill>
                  <a:schemeClr val="accent1"/>
                </a:solidFill>
              </a:rPr>
              <a:t>Saved</a:t>
            </a:r>
          </a:p>
        </p:txBody>
      </p:sp>
      <p:sp>
        <p:nvSpPr>
          <p:cNvPr id="20" name="TextBox 19"/>
          <p:cNvSpPr txBox="1"/>
          <p:nvPr/>
        </p:nvSpPr>
        <p:spPr>
          <a:xfrm>
            <a:off x="6949440" y="5852160"/>
            <a:ext cx="4480560" cy="320040"/>
          </a:xfrm>
          <a:prstGeom prst="rect">
            <a:avLst/>
          </a:prstGeom>
          <a:noFill/>
        </p:spPr>
        <p:txBody>
          <a:bodyPr wrap="square" anchor="t" lIns="0" rIns="0" tIns="0" bIns="0">
            <a:spAutoFit/>
          </a:bodyPr>
          <a:lstStyle/>
          <a:p>
            <a:pPr algn="l">
              <a:spcAft>
                <a:spcPts val="600"/>
              </a:spcAft>
            </a:pPr>
            <a:r>
              <a:rPr sz="1400" b="0">
                <a:solidFill>
                  <a:srgbClr val="3E556B"/>
                </a:solidFill>
              </a:rPr>
              <a:t>Or the reason it was stopped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a:xfrm>
            <a:off x="548640" y="2788920"/>
            <a:ext cx="10515600" cy="1051560"/>
          </a:xfrm>
        </p:spPr>
        <p:txBody>
          <a:bodyPr anchor="t"/>
          <a:lstStyle/>
          <a:p>
            <a:pPr algn="l"/>
            <a:r>
              <a:t>Building in Dataverse</a:t>
            </a:r>
          </a:p>
        </p:txBody>
      </p:sp>
      <p:sp>
        <p:nvSpPr>
          <p:cNvPr id="3" name="Section number"/>
          <p:cNvSpPr txBox="1"/>
          <p:nvPr/>
        </p:nvSpPr>
        <p:spPr>
          <a:xfrm>
            <a:off x="548640" y="1600200"/>
            <a:ext cx="2743200" cy="1097280"/>
          </a:xfrm>
          <a:prstGeom prst="rect">
            <a:avLst/>
          </a:prstGeom>
          <a:noFill/>
        </p:spPr>
        <p:txBody>
          <a:bodyPr wrap="square" anchor="t" lIns="0" rIns="0" tIns="0" bIns="0">
            <a:spAutoFit/>
          </a:bodyPr>
          <a:lstStyle/>
          <a:p>
            <a:pPr algn="l">
              <a:spcAft>
                <a:spcPts val="600"/>
              </a:spcAft>
            </a:pPr>
            <a:r>
              <a:rPr sz="7200" b="1">
                <a:solidFill>
                  <a:schemeClr val="accent2"/>
                </a:solidFill>
              </a:rPr>
              <a:t>06</a:t>
            </a:r>
          </a:p>
        </p:txBody>
      </p:sp>
      <p:sp>
        <p:nvSpPr>
          <p:cNvPr id="4" name="Section summary"/>
          <p:cNvSpPr txBox="1"/>
          <p:nvPr/>
        </p:nvSpPr>
        <p:spPr>
          <a:xfrm>
            <a:off x="548640" y="4206240"/>
            <a:ext cx="10515600" cy="731520"/>
          </a:xfrm>
          <a:prstGeom prst="rect">
            <a:avLst/>
          </a:prstGeom>
          <a:noFill/>
        </p:spPr>
        <p:txBody>
          <a:bodyPr wrap="square" anchor="t" lIns="0" rIns="0" tIns="0" bIns="0">
            <a:spAutoFit/>
          </a:bodyPr>
          <a:lstStyle/>
          <a:p>
            <a:pPr algn="l">
              <a:spcAft>
                <a:spcPts val="600"/>
              </a:spcAft>
            </a:pPr>
            <a:r>
              <a:rPr sz="2000" b="0">
                <a:solidFill>
                  <a:srgbClr val="3E556B"/>
                </a:solidFill>
              </a:rPr>
              <a:t>The solution builder, what it creates, importing, and what to do after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Generating the solution</a:t>
            </a:r>
          </a:p>
        </p:txBody>
      </p:sp>
      <p:pic>
        <p:nvPicPr>
          <p:cNvPr id="4" name="Screenshot: 17-solution" descr="The Build a Dataverse solution dialog with publisher name, prefix, choice value prefix, Will be built and Generate marked"/>
          <p:cNvPicPr>
            <a:picLocks noChangeAspect="1"/>
          </p:cNvPicPr>
          <p:nvPr/>
        </p:nvPicPr>
        <p:blipFill>
          <a:blip r:embed="rId2"/>
          <a:stretch>
            <a:fillRect/>
          </a:stretch>
        </p:blipFill>
        <p:spPr>
          <a:xfrm>
            <a:off x="1602183" y="1508760"/>
            <a:ext cx="6360257" cy="4709160"/>
          </a:xfrm>
          <a:prstGeom prst="rect">
            <a:avLst/>
          </a:prstGeom>
          <a:ln w="12700">
            <a:solidFill>
              <a:schemeClr val="accent5"/>
            </a:solidFill>
          </a:ln>
        </p:spPr>
      </p:pic>
      <p:sp>
        <p:nvSpPr>
          <p:cNvPr id="5" name="Point heading"/>
          <p:cNvSpPr txBox="1"/>
          <p:nvPr/>
        </p:nvSpPr>
        <p:spPr>
          <a:xfrm>
            <a:off x="8366760" y="1508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Solution and version</a:t>
            </a:r>
          </a:p>
        </p:txBody>
      </p:sp>
      <p:sp>
        <p:nvSpPr>
          <p:cNvPr id="6" name="Point text"/>
          <p:cNvSpPr txBox="1"/>
          <p:nvPr/>
        </p:nvSpPr>
        <p:spPr>
          <a:xfrm>
            <a:off x="8366760" y="1819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Unique and display name; raise the four-part version for each import</a:t>
            </a:r>
          </a:p>
        </p:txBody>
      </p:sp>
      <p:sp>
        <p:nvSpPr>
          <p:cNvPr id="7" name="Point heading"/>
          <p:cNvSpPr txBox="1"/>
          <p:nvPr/>
        </p:nvSpPr>
        <p:spPr>
          <a:xfrm>
            <a:off x="8366760" y="2651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Publisher</a:t>
            </a:r>
          </a:p>
        </p:txBody>
      </p:sp>
      <p:sp>
        <p:nvSpPr>
          <p:cNvPr id="8" name="Point text"/>
          <p:cNvSpPr txBox="1"/>
          <p:nvPr/>
        </p:nvSpPr>
        <p:spPr>
          <a:xfrm>
            <a:off x="8366760" y="2962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The unique name must exactly match the environment’s, or a second is created</a:t>
            </a:r>
          </a:p>
        </p:txBody>
      </p:sp>
      <p:sp>
        <p:nvSpPr>
          <p:cNvPr id="9" name="Point heading"/>
          <p:cNvSpPr txBox="1"/>
          <p:nvPr/>
        </p:nvSpPr>
        <p:spPr>
          <a:xfrm>
            <a:off x="8366760" y="3794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Prefixes</a:t>
            </a:r>
          </a:p>
        </p:txBody>
      </p:sp>
      <p:sp>
        <p:nvSpPr>
          <p:cNvPr id="10" name="Point text"/>
          <p:cNvSpPr txBox="1"/>
          <p:nvPr/>
        </p:nvSpPr>
        <p:spPr>
          <a:xfrm>
            <a:off x="8366760" y="4105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Publisher prefix and choice value prefix, suggested from the workbook</a:t>
            </a:r>
          </a:p>
        </p:txBody>
      </p:sp>
      <p:sp>
        <p:nvSpPr>
          <p:cNvPr id="11" name="Point heading"/>
          <p:cNvSpPr txBox="1"/>
          <p:nvPr/>
        </p:nvSpPr>
        <p:spPr>
          <a:xfrm>
            <a:off x="8366760" y="4937760"/>
            <a:ext cx="3291840" cy="320040"/>
          </a:xfrm>
          <a:prstGeom prst="rect">
            <a:avLst/>
          </a:prstGeom>
          <a:noFill/>
        </p:spPr>
        <p:txBody>
          <a:bodyPr wrap="square" anchor="t" lIns="0" rIns="0" tIns="0" bIns="0">
            <a:spAutoFit/>
          </a:bodyPr>
          <a:lstStyle/>
          <a:p>
            <a:pPr algn="l">
              <a:spcAft>
                <a:spcPts val="600"/>
              </a:spcAft>
            </a:pPr>
            <a:r>
              <a:rPr sz="1700" b="1">
                <a:solidFill>
                  <a:schemeClr val="accent2"/>
                </a:solidFill>
              </a:rPr>
              <a:t>Will be built</a:t>
            </a:r>
          </a:p>
        </p:txBody>
      </p:sp>
      <p:sp>
        <p:nvSpPr>
          <p:cNvPr id="12" name="Point text"/>
          <p:cNvSpPr txBox="1"/>
          <p:nvPr/>
        </p:nvSpPr>
        <p:spPr>
          <a:xfrm>
            <a:off x="8366760" y="5248656"/>
            <a:ext cx="3291840" cy="777240"/>
          </a:xfrm>
          <a:prstGeom prst="rect">
            <a:avLst/>
          </a:prstGeom>
          <a:noFill/>
        </p:spPr>
        <p:txBody>
          <a:bodyPr wrap="square" anchor="t" lIns="0" rIns="0" tIns="0" bIns="0">
            <a:spAutoFit/>
          </a:bodyPr>
          <a:lstStyle/>
          <a:p>
            <a:pPr algn="l">
              <a:spcAft>
                <a:spcPts val="600"/>
              </a:spcAft>
            </a:pPr>
            <a:r>
              <a:rPr sz="1300" b="0">
                <a:solidFill>
                  <a:srgbClr val="3E556B"/>
                </a:solidFill>
              </a:rPr>
              <a:t>What is new, added to standard tables, to build by hand or left out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pPr marL="228600" indent="-228600">
              <a:spcBef>
                <a:spcPts val="500"/>
              </a:spcBef>
              <a:buChar char="•"/>
            </a:pPr>
            <a:r>
              <a:rPr sz="1500"/>
              <a:t>New tables with primary name, key, ownership, notes and audit</a:t>
            </a:r>
          </a:p>
          <a:p>
            <a:pPr marL="228600" indent="-228600">
              <a:spcBef>
                <a:spcPts val="500"/>
              </a:spcBef>
              <a:buChar char="•"/>
            </a:pPr>
            <a:r>
              <a:rPr sz="1500"/>
              <a:t>Your fields on standard tables, leaving the rest of them alone</a:t>
            </a:r>
          </a:p>
          <a:p>
            <a:pPr marL="228600" indent="-228600">
              <a:spcBef>
                <a:spcPts val="500"/>
              </a:spcBef>
              <a:buChar char="•"/>
            </a:pPr>
            <a:r>
              <a:rPr sz="1500"/>
              <a:t>A relationship per lookup and customer lookup, with cascade; every N:N</a:t>
            </a:r>
          </a:p>
          <a:p>
            <a:pPr marL="228600" indent="-228600">
              <a:spcBef>
                <a:spcPts val="500"/>
              </a:spcBef>
              <a:buChar char="•"/>
            </a:pPr>
            <a:r>
              <a:rPr sz="1500"/>
              <a:t>Lengths, formats, ranges, precision, choices, defaults, required level, field security</a:t>
            </a:r>
          </a:p>
        </p:txBody>
      </p:sp>
      <p:sp>
        <p:nvSpPr>
          <p:cNvPr id="3" name="Text Placeholder 2"/>
          <p:cNvSpPr>
            <a:spLocks noGrp="1"/>
          </p:cNvSpPr>
          <p:nvPr>
            <p:ph type="body" idx="18" sz="quarter"/>
          </p:nvPr>
        </p:nvSpPr>
        <p:spPr/>
        <p:txBody>
          <a:bodyPr/>
          <a:lstStyle/>
          <a:p>
            <a:r>
              <a:t>Built for you</a:t>
            </a:r>
          </a:p>
        </p:txBody>
      </p:sp>
      <p:sp>
        <p:nvSpPr>
          <p:cNvPr id="4" name="Text Placeholder 3"/>
          <p:cNvSpPr>
            <a:spLocks noGrp="1"/>
          </p:cNvSpPr>
          <p:nvPr>
            <p:ph type="body" idx="19" sz="quarter"/>
          </p:nvPr>
        </p:nvSpPr>
        <p:spPr/>
        <p:txBody>
          <a:bodyPr/>
          <a:lstStyle/>
          <a:p>
            <a:pPr marL="228600" indent="-228600">
              <a:spcBef>
                <a:spcPts val="500"/>
              </a:spcBef>
              <a:buChar char="•"/>
            </a:pPr>
            <a:r>
              <a:rPr sz="1500"/>
              <a:t>Calculated and rollup fields (with a workbook to build them)</a:t>
            </a:r>
          </a:p>
          <a:p>
            <a:pPr marL="228600" indent="-228600">
              <a:spcBef>
                <a:spcPts val="500"/>
              </a:spcBef>
              <a:buChar char="•"/>
            </a:pPr>
            <a:r>
              <a:rPr sz="1500"/>
              <a:t>Activity tables and lookups to several tables</a:t>
            </a:r>
          </a:p>
          <a:p>
            <a:pPr marL="228600" indent="-228600">
              <a:spcBef>
                <a:spcPts val="500"/>
              </a:spcBef>
              <a:buChar char="•"/>
            </a:pPr>
            <a:r>
              <a:rPr sz="1500"/>
              <a:t>Image and file fields; choices with no options</a:t>
            </a:r>
          </a:p>
          <a:p>
            <a:pPr marL="228600" indent="-228600">
              <a:spcBef>
                <a:spcPts val="500"/>
              </a:spcBef>
              <a:buChar char="•"/>
            </a:pPr>
            <a:r>
              <a:rPr sz="1500"/>
              <a:t>Tables with no primary name, or a key that isn’t a GUID</a:t>
            </a:r>
          </a:p>
          <a:p>
            <a:pPr marL="228600" indent="-228600">
              <a:spcBef>
                <a:spcPts val="500"/>
              </a:spcBef>
              <a:buChar char="•"/>
            </a:pPr>
            <a:r>
              <a:rPr sz="1500"/>
              <a:t>Forms and views</a:t>
            </a:r>
          </a:p>
        </p:txBody>
      </p:sp>
      <p:sp>
        <p:nvSpPr>
          <p:cNvPr id="5" name="Text Placeholder 4"/>
          <p:cNvSpPr>
            <a:spLocks noGrp="1"/>
          </p:cNvSpPr>
          <p:nvPr>
            <p:ph type="body" idx="20" sz="quarter"/>
          </p:nvPr>
        </p:nvSpPr>
        <p:spPr/>
        <p:txBody>
          <a:bodyPr/>
          <a:lstStyle/>
          <a:p>
            <a:r>
              <a:t>Listed in the report instead</a:t>
            </a:r>
          </a:p>
        </p:txBody>
      </p:sp>
      <p:sp>
        <p:nvSpPr>
          <p:cNvPr id="6" name="Text Placeholder 5"/>
          <p:cNvSpPr>
            <a:spLocks noGrp="1"/>
          </p:cNvSpPr>
          <p:nvPr>
            <p:ph type="body" idx="13" sz="quarter"/>
          </p:nvPr>
        </p:nvSpPr>
        <p:spPr/>
        <p:txBody>
          <a:bodyPr/>
          <a:lstStyle/>
          <a:p>
            <a:r>
              <a:t>What the solution contains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One download</a:t>
            </a:r>
          </a:p>
        </p:txBody>
      </p:sp>
      <p:graphicFrame>
        <p:nvGraphicFramePr>
          <p:cNvPr id="4" name="Table 3"/>
          <p:cNvGraphicFramePr>
            <a:graphicFrameLocks noGrp="1"/>
          </p:cNvGraphicFramePr>
          <p:nvPr/>
        </p:nvGraphicFramePr>
        <p:xfrm>
          <a:off x="493776" y="1600200"/>
          <a:ext cx="11155680" cy="3108960"/>
        </p:xfrm>
        <a:graphic>
          <a:graphicData uri="http://schemas.openxmlformats.org/drawingml/2006/table">
            <a:tbl>
              <a:tblPr firstRow="1" bandRow="1">
                <a:tableStyleId>{5C22544A-7EE6-4342-B048-85BDC9FD1C3A}</a:tableStyleId>
              </a:tblPr>
              <a:tblGrid>
                <a:gridCol w="3931920"/>
                <a:gridCol w="7223760"/>
              </a:tblGrid>
              <a:tr h="518160">
                <a:tc>
                  <a:txBody>
                    <a:bodyPr/>
                    <a:lstStyle/>
                    <a:p>
                      <a:r>
                        <a:rPr sz="1500" b="1">
                          <a:solidFill>
                            <a:schemeClr val="bg1"/>
                          </a:solidFill>
                        </a:rPr>
                        <a:t>File</a:t>
                      </a:r>
                    </a:p>
                  </a:txBody>
                  <a:tcPr marL="109728" marR="109728" marT="54864" marB="54864" anchor="ctr">
                    <a:solidFill>
                      <a:schemeClr val="accent1"/>
                    </a:solidFill>
                  </a:tcPr>
                </a:tc>
                <a:tc>
                  <a:txBody>
                    <a:bodyPr/>
                    <a:lstStyle/>
                    <a:p>
                      <a:r>
                        <a:rPr sz="1500" b="1">
                          <a:solidFill>
                            <a:schemeClr val="bg1"/>
                          </a:solidFill>
                        </a:rPr>
                        <a:t>What it is</a:t>
                      </a:r>
                    </a:p>
                  </a:txBody>
                  <a:tcPr marL="109728" marR="109728" marT="54864" marB="54864" anchor="ctr">
                    <a:solidFill>
                      <a:schemeClr val="accent1"/>
                    </a:solidFill>
                  </a:tcPr>
                </a:tc>
              </a:tr>
              <a:tr h="518160">
                <a:tc>
                  <a:txBody>
                    <a:bodyPr/>
                    <a:lstStyle/>
                    <a:p>
                      <a:r>
                        <a:rPr sz="1500" b="1">
                          <a:solidFill>
                            <a:schemeClr val="accent1"/>
                          </a:solidFill>
                        </a:rPr>
                        <a:t>&lt;SolutionName&gt;_&lt;version&gt;.zip</a:t>
                      </a:r>
                    </a:p>
                  </a:txBody>
                  <a:tcPr marL="109728" marR="109728" marT="54864" marB="54864" anchor="ctr">
                    <a:solidFill>
                      <a:schemeClr val="bg1"/>
                    </a:solidFill>
                  </a:tcPr>
                </a:tc>
                <a:tc>
                  <a:txBody>
                    <a:bodyPr/>
                    <a:lstStyle/>
                    <a:p>
                      <a:r>
                        <a:rPr sz="1500" b="0">
                          <a:solidFill>
                            <a:schemeClr val="tx1"/>
                          </a:solidFill>
                        </a:rPr>
                        <a:t>The unmanaged solution</a:t>
                      </a:r>
                    </a:p>
                  </a:txBody>
                  <a:tcPr marL="109728" marR="109728" marT="54864" marB="54864" anchor="ctr">
                    <a:solidFill>
                      <a:schemeClr val="bg1"/>
                    </a:solidFill>
                  </a:tcPr>
                </a:tc>
              </a:tr>
              <a:tr h="518160">
                <a:tc>
                  <a:txBody>
                    <a:bodyPr/>
                    <a:lstStyle/>
                    <a:p>
                      <a:r>
                        <a:rPr sz="1500" b="1">
                          <a:solidFill>
                            <a:schemeClr val="accent1"/>
                          </a:solidFill>
                        </a:rPr>
                        <a:t>import.ps1</a:t>
                      </a:r>
                    </a:p>
                  </a:txBody>
                  <a:tcPr marL="109728" marR="109728" marT="54864" marB="54864" anchor="ctr">
                    <a:solidFill>
                      <a:schemeClr val="accent5"/>
                    </a:solidFill>
                  </a:tcPr>
                </a:tc>
                <a:tc>
                  <a:txBody>
                    <a:bodyPr/>
                    <a:lstStyle/>
                    <a:p>
                      <a:r>
                        <a:rPr sz="1500" b="0">
                          <a:solidFill>
                            <a:schemeClr val="tx1"/>
                          </a:solidFill>
                        </a:rPr>
                        <a:t>Imports it with the Power Platform CLI, installing it if needed</a:t>
                      </a:r>
                    </a:p>
                  </a:txBody>
                  <a:tcPr marL="109728" marR="109728" marT="54864" marB="54864" anchor="ctr">
                    <a:solidFill>
                      <a:schemeClr val="accent5"/>
                    </a:solidFill>
                  </a:tcPr>
                </a:tc>
              </a:tr>
              <a:tr h="518160">
                <a:tc>
                  <a:txBody>
                    <a:bodyPr/>
                    <a:lstStyle/>
                    <a:p>
                      <a:r>
                        <a:rPr sz="1500" b="1">
                          <a:solidFill>
                            <a:schemeClr val="accent1"/>
                          </a:solidFill>
                        </a:rPr>
                        <a:t>build-report.csv</a:t>
                      </a:r>
                    </a:p>
                  </a:txBody>
                  <a:tcPr marL="109728" marR="109728" marT="54864" marB="54864" anchor="ctr">
                    <a:solidFill>
                      <a:schemeClr val="bg1"/>
                    </a:solidFill>
                  </a:tcPr>
                </a:tc>
                <a:tc>
                  <a:txBody>
                    <a:bodyPr/>
                    <a:lstStyle/>
                    <a:p>
                      <a:r>
                        <a:rPr sz="1500" b="0">
                          <a:solidFill>
                            <a:schemeClr val="tx1"/>
                          </a:solidFill>
                        </a:rPr>
                        <a:t>Every table, field and relationship: included, not included (and why), or to build by hand</a:t>
                      </a:r>
                    </a:p>
                  </a:txBody>
                  <a:tcPr marL="109728" marR="109728" marT="54864" marB="54864" anchor="ctr">
                    <a:solidFill>
                      <a:schemeClr val="bg1"/>
                    </a:solidFill>
                  </a:tcPr>
                </a:tc>
              </a:tr>
              <a:tr h="518160">
                <a:tc>
                  <a:txBody>
                    <a:bodyPr/>
                    <a:lstStyle/>
                    <a:p>
                      <a:r>
                        <a:rPr sz="1500" b="1">
                          <a:solidFill>
                            <a:schemeClr val="accent1"/>
                          </a:solidFill>
                        </a:rPr>
                        <a:t>calculated-and-rollup-fields.xlsx</a:t>
                      </a:r>
                    </a:p>
                  </a:txBody>
                  <a:tcPr marL="109728" marR="109728" marT="54864" marB="54864" anchor="ctr">
                    <a:solidFill>
                      <a:schemeClr val="accent5"/>
                    </a:solidFill>
                  </a:tcPr>
                </a:tc>
                <a:tc>
                  <a:txBody>
                    <a:bodyPr/>
                    <a:lstStyle/>
                    <a:p>
                      <a:r>
                        <a:rPr sz="1500" b="0">
                          <a:solidFill>
                            <a:schemeClr val="tx1"/>
                          </a:solidFill>
                        </a:rPr>
                        <a:t>The fields to create by hand, per table, with a column for the formula</a:t>
                      </a:r>
                    </a:p>
                  </a:txBody>
                  <a:tcPr marL="109728" marR="109728" marT="54864" marB="54864" anchor="ctr">
                    <a:solidFill>
                      <a:schemeClr val="accent5"/>
                    </a:solidFill>
                  </a:tcPr>
                </a:tc>
              </a:tr>
              <a:tr h="518160">
                <a:tc>
                  <a:txBody>
                    <a:bodyPr/>
                    <a:lstStyle/>
                    <a:p>
                      <a:r>
                        <a:rPr sz="1500" b="1">
                          <a:solidFill>
                            <a:schemeClr val="accent1"/>
                          </a:solidFill>
                        </a:rPr>
                        <a:t>README.txt</a:t>
                      </a:r>
                    </a:p>
                  </a:txBody>
                  <a:tcPr marL="109728" marR="109728" marT="54864" marB="54864" anchor="ctr">
                    <a:solidFill>
                      <a:schemeClr val="bg1"/>
                    </a:solidFill>
                  </a:tcPr>
                </a:tc>
                <a:tc>
                  <a:txBody>
                    <a:bodyPr/>
                    <a:lstStyle/>
                    <a:p>
                      <a:r>
                        <a:rPr sz="1500" b="0">
                          <a:solidFill>
                            <a:schemeClr val="tx1"/>
                          </a:solidFill>
                        </a:rPr>
                        <a:t>The import steps</a:t>
                      </a:r>
                    </a:p>
                  </a:txBody>
                  <a:tcPr marL="109728" marR="109728" marT="54864" marB="54864" anchor="ctr">
                    <a:solidFill>
                      <a:schemeClr val="bg1"/>
                    </a:solidFill>
                  </a:tcPr>
                </a:tc>
              </a:tr>
            </a:tbl>
          </a:graphicData>
        </a:graphic>
      </p:graphicFrame>
      <p:sp>
        <p:nvSpPr>
          <p:cNvPr id="5" name="TextBox 4"/>
          <p:cNvSpPr txBox="1"/>
          <p:nvPr/>
        </p:nvSpPr>
        <p:spPr>
          <a:xfrm>
            <a:off x="493776" y="5074920"/>
            <a:ext cx="11155680" cy="731520"/>
          </a:xfrm>
          <a:prstGeom prst="rect">
            <a:avLst/>
          </a:prstGeom>
          <a:noFill/>
        </p:spPr>
        <p:txBody>
          <a:bodyPr wrap="square" anchor="t" lIns="0" rIns="0" tIns="0" bIns="0">
            <a:spAutoFit/>
          </a:bodyPr>
          <a:lstStyle/>
          <a:p>
            <a:pPr algn="l">
              <a:spcAft>
                <a:spcPts val="600"/>
              </a:spcAft>
            </a:pPr>
            <a:r>
              <a:rPr sz="1500" b="0">
                <a:solidFill>
                  <a:srgbClr val="3E556B"/>
                </a:solidFill>
              </a:rPr>
              <a:t>Export → Import script (import.ps1) downloads the script on its own, for a solution zip you already have.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9" sz="quarter"/>
          </p:nvPr>
        </p:nvSpPr>
        <p:spPr/>
        <p:txBody>
          <a:bodyPr/>
          <a:lstStyle/>
          <a:p>
            <a:pPr marL="228600" indent="-228600">
              <a:spcBef>
                <a:spcPts val="500"/>
              </a:spcBef>
              <a:buChar char="•"/>
            </a:pPr>
            <a:r>
              <a:rPr sz="1500"/>
              <a:t>-EnvironmentUrl: the environment to import into</a:t>
            </a:r>
          </a:p>
          <a:p>
            <a:pPr marL="228600" indent="-228600">
              <a:spcBef>
                <a:spcPts val="500"/>
              </a:spcBef>
              <a:buChar char="•"/>
            </a:pPr>
            <a:r>
              <a:rPr sz="1500"/>
              <a:t>-Check: run Microsoft’s solution checker first</a:t>
            </a:r>
          </a:p>
          <a:p>
            <a:pPr marL="228600" indent="-228600">
              <a:spcBef>
                <a:spcPts val="500"/>
              </a:spcBef>
              <a:buChar char="•"/>
            </a:pPr>
            <a:r>
              <a:rPr sz="1500"/>
              <a:t>-SolutionPath: import a different zip</a:t>
            </a:r>
          </a:p>
          <a:p>
            <a:pPr marL="228600" indent="-228600">
              <a:spcBef>
                <a:spcPts val="500"/>
              </a:spcBef>
              <a:buChar char="•"/>
            </a:pPr>
            <a:r>
              <a:rPr sz="1500"/>
              <a:t>Blocked? Run Unblock-File .\import.ps1 once</a:t>
            </a:r>
          </a:p>
        </p:txBody>
      </p:sp>
      <p:sp>
        <p:nvSpPr>
          <p:cNvPr id="4" name="Text Placeholder 3"/>
          <p:cNvSpPr>
            <a:spLocks noGrp="1"/>
          </p:cNvSpPr>
          <p:nvPr>
            <p:ph type="body" idx="20" sz="quarter"/>
          </p:nvPr>
        </p:nvSpPr>
        <p:spPr/>
        <p:txBody>
          <a:bodyPr/>
          <a:lstStyle/>
          <a:p>
            <a:r>
              <a:t>Options</a:t>
            </a:r>
          </a:p>
        </p:txBody>
      </p:sp>
      <p:sp>
        <p:nvSpPr>
          <p:cNvPr id="5" name="Text Placeholder 4"/>
          <p:cNvSpPr>
            <a:spLocks noGrp="1"/>
          </p:cNvSpPr>
          <p:nvPr>
            <p:ph type="body" idx="13" sz="quarter"/>
          </p:nvPr>
        </p:nvSpPr>
        <p:spPr/>
        <p:txBody>
          <a:bodyPr/>
          <a:lstStyle/>
          <a:p>
            <a:r>
              <a:t>Importing with import.ps1</a:t>
            </a:r>
          </a:p>
        </p:txBody>
      </p:sp>
      <p:sp>
        <p:nvSpPr>
          <p:cNvPr id="6" name="Step"/>
          <p:cNvSpPr/>
          <p:nvPr/>
        </p:nvSpPr>
        <p:spPr>
          <a:xfrm>
            <a:off x="6675120" y="1691640"/>
            <a:ext cx="4937760" cy="8686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949440" y="1801368"/>
            <a:ext cx="4480560" cy="365760"/>
          </a:xfrm>
          <a:prstGeom prst="rect">
            <a:avLst/>
          </a:prstGeom>
          <a:noFill/>
        </p:spPr>
        <p:txBody>
          <a:bodyPr wrap="square" anchor="t" lIns="0" rIns="0" tIns="0" bIns="0">
            <a:spAutoFit/>
          </a:bodyPr>
          <a:lstStyle/>
          <a:p>
            <a:pPr algn="l">
              <a:spcAft>
                <a:spcPts val="600"/>
              </a:spcAft>
            </a:pPr>
            <a:r>
              <a:rPr sz="1800" b="1">
                <a:solidFill>
                  <a:schemeClr val="accent1"/>
                </a:solidFill>
              </a:rPr>
              <a:t>Unzip</a:t>
            </a:r>
          </a:p>
        </p:txBody>
      </p:sp>
      <p:sp>
        <p:nvSpPr>
          <p:cNvPr id="8" name="TextBox 7"/>
          <p:cNvSpPr txBox="1"/>
          <p:nvPr/>
        </p:nvSpPr>
        <p:spPr>
          <a:xfrm>
            <a:off x="6949440" y="2148840"/>
            <a:ext cx="4480560" cy="320040"/>
          </a:xfrm>
          <a:prstGeom prst="rect">
            <a:avLst/>
          </a:prstGeom>
          <a:noFill/>
        </p:spPr>
        <p:txBody>
          <a:bodyPr wrap="square" anchor="t" lIns="0" rIns="0" tIns="0" bIns="0">
            <a:spAutoFit/>
          </a:bodyPr>
          <a:lstStyle/>
          <a:p>
            <a:pPr algn="l">
              <a:spcAft>
                <a:spcPts val="600"/>
              </a:spcAft>
            </a:pPr>
            <a:r>
              <a:rPr sz="1400" b="0">
                <a:solidFill>
                  <a:srgbClr val="3E556B"/>
                </a:solidFill>
              </a:rPr>
              <a:t>Into a folder, then open PowerShell there</a:t>
            </a:r>
          </a:p>
        </p:txBody>
      </p:sp>
      <p:sp>
        <p:nvSpPr>
          <p:cNvPr id="9" name="Arrow"/>
          <p:cNvSpPr/>
          <p:nvPr/>
        </p:nvSpPr>
        <p:spPr>
          <a:xfrm>
            <a:off x="9006840" y="2587752"/>
            <a:ext cx="274320" cy="310896"/>
          </a:xfrm>
          <a:prstGeom prst="downArrow">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ep"/>
          <p:cNvSpPr/>
          <p:nvPr/>
        </p:nvSpPr>
        <p:spPr>
          <a:xfrm>
            <a:off x="6675120" y="2926080"/>
            <a:ext cx="4937760" cy="8686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949440" y="3035808"/>
            <a:ext cx="4480560" cy="365760"/>
          </a:xfrm>
          <a:prstGeom prst="rect">
            <a:avLst/>
          </a:prstGeom>
          <a:noFill/>
        </p:spPr>
        <p:txBody>
          <a:bodyPr wrap="square" anchor="t" lIns="0" rIns="0" tIns="0" bIns="0">
            <a:spAutoFit/>
          </a:bodyPr>
          <a:lstStyle/>
          <a:p>
            <a:pPr algn="l">
              <a:spcAft>
                <a:spcPts val="600"/>
              </a:spcAft>
            </a:pPr>
            <a:r>
              <a:rPr sz="1800" b="1">
                <a:solidFill>
                  <a:schemeClr val="accent1"/>
                </a:solidFill>
              </a:rPr>
              <a:t>Run the script</a:t>
            </a:r>
          </a:p>
        </p:txBody>
      </p:sp>
      <p:sp>
        <p:nvSpPr>
          <p:cNvPr id="12" name="TextBox 11"/>
          <p:cNvSpPr txBox="1"/>
          <p:nvPr/>
        </p:nvSpPr>
        <p:spPr>
          <a:xfrm>
            <a:off x="6949440" y="3383280"/>
            <a:ext cx="4480560" cy="320040"/>
          </a:xfrm>
          <a:prstGeom prst="rect">
            <a:avLst/>
          </a:prstGeom>
          <a:noFill/>
        </p:spPr>
        <p:txBody>
          <a:bodyPr wrap="square" anchor="t" lIns="0" rIns="0" tIns="0" bIns="0">
            <a:spAutoFit/>
          </a:bodyPr>
          <a:lstStyle/>
          <a:p>
            <a:pPr algn="l">
              <a:spcAft>
                <a:spcPts val="600"/>
              </a:spcAft>
            </a:pPr>
            <a:r>
              <a:rPr sz="1400" b="0">
                <a:solidFill>
                  <a:srgbClr val="3E556B"/>
                </a:solidFill>
              </a:rPr>
              <a:t>.\import.ps1 -EnvironmentUrl https://…</a:t>
            </a:r>
          </a:p>
        </p:txBody>
      </p:sp>
      <p:sp>
        <p:nvSpPr>
          <p:cNvPr id="13" name="Arrow"/>
          <p:cNvSpPr/>
          <p:nvPr/>
        </p:nvSpPr>
        <p:spPr>
          <a:xfrm>
            <a:off x="9006840" y="3822191"/>
            <a:ext cx="274320" cy="310896"/>
          </a:xfrm>
          <a:prstGeom prst="downArrow">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ep"/>
          <p:cNvSpPr/>
          <p:nvPr/>
        </p:nvSpPr>
        <p:spPr>
          <a:xfrm>
            <a:off x="6675120" y="4160520"/>
            <a:ext cx="4937760" cy="8686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0" y="4270248"/>
            <a:ext cx="4480560" cy="365760"/>
          </a:xfrm>
          <a:prstGeom prst="rect">
            <a:avLst/>
          </a:prstGeom>
          <a:noFill/>
        </p:spPr>
        <p:txBody>
          <a:bodyPr wrap="square" anchor="t" lIns="0" rIns="0" tIns="0" bIns="0">
            <a:spAutoFit/>
          </a:bodyPr>
          <a:lstStyle/>
          <a:p>
            <a:pPr algn="l">
              <a:spcAft>
                <a:spcPts val="600"/>
              </a:spcAft>
            </a:pPr>
            <a:r>
              <a:rPr sz="1800" b="1">
                <a:solidFill>
                  <a:schemeClr val="accent1"/>
                </a:solidFill>
              </a:rPr>
              <a:t>Sign in</a:t>
            </a:r>
          </a:p>
        </p:txBody>
      </p:sp>
      <p:sp>
        <p:nvSpPr>
          <p:cNvPr id="16" name="TextBox 15"/>
          <p:cNvSpPr txBox="1"/>
          <p:nvPr/>
        </p:nvSpPr>
        <p:spPr>
          <a:xfrm>
            <a:off x="6949440" y="4617720"/>
            <a:ext cx="4480560" cy="320040"/>
          </a:xfrm>
          <a:prstGeom prst="rect">
            <a:avLst/>
          </a:prstGeom>
          <a:noFill/>
        </p:spPr>
        <p:txBody>
          <a:bodyPr wrap="square" anchor="t" lIns="0" rIns="0" tIns="0" bIns="0">
            <a:spAutoFit/>
          </a:bodyPr>
          <a:lstStyle/>
          <a:p>
            <a:pPr algn="l">
              <a:spcAft>
                <a:spcPts val="600"/>
              </a:spcAft>
            </a:pPr>
            <a:r>
              <a:rPr sz="1400" b="0">
                <a:solidFill>
                  <a:srgbClr val="3E556B"/>
                </a:solidFill>
              </a:rPr>
              <a:t>pac is installed if missing; a browser opens</a:t>
            </a:r>
          </a:p>
        </p:txBody>
      </p:sp>
      <p:sp>
        <p:nvSpPr>
          <p:cNvPr id="17" name="Arrow"/>
          <p:cNvSpPr/>
          <p:nvPr/>
        </p:nvSpPr>
        <p:spPr>
          <a:xfrm>
            <a:off x="9006840" y="5056632"/>
            <a:ext cx="274320" cy="310896"/>
          </a:xfrm>
          <a:prstGeom prst="downArrow">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ep"/>
          <p:cNvSpPr/>
          <p:nvPr/>
        </p:nvSpPr>
        <p:spPr>
          <a:xfrm>
            <a:off x="6675120" y="5394960"/>
            <a:ext cx="4937760" cy="8686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949440" y="5504688"/>
            <a:ext cx="4480560" cy="365760"/>
          </a:xfrm>
          <a:prstGeom prst="rect">
            <a:avLst/>
          </a:prstGeom>
          <a:noFill/>
        </p:spPr>
        <p:txBody>
          <a:bodyPr wrap="square" anchor="t" lIns="0" rIns="0" tIns="0" bIns="0">
            <a:spAutoFit/>
          </a:bodyPr>
          <a:lstStyle/>
          <a:p>
            <a:pPr algn="l">
              <a:spcAft>
                <a:spcPts val="600"/>
              </a:spcAft>
            </a:pPr>
            <a:r>
              <a:rPr sz="1800" b="1">
                <a:solidFill>
                  <a:schemeClr val="accent1"/>
                </a:solidFill>
              </a:rPr>
              <a:t>Imported and published</a:t>
            </a:r>
          </a:p>
        </p:txBody>
      </p:sp>
      <p:sp>
        <p:nvSpPr>
          <p:cNvPr id="20" name="TextBox 19"/>
          <p:cNvSpPr txBox="1"/>
          <p:nvPr/>
        </p:nvSpPr>
        <p:spPr>
          <a:xfrm>
            <a:off x="6949440" y="5852160"/>
            <a:ext cx="4480560" cy="320040"/>
          </a:xfrm>
          <a:prstGeom prst="rect">
            <a:avLst/>
          </a:prstGeom>
          <a:noFill/>
        </p:spPr>
        <p:txBody>
          <a:bodyPr wrap="square" anchor="t" lIns="0" rIns="0" tIns="0" bIns="0">
            <a:spAutoFit/>
          </a:bodyPr>
          <a:lstStyle/>
          <a:p>
            <a:pPr algn="l">
              <a:spcAft>
                <a:spcPts val="600"/>
              </a:spcAft>
            </a:pPr>
            <a:r>
              <a:rPr sz="1400" b="0">
                <a:solidFill>
                  <a:srgbClr val="3E556B"/>
                </a:solidFill>
              </a:rPr>
              <a:t>Into development first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After the import</a:t>
            </a:r>
          </a:p>
        </p:txBody>
      </p:sp>
      <p:sp>
        <p:nvSpPr>
          <p:cNvPr id="4" name="Step card"/>
          <p:cNvSpPr/>
          <p:nvPr/>
        </p:nvSpPr>
        <p:spPr>
          <a:xfrm>
            <a:off x="493776" y="1600200"/>
            <a:ext cx="3520440" cy="196596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68096" y="1783080"/>
            <a:ext cx="731520" cy="548640"/>
          </a:xfrm>
          <a:prstGeom prst="rect">
            <a:avLst/>
          </a:prstGeom>
          <a:noFill/>
        </p:spPr>
        <p:txBody>
          <a:bodyPr wrap="square" anchor="t" lIns="0" rIns="0" tIns="0" bIns="0">
            <a:spAutoFit/>
          </a:bodyPr>
          <a:lstStyle/>
          <a:p>
            <a:pPr algn="l">
              <a:spcAft>
                <a:spcPts val="600"/>
              </a:spcAft>
            </a:pPr>
            <a:r>
              <a:rPr sz="2800" b="1">
                <a:solidFill>
                  <a:schemeClr val="accent2"/>
                </a:solidFill>
              </a:rPr>
              <a:t>1</a:t>
            </a:r>
          </a:p>
        </p:txBody>
      </p:sp>
      <p:sp>
        <p:nvSpPr>
          <p:cNvPr id="6" name="TextBox 5"/>
          <p:cNvSpPr txBox="1"/>
          <p:nvPr/>
        </p:nvSpPr>
        <p:spPr>
          <a:xfrm>
            <a:off x="768096" y="2331720"/>
            <a:ext cx="2971800" cy="365760"/>
          </a:xfrm>
          <a:prstGeom prst="rect">
            <a:avLst/>
          </a:prstGeom>
          <a:noFill/>
        </p:spPr>
        <p:txBody>
          <a:bodyPr wrap="square" anchor="t" lIns="0" rIns="0" tIns="0" bIns="0">
            <a:spAutoFit/>
          </a:bodyPr>
          <a:lstStyle/>
          <a:p>
            <a:pPr algn="l">
              <a:spcAft>
                <a:spcPts val="600"/>
              </a:spcAft>
            </a:pPr>
            <a:r>
              <a:rPr sz="1900" b="1">
                <a:solidFill>
                  <a:schemeClr val="accent1"/>
                </a:solidFill>
              </a:rPr>
              <a:t>Check the report</a:t>
            </a:r>
          </a:p>
        </p:txBody>
      </p:sp>
      <p:sp>
        <p:nvSpPr>
          <p:cNvPr id="7" name="TextBox 6"/>
          <p:cNvSpPr txBox="1"/>
          <p:nvPr/>
        </p:nvSpPr>
        <p:spPr>
          <a:xfrm>
            <a:off x="768096" y="2715768"/>
            <a:ext cx="2971800" cy="777240"/>
          </a:xfrm>
          <a:prstGeom prst="rect">
            <a:avLst/>
          </a:prstGeom>
          <a:noFill/>
        </p:spPr>
        <p:txBody>
          <a:bodyPr wrap="square" anchor="t" lIns="0" rIns="0" tIns="0" bIns="0">
            <a:spAutoFit/>
          </a:bodyPr>
          <a:lstStyle/>
          <a:p>
            <a:pPr algn="l">
              <a:spcAft>
                <a:spcPts val="600"/>
              </a:spcAft>
            </a:pPr>
            <a:r>
              <a:rPr sz="1400" b="0">
                <a:solidFill>
                  <a:srgbClr val="3E556B"/>
                </a:solidFill>
              </a:rPr>
              <a:t>Deal with anything marked Not included in build-report.csv</a:t>
            </a:r>
          </a:p>
        </p:txBody>
      </p:sp>
      <p:sp>
        <p:nvSpPr>
          <p:cNvPr id="8" name="Step card"/>
          <p:cNvSpPr/>
          <p:nvPr/>
        </p:nvSpPr>
        <p:spPr>
          <a:xfrm>
            <a:off x="4288536" y="1600200"/>
            <a:ext cx="3520440" cy="196596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62856" y="1783080"/>
            <a:ext cx="731520" cy="548640"/>
          </a:xfrm>
          <a:prstGeom prst="rect">
            <a:avLst/>
          </a:prstGeom>
          <a:noFill/>
        </p:spPr>
        <p:txBody>
          <a:bodyPr wrap="square" anchor="t" lIns="0" rIns="0" tIns="0" bIns="0">
            <a:spAutoFit/>
          </a:bodyPr>
          <a:lstStyle/>
          <a:p>
            <a:pPr algn="l">
              <a:spcAft>
                <a:spcPts val="600"/>
              </a:spcAft>
            </a:pPr>
            <a:r>
              <a:rPr sz="2800" b="1">
                <a:solidFill>
                  <a:schemeClr val="accent2"/>
                </a:solidFill>
              </a:rPr>
              <a:t>2</a:t>
            </a:r>
          </a:p>
        </p:txBody>
      </p:sp>
      <p:sp>
        <p:nvSpPr>
          <p:cNvPr id="10" name="TextBox 9"/>
          <p:cNvSpPr txBox="1"/>
          <p:nvPr/>
        </p:nvSpPr>
        <p:spPr>
          <a:xfrm>
            <a:off x="4562856" y="2331720"/>
            <a:ext cx="2971800" cy="365760"/>
          </a:xfrm>
          <a:prstGeom prst="rect">
            <a:avLst/>
          </a:prstGeom>
          <a:noFill/>
        </p:spPr>
        <p:txBody>
          <a:bodyPr wrap="square" anchor="t" lIns="0" rIns="0" tIns="0" bIns="0">
            <a:spAutoFit/>
          </a:bodyPr>
          <a:lstStyle/>
          <a:p>
            <a:pPr algn="l">
              <a:spcAft>
                <a:spcPts val="600"/>
              </a:spcAft>
            </a:pPr>
            <a:r>
              <a:rPr sz="1900" b="1">
                <a:solidFill>
                  <a:schemeClr val="accent1"/>
                </a:solidFill>
              </a:rPr>
              <a:t>Build by hand</a:t>
            </a:r>
          </a:p>
        </p:txBody>
      </p:sp>
      <p:sp>
        <p:nvSpPr>
          <p:cNvPr id="11" name="TextBox 10"/>
          <p:cNvSpPr txBox="1"/>
          <p:nvPr/>
        </p:nvSpPr>
        <p:spPr>
          <a:xfrm>
            <a:off x="4562856" y="2715768"/>
            <a:ext cx="2971800" cy="777240"/>
          </a:xfrm>
          <a:prstGeom prst="rect">
            <a:avLst/>
          </a:prstGeom>
          <a:noFill/>
        </p:spPr>
        <p:txBody>
          <a:bodyPr wrap="square" anchor="t" lIns="0" rIns="0" tIns="0" bIns="0">
            <a:spAutoFit/>
          </a:bodyPr>
          <a:lstStyle/>
          <a:p>
            <a:pPr algn="l">
              <a:spcAft>
                <a:spcPts val="600"/>
              </a:spcAft>
            </a:pPr>
            <a:r>
              <a:rPr sz="1400" b="0">
                <a:solidFill>
                  <a:srgbClr val="3E556B"/>
                </a:solidFill>
              </a:rPr>
              <a:t>Create the calculated and rollup fields with their formulas</a:t>
            </a:r>
          </a:p>
        </p:txBody>
      </p:sp>
      <p:sp>
        <p:nvSpPr>
          <p:cNvPr id="12" name="Step card"/>
          <p:cNvSpPr/>
          <p:nvPr/>
        </p:nvSpPr>
        <p:spPr>
          <a:xfrm>
            <a:off x="8083296" y="1600200"/>
            <a:ext cx="3520440" cy="196596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57616" y="1783080"/>
            <a:ext cx="731520" cy="548640"/>
          </a:xfrm>
          <a:prstGeom prst="rect">
            <a:avLst/>
          </a:prstGeom>
          <a:noFill/>
        </p:spPr>
        <p:txBody>
          <a:bodyPr wrap="square" anchor="t" lIns="0" rIns="0" tIns="0" bIns="0">
            <a:spAutoFit/>
          </a:bodyPr>
          <a:lstStyle/>
          <a:p>
            <a:pPr algn="l">
              <a:spcAft>
                <a:spcPts val="600"/>
              </a:spcAft>
            </a:pPr>
            <a:r>
              <a:rPr sz="2800" b="1">
                <a:solidFill>
                  <a:schemeClr val="accent2"/>
                </a:solidFill>
              </a:rPr>
              <a:t>3</a:t>
            </a:r>
          </a:p>
        </p:txBody>
      </p:sp>
      <p:sp>
        <p:nvSpPr>
          <p:cNvPr id="14" name="TextBox 13"/>
          <p:cNvSpPr txBox="1"/>
          <p:nvPr/>
        </p:nvSpPr>
        <p:spPr>
          <a:xfrm>
            <a:off x="8357616" y="2331720"/>
            <a:ext cx="2971800" cy="365760"/>
          </a:xfrm>
          <a:prstGeom prst="rect">
            <a:avLst/>
          </a:prstGeom>
          <a:noFill/>
        </p:spPr>
        <p:txBody>
          <a:bodyPr wrap="square" anchor="t" lIns="0" rIns="0" tIns="0" bIns="0">
            <a:spAutoFit/>
          </a:bodyPr>
          <a:lstStyle/>
          <a:p>
            <a:pPr algn="l">
              <a:spcAft>
                <a:spcPts val="600"/>
              </a:spcAft>
            </a:pPr>
            <a:r>
              <a:rPr sz="1900" b="1">
                <a:solidFill>
                  <a:schemeClr val="accent1"/>
                </a:solidFill>
              </a:rPr>
              <a:t>Turn on activities</a:t>
            </a:r>
          </a:p>
        </p:txBody>
      </p:sp>
      <p:sp>
        <p:nvSpPr>
          <p:cNvPr id="15" name="TextBox 14"/>
          <p:cNvSpPr txBox="1"/>
          <p:nvPr/>
        </p:nvSpPr>
        <p:spPr>
          <a:xfrm>
            <a:off x="8357616" y="2715768"/>
            <a:ext cx="2971800" cy="777240"/>
          </a:xfrm>
          <a:prstGeom prst="rect">
            <a:avLst/>
          </a:prstGeom>
          <a:noFill/>
        </p:spPr>
        <p:txBody>
          <a:bodyPr wrap="square" anchor="t" lIns="0" rIns="0" tIns="0" bIns="0">
            <a:spAutoFit/>
          </a:bodyPr>
          <a:lstStyle/>
          <a:p>
            <a:pPr algn="l">
              <a:spcAft>
                <a:spcPts val="600"/>
              </a:spcAft>
            </a:pPr>
            <a:r>
              <a:rPr sz="1400" b="0">
                <a:solidFill>
                  <a:srgbClr val="3E556B"/>
                </a:solidFill>
              </a:rPr>
              <a:t>For tables with Has Activities set</a:t>
            </a:r>
          </a:p>
        </p:txBody>
      </p:sp>
      <p:sp>
        <p:nvSpPr>
          <p:cNvPr id="16" name="Step card"/>
          <p:cNvSpPr/>
          <p:nvPr/>
        </p:nvSpPr>
        <p:spPr>
          <a:xfrm>
            <a:off x="493776" y="3840480"/>
            <a:ext cx="3520440" cy="196596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68096" y="4023360"/>
            <a:ext cx="731520" cy="548640"/>
          </a:xfrm>
          <a:prstGeom prst="rect">
            <a:avLst/>
          </a:prstGeom>
          <a:noFill/>
        </p:spPr>
        <p:txBody>
          <a:bodyPr wrap="square" anchor="t" lIns="0" rIns="0" tIns="0" bIns="0">
            <a:spAutoFit/>
          </a:bodyPr>
          <a:lstStyle/>
          <a:p>
            <a:pPr algn="l">
              <a:spcAft>
                <a:spcPts val="600"/>
              </a:spcAft>
            </a:pPr>
            <a:r>
              <a:rPr sz="2800" b="1">
                <a:solidFill>
                  <a:schemeClr val="accent2"/>
                </a:solidFill>
              </a:rPr>
              <a:t>4</a:t>
            </a:r>
          </a:p>
        </p:txBody>
      </p:sp>
      <p:sp>
        <p:nvSpPr>
          <p:cNvPr id="18" name="TextBox 17"/>
          <p:cNvSpPr txBox="1"/>
          <p:nvPr/>
        </p:nvSpPr>
        <p:spPr>
          <a:xfrm>
            <a:off x="768096" y="4572000"/>
            <a:ext cx="2971800" cy="365760"/>
          </a:xfrm>
          <a:prstGeom prst="rect">
            <a:avLst/>
          </a:prstGeom>
          <a:noFill/>
        </p:spPr>
        <p:txBody>
          <a:bodyPr wrap="square" anchor="t" lIns="0" rIns="0" tIns="0" bIns="0">
            <a:spAutoFit/>
          </a:bodyPr>
          <a:lstStyle/>
          <a:p>
            <a:pPr algn="l">
              <a:spcAft>
                <a:spcPts val="600"/>
              </a:spcAft>
            </a:pPr>
            <a:r>
              <a:rPr sz="1900" b="1">
                <a:solidFill>
                  <a:schemeClr val="accent1"/>
                </a:solidFill>
              </a:rPr>
              <a:t>Forms and views</a:t>
            </a:r>
          </a:p>
        </p:txBody>
      </p:sp>
      <p:sp>
        <p:nvSpPr>
          <p:cNvPr id="19" name="TextBox 18"/>
          <p:cNvSpPr txBox="1"/>
          <p:nvPr/>
        </p:nvSpPr>
        <p:spPr>
          <a:xfrm>
            <a:off x="768096" y="4956048"/>
            <a:ext cx="2971800" cy="777240"/>
          </a:xfrm>
          <a:prstGeom prst="rect">
            <a:avLst/>
          </a:prstGeom>
          <a:noFill/>
        </p:spPr>
        <p:txBody>
          <a:bodyPr wrap="square" anchor="t" lIns="0" rIns="0" tIns="0" bIns="0">
            <a:spAutoFit/>
          </a:bodyPr>
          <a:lstStyle/>
          <a:p>
            <a:pPr algn="l">
              <a:spcAft>
                <a:spcPts val="600"/>
              </a:spcAft>
            </a:pPr>
            <a:r>
              <a:rPr sz="1400" b="0">
                <a:solidFill>
                  <a:srgbClr val="3E556B"/>
                </a:solidFill>
              </a:rPr>
              <a:t>Lay them out in Power Apps</a:t>
            </a:r>
          </a:p>
        </p:txBody>
      </p:sp>
      <p:sp>
        <p:nvSpPr>
          <p:cNvPr id="20" name="Step card"/>
          <p:cNvSpPr/>
          <p:nvPr/>
        </p:nvSpPr>
        <p:spPr>
          <a:xfrm>
            <a:off x="4288536" y="3840480"/>
            <a:ext cx="3520440" cy="196596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562856" y="4023360"/>
            <a:ext cx="731520" cy="548640"/>
          </a:xfrm>
          <a:prstGeom prst="rect">
            <a:avLst/>
          </a:prstGeom>
          <a:noFill/>
        </p:spPr>
        <p:txBody>
          <a:bodyPr wrap="square" anchor="t" lIns="0" rIns="0" tIns="0" bIns="0">
            <a:spAutoFit/>
          </a:bodyPr>
          <a:lstStyle/>
          <a:p>
            <a:pPr algn="l">
              <a:spcAft>
                <a:spcPts val="600"/>
              </a:spcAft>
            </a:pPr>
            <a:r>
              <a:rPr sz="2800" b="1">
                <a:solidFill>
                  <a:schemeClr val="accent2"/>
                </a:solidFill>
              </a:rPr>
              <a:t>5</a:t>
            </a:r>
          </a:p>
        </p:txBody>
      </p:sp>
      <p:sp>
        <p:nvSpPr>
          <p:cNvPr id="22" name="TextBox 21"/>
          <p:cNvSpPr txBox="1"/>
          <p:nvPr/>
        </p:nvSpPr>
        <p:spPr>
          <a:xfrm>
            <a:off x="4562856" y="4572000"/>
            <a:ext cx="2971800" cy="365760"/>
          </a:xfrm>
          <a:prstGeom prst="rect">
            <a:avLst/>
          </a:prstGeom>
          <a:noFill/>
        </p:spPr>
        <p:txBody>
          <a:bodyPr wrap="square" anchor="t" lIns="0" rIns="0" tIns="0" bIns="0">
            <a:spAutoFit/>
          </a:bodyPr>
          <a:lstStyle/>
          <a:p>
            <a:pPr algn="l">
              <a:spcAft>
                <a:spcPts val="600"/>
              </a:spcAft>
            </a:pPr>
            <a:r>
              <a:rPr sz="1900" b="1">
                <a:solidFill>
                  <a:schemeClr val="accent1"/>
                </a:solidFill>
              </a:rPr>
              <a:t>Compare</a:t>
            </a:r>
          </a:p>
        </p:txBody>
      </p:sp>
      <p:sp>
        <p:nvSpPr>
          <p:cNvPr id="23" name="TextBox 22"/>
          <p:cNvSpPr txBox="1"/>
          <p:nvPr/>
        </p:nvSpPr>
        <p:spPr>
          <a:xfrm>
            <a:off x="4562856" y="4956048"/>
            <a:ext cx="2971800" cy="777240"/>
          </a:xfrm>
          <a:prstGeom prst="rect">
            <a:avLst/>
          </a:prstGeom>
          <a:noFill/>
        </p:spPr>
        <p:txBody>
          <a:bodyPr wrap="square" anchor="t" lIns="0" rIns="0" tIns="0" bIns="0">
            <a:spAutoFit/>
          </a:bodyPr>
          <a:lstStyle/>
          <a:p>
            <a:pPr algn="l">
              <a:spcAft>
                <a:spcPts val="600"/>
              </a:spcAft>
            </a:pPr>
            <a:r>
              <a:rPr sz="1400" b="0">
                <a:solidFill>
                  <a:srgbClr val="3E556B"/>
                </a:solidFill>
              </a:rPr>
              <a:t>Optionally, run the Dataverse check to confirm everything landed</a:t>
            </a:r>
          </a:p>
        </p:txBody>
      </p:sp>
      <p:sp>
        <p:nvSpPr>
          <p:cNvPr id="24" name="Step card"/>
          <p:cNvSpPr/>
          <p:nvPr/>
        </p:nvSpPr>
        <p:spPr>
          <a:xfrm>
            <a:off x="8083296" y="3840480"/>
            <a:ext cx="3520440" cy="196596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57616" y="4023360"/>
            <a:ext cx="731520" cy="548640"/>
          </a:xfrm>
          <a:prstGeom prst="rect">
            <a:avLst/>
          </a:prstGeom>
          <a:noFill/>
        </p:spPr>
        <p:txBody>
          <a:bodyPr wrap="square" anchor="t" lIns="0" rIns="0" tIns="0" bIns="0">
            <a:spAutoFit/>
          </a:bodyPr>
          <a:lstStyle/>
          <a:p>
            <a:pPr algn="l">
              <a:spcAft>
                <a:spcPts val="600"/>
              </a:spcAft>
            </a:pPr>
            <a:r>
              <a:rPr sz="2800" b="1">
                <a:solidFill>
                  <a:schemeClr val="accent2"/>
                </a:solidFill>
              </a:rPr>
              <a:t>6</a:t>
            </a:r>
          </a:p>
        </p:txBody>
      </p:sp>
      <p:sp>
        <p:nvSpPr>
          <p:cNvPr id="26" name="TextBox 25"/>
          <p:cNvSpPr txBox="1"/>
          <p:nvPr/>
        </p:nvSpPr>
        <p:spPr>
          <a:xfrm>
            <a:off x="8357616" y="4572000"/>
            <a:ext cx="2971800" cy="365760"/>
          </a:xfrm>
          <a:prstGeom prst="rect">
            <a:avLst/>
          </a:prstGeom>
          <a:noFill/>
        </p:spPr>
        <p:txBody>
          <a:bodyPr wrap="square" anchor="t" lIns="0" rIns="0" tIns="0" bIns="0">
            <a:spAutoFit/>
          </a:bodyPr>
          <a:lstStyle/>
          <a:p>
            <a:pPr algn="l">
              <a:spcAft>
                <a:spcPts val="600"/>
              </a:spcAft>
            </a:pPr>
            <a:r>
              <a:rPr sz="1900" b="1">
                <a:solidFill>
                  <a:schemeClr val="accent1"/>
                </a:solidFill>
              </a:rPr>
              <a:t>Promote</a:t>
            </a:r>
          </a:p>
        </p:txBody>
      </p:sp>
      <p:sp>
        <p:nvSpPr>
          <p:cNvPr id="27" name="TextBox 26"/>
          <p:cNvSpPr txBox="1"/>
          <p:nvPr/>
        </p:nvSpPr>
        <p:spPr>
          <a:xfrm>
            <a:off x="8357616" y="4956048"/>
            <a:ext cx="2971800" cy="777240"/>
          </a:xfrm>
          <a:prstGeom prst="rect">
            <a:avLst/>
          </a:prstGeom>
          <a:noFill/>
        </p:spPr>
        <p:txBody>
          <a:bodyPr wrap="square" anchor="t" lIns="0" rIns="0" tIns="0" bIns="0">
            <a:spAutoFit/>
          </a:bodyPr>
          <a:lstStyle/>
          <a:p>
            <a:pPr algn="l">
              <a:spcAft>
                <a:spcPts val="600"/>
              </a:spcAft>
            </a:pPr>
            <a:r>
              <a:rPr sz="1400" b="0">
                <a:solidFill>
                  <a:srgbClr val="3E556B"/>
                </a:solidFill>
              </a:rPr>
              <a:t>Export from development as managed for test and production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Common questions</a:t>
            </a:r>
          </a:p>
        </p:txBody>
      </p:sp>
      <p:graphicFrame>
        <p:nvGraphicFramePr>
          <p:cNvPr id="4" name="Table 3"/>
          <p:cNvGraphicFramePr>
            <a:graphicFrameLocks noGrp="1"/>
          </p:cNvGraphicFramePr>
          <p:nvPr/>
        </p:nvGraphicFramePr>
        <p:xfrm>
          <a:off x="493776" y="1508760"/>
          <a:ext cx="11155680" cy="4480560"/>
        </p:xfrm>
        <a:graphic>
          <a:graphicData uri="http://schemas.openxmlformats.org/drawingml/2006/table">
            <a:tbl>
              <a:tblPr firstRow="1" bandRow="1">
                <a:tableStyleId>{5C22544A-7EE6-4342-B048-85BDC9FD1C3A}</a:tableStyleId>
              </a:tblPr>
              <a:tblGrid>
                <a:gridCol w="4206240"/>
                <a:gridCol w="6949440"/>
              </a:tblGrid>
              <a:tr h="560070">
                <a:tc>
                  <a:txBody>
                    <a:bodyPr/>
                    <a:lstStyle/>
                    <a:p>
                      <a:r>
                        <a:rPr sz="1300" b="1">
                          <a:solidFill>
                            <a:schemeClr val="bg1"/>
                          </a:solidFill>
                        </a:rPr>
                        <a:t>Problem or question</a:t>
                      </a:r>
                    </a:p>
                  </a:txBody>
                  <a:tcPr marL="109728" marR="109728" marT="54864" marB="54864" anchor="ctr">
                    <a:solidFill>
                      <a:schemeClr val="accent1"/>
                    </a:solidFill>
                  </a:tcPr>
                </a:tc>
                <a:tc>
                  <a:txBody>
                    <a:bodyPr/>
                    <a:lstStyle/>
                    <a:p>
                      <a:r>
                        <a:rPr sz="1300" b="1">
                          <a:solidFill>
                            <a:schemeClr val="bg1"/>
                          </a:solidFill>
                        </a:rPr>
                        <a:t>What to do</a:t>
                      </a:r>
                    </a:p>
                  </a:txBody>
                  <a:tcPr marL="109728" marR="109728" marT="54864" marB="54864" anchor="ctr">
                    <a:solidFill>
                      <a:schemeClr val="accent1"/>
                    </a:solidFill>
                  </a:tcPr>
                </a:tc>
              </a:tr>
              <a:tr h="560070">
                <a:tc>
                  <a:txBody>
                    <a:bodyPr/>
                    <a:lstStyle/>
                    <a:p>
                      <a:r>
                        <a:rPr sz="1300" b="1">
                          <a:solidFill>
                            <a:schemeClr val="accent1"/>
                          </a:solidFill>
                        </a:rPr>
                        <a:t>A table shows that isn’t in my workbook</a:t>
                      </a:r>
                    </a:p>
                  </a:txBody>
                  <a:tcPr marL="109728" marR="109728" marT="54864" marB="54864" anchor="ctr">
                    <a:solidFill>
                      <a:schemeClr val="bg1"/>
                    </a:solidFill>
                  </a:tcPr>
                </a:tc>
                <a:tc>
                  <a:txBody>
                    <a:bodyPr/>
                    <a:lstStyle/>
                    <a:p>
                      <a:r>
                        <a:rPr sz="1300" b="0">
                          <a:solidFill>
                            <a:schemeClr val="tx1"/>
                          </a:solidFill>
                        </a:rPr>
                        <a:t>Pick yours in the workbook selector, or Manage files… → Remove all…</a:t>
                      </a:r>
                    </a:p>
                  </a:txBody>
                  <a:tcPr marL="109728" marR="109728" marT="54864" marB="54864" anchor="ctr">
                    <a:solidFill>
                      <a:schemeClr val="bg1"/>
                    </a:solidFill>
                  </a:tcPr>
                </a:tc>
              </a:tr>
              <a:tr h="560070">
                <a:tc>
                  <a:txBody>
                    <a:bodyPr/>
                    <a:lstStyle/>
                    <a:p>
                      <a:r>
                        <a:rPr sz="1300" b="1">
                          <a:solidFill>
                            <a:schemeClr val="accent1"/>
                          </a:solidFill>
                        </a:rPr>
                        <a:t>My edits disappeared after opening a file</a:t>
                      </a:r>
                    </a:p>
                  </a:txBody>
                  <a:tcPr marL="109728" marR="109728" marT="54864" marB="54864" anchor="ctr">
                    <a:solidFill>
                      <a:schemeClr val="accent5"/>
                    </a:solidFill>
                  </a:tcPr>
                </a:tc>
                <a:tc>
                  <a:txBody>
                    <a:bodyPr/>
                    <a:lstStyle/>
                    <a:p>
                      <a:r>
                        <a:rPr sz="1300" b="0">
                          <a:solidFill>
                            <a:schemeClr val="tx1"/>
                          </a:solidFill>
                        </a:rPr>
                        <a:t>It was opened as a different workbook: switch back in the selector</a:t>
                      </a:r>
                    </a:p>
                  </a:txBody>
                  <a:tcPr marL="109728" marR="109728" marT="54864" marB="54864" anchor="ctr">
                    <a:solidFill>
                      <a:schemeClr val="accent5"/>
                    </a:solidFill>
                  </a:tcPr>
                </a:tc>
              </a:tr>
              <a:tr h="560070">
                <a:tc>
                  <a:txBody>
                    <a:bodyPr/>
                    <a:lstStyle/>
                    <a:p>
                      <a:r>
                        <a:rPr sz="1300" b="1">
                          <a:solidFill>
                            <a:schemeClr val="accent1"/>
                          </a:solidFill>
                        </a:rPr>
                        <a:t>Saving was stopped</a:t>
                      </a:r>
                    </a:p>
                  </a:txBody>
                  <a:tcPr marL="109728" marR="109728" marT="54864" marB="54864" anchor="ctr">
                    <a:solidFill>
                      <a:schemeClr val="bg1"/>
                    </a:solidFill>
                  </a:tcPr>
                </a:tc>
                <a:tc>
                  <a:txBody>
                    <a:bodyPr/>
                    <a:lstStyle/>
                    <a:p>
                      <a:r>
                        <a:rPr sz="1300" b="0">
                          <a:solidFill>
                            <a:schemeClr val="tx1"/>
                          </a:solidFill>
                        </a:rPr>
                        <a:t>Read the reason; usually no empty row is left. Use New version in template format</a:t>
                      </a:r>
                    </a:p>
                  </a:txBody>
                  <a:tcPr marL="109728" marR="109728" marT="54864" marB="54864" anchor="ctr">
                    <a:solidFill>
                      <a:schemeClr val="bg1"/>
                    </a:solidFill>
                  </a:tcPr>
                </a:tc>
              </a:tr>
              <a:tr h="560070">
                <a:tc>
                  <a:txBody>
                    <a:bodyPr/>
                    <a:lstStyle/>
                    <a:p>
                      <a:r>
                        <a:rPr sz="1300" b="1">
                          <a:solidFill>
                            <a:schemeClr val="accent1"/>
                          </a:solidFill>
                        </a:rPr>
                        <a:t>Save back is greyed out</a:t>
                      </a:r>
                    </a:p>
                  </a:txBody>
                  <a:tcPr marL="109728" marR="109728" marT="54864" marB="54864" anchor="ctr">
                    <a:solidFill>
                      <a:schemeClr val="accent5"/>
                    </a:solidFill>
                  </a:tcPr>
                </a:tc>
                <a:tc>
                  <a:txBody>
                    <a:bodyPr/>
                    <a:lstStyle/>
                    <a:p>
                      <a:r>
                        <a:rPr sz="1300" b="0">
                          <a:solidFill>
                            <a:schemeClr val="tx1"/>
                          </a:solidFill>
                        </a:rPr>
                        <a:t>Open the file with Open workbook… (not by dragging) in Chrome or Edge</a:t>
                      </a:r>
                    </a:p>
                  </a:txBody>
                  <a:tcPr marL="109728" marR="109728" marT="54864" marB="54864" anchor="ctr">
                    <a:solidFill>
                      <a:schemeClr val="accent5"/>
                    </a:solidFill>
                  </a:tcPr>
                </a:tc>
              </a:tr>
              <a:tr h="560070">
                <a:tc>
                  <a:txBody>
                    <a:bodyPr/>
                    <a:lstStyle/>
                    <a:p>
                      <a:r>
                        <a:rPr sz="1300" b="1">
                          <a:solidFill>
                            <a:schemeClr val="accent1"/>
                          </a:solidFill>
                        </a:rPr>
                        <a:t>The import created a second publisher</a:t>
                      </a:r>
                    </a:p>
                  </a:txBody>
                  <a:tcPr marL="109728" marR="109728" marT="54864" marB="54864" anchor="ctr">
                    <a:solidFill>
                      <a:schemeClr val="bg1"/>
                    </a:solidFill>
                  </a:tcPr>
                </a:tc>
                <a:tc>
                  <a:txBody>
                    <a:bodyPr/>
                    <a:lstStyle/>
                    <a:p>
                      <a:r>
                        <a:rPr sz="1300" b="0">
                          <a:solidFill>
                            <a:schemeClr val="tx1"/>
                          </a:solidFill>
                        </a:rPr>
                        <a:t>The unique name didn’t match. Generate again with the exact name</a:t>
                      </a:r>
                    </a:p>
                  </a:txBody>
                  <a:tcPr marL="109728" marR="109728" marT="54864" marB="54864" anchor="ctr">
                    <a:solidFill>
                      <a:schemeClr val="bg1"/>
                    </a:solidFill>
                  </a:tcPr>
                </a:tc>
              </a:tr>
              <a:tr h="560070">
                <a:tc>
                  <a:txBody>
                    <a:bodyPr/>
                    <a:lstStyle/>
                    <a:p>
                      <a:r>
                        <a:rPr sz="1300" b="1">
                          <a:solidFill>
                            <a:schemeClr val="accent1"/>
                          </a:solidFill>
                        </a:rPr>
                        <a:t>Windows refuses to run import.ps1</a:t>
                      </a:r>
                    </a:p>
                  </a:txBody>
                  <a:tcPr marL="109728" marR="109728" marT="54864" marB="54864" anchor="ctr">
                    <a:solidFill>
                      <a:schemeClr val="accent5"/>
                    </a:solidFill>
                  </a:tcPr>
                </a:tc>
                <a:tc>
                  <a:txBody>
                    <a:bodyPr/>
                    <a:lstStyle/>
                    <a:p>
                      <a:r>
                        <a:rPr sz="1300" b="0">
                          <a:solidFill>
                            <a:schemeClr val="tx1"/>
                          </a:solidFill>
                        </a:rPr>
                        <a:t>Unblock-File .\import.ps1, or -ExecutionPolicy Bypass for that session</a:t>
                      </a:r>
                    </a:p>
                  </a:txBody>
                  <a:tcPr marL="109728" marR="109728" marT="54864" marB="54864" anchor="ctr">
                    <a:solidFill>
                      <a:schemeClr val="accent5"/>
                    </a:solidFill>
                  </a:tcPr>
                </a:tc>
              </a:tr>
              <a:tr h="560070">
                <a:tc>
                  <a:txBody>
                    <a:bodyPr/>
                    <a:lstStyle/>
                    <a:p>
                      <a:r>
                        <a:rPr sz="1300" b="1">
                          <a:solidFill>
                            <a:schemeClr val="accent1"/>
                          </a:solidFill>
                        </a:rPr>
                        <a:t>Can I share the HTML file?</a:t>
                      </a:r>
                    </a:p>
                  </a:txBody>
                  <a:tcPr marL="109728" marR="109728" marT="54864" marB="54864" anchor="ctr">
                    <a:solidFill>
                      <a:schemeClr val="bg1"/>
                    </a:solidFill>
                  </a:tcPr>
                </a:tc>
                <a:tc>
                  <a:txBody>
                    <a:bodyPr/>
                    <a:lstStyle/>
                    <a:p>
                      <a:r>
                        <a:rPr sz="1300" b="0">
                          <a:solidFill>
                            <a:schemeClr val="tx1"/>
                          </a:solidFill>
                        </a:rPr>
                        <a:t>Yes: it holds only the empty template. Nothing is uploaded</a:t>
                      </a:r>
                    </a:p>
                  </a:txBody>
                  <a:tcPr marL="109728" marR="109728" marT="54864" marB="54864" anchor="ctr">
                    <a:solidFill>
                      <a:schemeClr val="bg1"/>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6" sz="quarter"/>
          </p:nvPr>
        </p:nvSpPr>
        <p:spPr/>
        <p:txBody>
          <a:bodyPr/>
          <a:lstStyle/>
          <a:p>
            <a:pPr marL="228600" indent="-228600">
              <a:spcBef>
                <a:spcPts val="500"/>
              </a:spcBef>
              <a:buChar char="•"/>
            </a:pPr>
            <a:r>
              <a:rPr sz="1500"/>
              <a:t>241 automated browser tests run on every change.</a:t>
            </a:r>
          </a:p>
          <a:p>
            <a:pPr marL="228600" indent="-228600">
              <a:spcBef>
                <a:spcPts val="500"/>
              </a:spcBef>
              <a:buChar char="•"/>
            </a:pPr>
            <a:r>
              <a:rPr sz="1500"/>
              <a:t>Generated solutions are unpacked and re-packed with Microsoft’s own packaging tool.</a:t>
            </a:r>
          </a:p>
          <a:p>
            <a:pPr marL="228600" indent="-228600">
              <a:spcBef>
                <a:spcPts val="500"/>
              </a:spcBef>
              <a:buChar char="•"/>
            </a:pPr>
            <a:r>
              <a:rPr sz="1500"/>
              <a:t>The solution XML was compared element by element with solutions exported by Dataverse.</a:t>
            </a:r>
          </a:p>
          <a:p>
            <a:pPr marL="228600" indent="-228600">
              <a:spcBef>
                <a:spcPts val="500"/>
              </a:spcBef>
              <a:buChar char="•"/>
            </a:pPr>
            <a:r>
              <a:rPr sz="1500"/>
              <a:t>import.ps1 is parsed with PowerShell 7.4 and run against a stand-in for pac.</a:t>
            </a:r>
          </a:p>
        </p:txBody>
      </p:sp>
      <p:sp>
        <p:nvSpPr>
          <p:cNvPr id="3" name="Text Placeholder 2"/>
          <p:cNvSpPr>
            <a:spLocks noGrp="1"/>
          </p:cNvSpPr>
          <p:nvPr>
            <p:ph type="body" idx="17" sz="quarter"/>
          </p:nvPr>
        </p:nvSpPr>
        <p:spPr/>
        <p:txBody>
          <a:bodyPr/>
          <a:lstStyle/>
          <a:p>
            <a:pPr marL="228600" indent="-228600">
              <a:spcBef>
                <a:spcPts val="500"/>
              </a:spcBef>
              <a:buChar char="•"/>
            </a:pPr>
            <a:r>
              <a:rPr sz="1500"/>
              <a:t>User guide with marked screenshots (Markdown and Word)</a:t>
            </a:r>
          </a:p>
          <a:p>
            <a:pPr marL="228600" indent="-228600">
              <a:spcBef>
                <a:spcPts val="500"/>
              </a:spcBef>
              <a:buChar char="•"/>
            </a:pPr>
            <a:r>
              <a:rPr sz="1500"/>
              <a:t>A narrated 2-minute walkthrough video</a:t>
            </a:r>
          </a:p>
          <a:p>
            <a:pPr marL="228600" indent="-228600">
              <a:spcBef>
                <a:spcPts val="500"/>
              </a:spcBef>
              <a:buChar char="•"/>
            </a:pPr>
            <a:r>
              <a:rPr sz="1500"/>
              <a:t>The short overview deck</a:t>
            </a:r>
          </a:p>
          <a:p>
            <a:pPr marL="228600" indent="-228600">
              <a:spcBef>
                <a:spcPts val="500"/>
              </a:spcBef>
              <a:buChar char="•"/>
            </a:pPr>
            <a:r>
              <a:rPr sz="1500"/>
              <a:t>Import_Test_Model.xlsx: three tables to try the whole flow</a:t>
            </a:r>
          </a:p>
          <a:p>
            <a:pPr marL="228600" indent="-228600">
              <a:spcBef>
                <a:spcPts val="500"/>
              </a:spcBef>
              <a:buChar char="•"/>
            </a:pPr>
            <a:r>
              <a:rPr sz="1500"/>
              <a:t>All in the SharePointPCF repository, under data-model-explorer</a:t>
            </a:r>
          </a:p>
        </p:txBody>
      </p:sp>
      <p:sp>
        <p:nvSpPr>
          <p:cNvPr id="4" name="Text Placeholder 3"/>
          <p:cNvSpPr>
            <a:spLocks noGrp="1"/>
          </p:cNvSpPr>
          <p:nvPr>
            <p:ph type="body" idx="18" sz="quarter"/>
          </p:nvPr>
        </p:nvSpPr>
        <p:spPr/>
        <p:txBody>
          <a:bodyPr/>
          <a:lstStyle/>
          <a:p>
            <a:r>
              <a:t>How it is tested</a:t>
            </a:r>
          </a:p>
        </p:txBody>
      </p:sp>
      <p:sp>
        <p:nvSpPr>
          <p:cNvPr id="5" name="Text Placeholder 4"/>
          <p:cNvSpPr>
            <a:spLocks noGrp="1"/>
          </p:cNvSpPr>
          <p:nvPr>
            <p:ph type="body" idx="19" sz="quarter"/>
          </p:nvPr>
        </p:nvSpPr>
        <p:spPr/>
        <p:txBody>
          <a:bodyPr/>
          <a:lstStyle/>
          <a:p>
            <a:r>
              <a:t>Where to find more</a:t>
            </a:r>
          </a:p>
        </p:txBody>
      </p:sp>
      <p:sp>
        <p:nvSpPr>
          <p:cNvPr id="6" name="Text Placeholder 5"/>
          <p:cNvSpPr>
            <a:spLocks noGrp="1"/>
          </p:cNvSpPr>
          <p:nvPr>
            <p:ph type="body" idx="13" sz="quarter"/>
          </p:nvPr>
        </p:nvSpPr>
        <p:spPr/>
        <p:txBody>
          <a:bodyPr/>
          <a:lstStyle/>
          <a:p>
            <a:r>
              <a:t>Quality and resources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a:xfrm>
            <a:off x="548640" y="1920240"/>
            <a:ext cx="11064240" cy="1097280"/>
          </a:xfrm>
        </p:spPr>
        <p:txBody>
          <a:bodyPr/>
          <a:lstStyle/>
          <a:p>
            <a:r>
              <a:t>Getting started</a:t>
            </a:r>
          </a:p>
        </p:txBody>
      </p:sp>
      <p:sp>
        <p:nvSpPr>
          <p:cNvPr id="3" name="Subtitle"/>
          <p:cNvSpPr txBox="1"/>
          <p:nvPr/>
        </p:nvSpPr>
        <p:spPr>
          <a:xfrm>
            <a:off x="548640" y="3291840"/>
            <a:ext cx="11064240" cy="457200"/>
          </a:xfrm>
          <a:prstGeom prst="rect">
            <a:avLst/>
          </a:prstGeom>
          <a:noFill/>
        </p:spPr>
        <p:txBody>
          <a:bodyPr wrap="square" anchor="t" lIns="0" rIns="0" tIns="0" bIns="0">
            <a:spAutoFit/>
          </a:bodyPr>
          <a:lstStyle/>
          <a:p>
            <a:pPr algn="ctr">
              <a:spcAft>
                <a:spcPts val="600"/>
              </a:spcAft>
            </a:pPr>
            <a:r>
              <a:rPr sz="2000" b="0">
                <a:solidFill>
                  <a:srgbClr val="3E556B"/>
                </a:solidFill>
              </a:rPr>
              <a:t>Four steps from workbook to Dataverse</a:t>
            </a:r>
          </a:p>
        </p:txBody>
      </p:sp>
      <p:sp>
        <p:nvSpPr>
          <p:cNvPr id="4" name="Step"/>
          <p:cNvSpPr/>
          <p:nvPr/>
        </p:nvSpPr>
        <p:spPr>
          <a:xfrm>
            <a:off x="548640" y="3977639"/>
            <a:ext cx="2560320" cy="13258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4069080"/>
            <a:ext cx="548640" cy="411480"/>
          </a:xfrm>
          <a:prstGeom prst="rect">
            <a:avLst/>
          </a:prstGeom>
          <a:noFill/>
        </p:spPr>
        <p:txBody>
          <a:bodyPr wrap="square" anchor="t" lIns="0" rIns="0" tIns="0" bIns="0">
            <a:spAutoFit/>
          </a:bodyPr>
          <a:lstStyle/>
          <a:p>
            <a:pPr algn="l">
              <a:spcAft>
                <a:spcPts val="600"/>
              </a:spcAft>
            </a:pPr>
            <a:r>
              <a:rPr sz="2400" b="1">
                <a:solidFill>
                  <a:schemeClr val="accent2"/>
                </a:solidFill>
              </a:rPr>
              <a:t>1</a:t>
            </a:r>
          </a:p>
        </p:txBody>
      </p:sp>
      <p:sp>
        <p:nvSpPr>
          <p:cNvPr id="6" name="TextBox 5"/>
          <p:cNvSpPr txBox="1"/>
          <p:nvPr/>
        </p:nvSpPr>
        <p:spPr>
          <a:xfrm>
            <a:off x="777240" y="4480560"/>
            <a:ext cx="2148840" cy="731520"/>
          </a:xfrm>
          <a:prstGeom prst="rect">
            <a:avLst/>
          </a:prstGeom>
          <a:noFill/>
        </p:spPr>
        <p:txBody>
          <a:bodyPr wrap="square" anchor="t" lIns="0" rIns="0" tIns="0" bIns="0">
            <a:spAutoFit/>
          </a:bodyPr>
          <a:lstStyle/>
          <a:p>
            <a:pPr algn="l">
              <a:spcAft>
                <a:spcPts val="600"/>
              </a:spcAft>
            </a:pPr>
            <a:r>
              <a:rPr sz="1400" b="0">
                <a:solidFill>
                  <a:schemeClr val="tx1"/>
                </a:solidFill>
              </a:rPr>
              <a:t>Open the Data Model Explorer HTML file in Chrome or Edge</a:t>
            </a:r>
          </a:p>
        </p:txBody>
      </p:sp>
      <p:sp>
        <p:nvSpPr>
          <p:cNvPr id="7" name="Step"/>
          <p:cNvSpPr/>
          <p:nvPr/>
        </p:nvSpPr>
        <p:spPr>
          <a:xfrm>
            <a:off x="3264408" y="3977639"/>
            <a:ext cx="2560320" cy="13258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93008" y="4069080"/>
            <a:ext cx="548640" cy="411480"/>
          </a:xfrm>
          <a:prstGeom prst="rect">
            <a:avLst/>
          </a:prstGeom>
          <a:noFill/>
        </p:spPr>
        <p:txBody>
          <a:bodyPr wrap="square" anchor="t" lIns="0" rIns="0" tIns="0" bIns="0">
            <a:spAutoFit/>
          </a:bodyPr>
          <a:lstStyle/>
          <a:p>
            <a:pPr algn="l">
              <a:spcAft>
                <a:spcPts val="600"/>
              </a:spcAft>
            </a:pPr>
            <a:r>
              <a:rPr sz="2400" b="1">
                <a:solidFill>
                  <a:schemeClr val="accent2"/>
                </a:solidFill>
              </a:rPr>
              <a:t>2</a:t>
            </a:r>
          </a:p>
        </p:txBody>
      </p:sp>
      <p:sp>
        <p:nvSpPr>
          <p:cNvPr id="9" name="TextBox 8"/>
          <p:cNvSpPr txBox="1"/>
          <p:nvPr/>
        </p:nvSpPr>
        <p:spPr>
          <a:xfrm>
            <a:off x="3493008" y="4480560"/>
            <a:ext cx="2148840" cy="731520"/>
          </a:xfrm>
          <a:prstGeom prst="rect">
            <a:avLst/>
          </a:prstGeom>
          <a:noFill/>
        </p:spPr>
        <p:txBody>
          <a:bodyPr wrap="square" anchor="t" lIns="0" rIns="0" tIns="0" bIns="0">
            <a:spAutoFit/>
          </a:bodyPr>
          <a:lstStyle/>
          <a:p>
            <a:pPr algn="l">
              <a:spcAft>
                <a:spcPts val="600"/>
              </a:spcAft>
            </a:pPr>
            <a:r>
              <a:rPr sz="1400" b="0">
                <a:solidFill>
                  <a:schemeClr val="tx1"/>
                </a:solidFill>
              </a:rPr>
              <a:t>Drop the data-model workbook on it, or a metadata export</a:t>
            </a:r>
          </a:p>
        </p:txBody>
      </p:sp>
      <p:sp>
        <p:nvSpPr>
          <p:cNvPr id="10" name="Step"/>
          <p:cNvSpPr/>
          <p:nvPr/>
        </p:nvSpPr>
        <p:spPr>
          <a:xfrm>
            <a:off x="5980176" y="3977639"/>
            <a:ext cx="2560320" cy="13258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208776" y="4069080"/>
            <a:ext cx="548640" cy="411480"/>
          </a:xfrm>
          <a:prstGeom prst="rect">
            <a:avLst/>
          </a:prstGeom>
          <a:noFill/>
        </p:spPr>
        <p:txBody>
          <a:bodyPr wrap="square" anchor="t" lIns="0" rIns="0" tIns="0" bIns="0">
            <a:spAutoFit/>
          </a:bodyPr>
          <a:lstStyle/>
          <a:p>
            <a:pPr algn="l">
              <a:spcAft>
                <a:spcPts val="600"/>
              </a:spcAft>
            </a:pPr>
            <a:r>
              <a:rPr sz="2400" b="1">
                <a:solidFill>
                  <a:schemeClr val="accent2"/>
                </a:solidFill>
              </a:rPr>
              <a:t>3</a:t>
            </a:r>
          </a:p>
        </p:txBody>
      </p:sp>
      <p:sp>
        <p:nvSpPr>
          <p:cNvPr id="12" name="TextBox 11"/>
          <p:cNvSpPr txBox="1"/>
          <p:nvPr/>
        </p:nvSpPr>
        <p:spPr>
          <a:xfrm>
            <a:off x="6208776" y="4480560"/>
            <a:ext cx="2148840" cy="731520"/>
          </a:xfrm>
          <a:prstGeom prst="rect">
            <a:avLst/>
          </a:prstGeom>
          <a:noFill/>
        </p:spPr>
        <p:txBody>
          <a:bodyPr wrap="square" anchor="t" lIns="0" rIns="0" tIns="0" bIns="0">
            <a:spAutoFit/>
          </a:bodyPr>
          <a:lstStyle/>
          <a:p>
            <a:pPr algn="l">
              <a:spcAft>
                <a:spcPts val="600"/>
              </a:spcAft>
            </a:pPr>
            <a:r>
              <a:rPr sz="1400" b="0">
                <a:solidFill>
                  <a:schemeClr val="tx1"/>
                </a:solidFill>
              </a:rPr>
              <a:t>Work through Checks until there are no errors</a:t>
            </a:r>
          </a:p>
        </p:txBody>
      </p:sp>
      <p:sp>
        <p:nvSpPr>
          <p:cNvPr id="13" name="Step"/>
          <p:cNvSpPr/>
          <p:nvPr/>
        </p:nvSpPr>
        <p:spPr>
          <a:xfrm>
            <a:off x="8695944" y="3977639"/>
            <a:ext cx="2560320" cy="13258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24544" y="4069080"/>
            <a:ext cx="548640" cy="411480"/>
          </a:xfrm>
          <a:prstGeom prst="rect">
            <a:avLst/>
          </a:prstGeom>
          <a:noFill/>
        </p:spPr>
        <p:txBody>
          <a:bodyPr wrap="square" anchor="t" lIns="0" rIns="0" tIns="0" bIns="0">
            <a:spAutoFit/>
          </a:bodyPr>
          <a:lstStyle/>
          <a:p>
            <a:pPr algn="l">
              <a:spcAft>
                <a:spcPts val="600"/>
              </a:spcAft>
            </a:pPr>
            <a:r>
              <a:rPr sz="2400" b="1">
                <a:solidFill>
                  <a:schemeClr val="accent2"/>
                </a:solidFill>
              </a:rPr>
              <a:t>4</a:t>
            </a:r>
          </a:p>
        </p:txBody>
      </p:sp>
      <p:sp>
        <p:nvSpPr>
          <p:cNvPr id="15" name="TextBox 14"/>
          <p:cNvSpPr txBox="1"/>
          <p:nvPr/>
        </p:nvSpPr>
        <p:spPr>
          <a:xfrm>
            <a:off x="8924544" y="4480560"/>
            <a:ext cx="2148840" cy="731520"/>
          </a:xfrm>
          <a:prstGeom prst="rect">
            <a:avLst/>
          </a:prstGeom>
          <a:noFill/>
        </p:spPr>
        <p:txBody>
          <a:bodyPr wrap="square" anchor="t" lIns="0" rIns="0" tIns="0" bIns="0">
            <a:spAutoFit/>
          </a:bodyPr>
          <a:lstStyle/>
          <a:p>
            <a:pPr algn="l">
              <a:spcAft>
                <a:spcPts val="600"/>
              </a:spcAft>
            </a:pPr>
            <a:r>
              <a:rPr sz="1400" b="0">
                <a:solidFill>
                  <a:schemeClr val="tx1"/>
                </a:solidFill>
              </a:rPr>
              <a:t>Build the solution and run import.ps1 against development</a:t>
            </a:r>
          </a:p>
        </p:txBody>
      </p:sp>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000000"/>
      </a:dk2>
      <a:lt2>
        <a:srgbClr val="FFFFFF"/>
      </a:lt2>
      <a:accent1>
        <a:srgbClr val="0A4873"/>
      </a:accent1>
      <a:accent2>
        <a:srgbClr val="BB1C73"/>
      </a:accent2>
      <a:accent3>
        <a:srgbClr val="061A46"/>
      </a:accent3>
      <a:accent4>
        <a:srgbClr val="7B134D"/>
      </a:accent4>
      <a:accent5>
        <a:srgbClr val="ECF1F5"/>
      </a:accent5>
      <a:accent6>
        <a:srgbClr val="F7D4E7"/>
      </a:accent6>
      <a:hlink>
        <a:srgbClr val="BB1C73"/>
      </a:hlink>
      <a:folHlink>
        <a:srgbClr val="BB1C7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mplate Presentation" id="{B806EC50-8E57-4AC7-9414-C376680A5445}" vid="{479DFAD2-0279-42F0-BE07-9BD63C6DA8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2842E0EDE139B46AD61A82885DCB004" ma:contentTypeVersion="21" ma:contentTypeDescription="Create a new document." ma:contentTypeScope="" ma:versionID="b83bb6442c2f04533b8945725091ea5e">
  <xsd:schema xmlns:xsd="http://www.w3.org/2001/XMLSchema" xmlns:xs="http://www.w3.org/2001/XMLSchema" xmlns:p="http://schemas.microsoft.com/office/2006/metadata/properties" xmlns:ns1="http://schemas.microsoft.com/sharepoint/v3" xmlns:ns2="59db780e-9d2e-4ea8-b179-296e035904c7" xmlns:ns3="315bbd3c-00ee-44d3-840f-6efac15bf87b" targetNamespace="http://schemas.microsoft.com/office/2006/metadata/properties" ma:root="true" ma:fieldsID="ed476c4c27c6511c18331b2436930979" ns1:_="" ns2:_="" ns3:_="">
    <xsd:import namespace="http://schemas.microsoft.com/sharepoint/v3"/>
    <xsd:import namespace="59db780e-9d2e-4ea8-b179-296e035904c7"/>
    <xsd:import namespace="315bbd3c-00ee-44d3-840f-6efac15bf87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ServiceLocation"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LengthInSeconds" minOccurs="0"/>
                <xsd:element ref="ns1:_ip_UnifiedCompliancePolicyProperties" minOccurs="0"/>
                <xsd:element ref="ns1:_ip_UnifiedCompliancePolicyUIAction"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9db780e-9d2e-4ea8-b179-296e035904c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8847125a-9a34-4fb6-b9f3-148a8f6b900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15bbd3c-00ee-44d3-840f-6efac15bf87b"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a13127f1-6064-42db-9818-95b24162616c}" ma:internalName="TaxCatchAll" ma:showField="CatchAllData" ma:web="315bbd3c-00ee-44d3-840f-6efac15bf87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315bbd3c-00ee-44d3-840f-6efac15bf87b" xsi:nil="true"/>
    <lcf76f155ced4ddcb4097134ff3c332f xmlns="59db780e-9d2e-4ea8-b179-296e035904c7">
      <Terms xmlns="http://schemas.microsoft.com/office/infopath/2007/PartnerControls"/>
    </lcf76f155ced4ddcb4097134ff3c332f>
    <SharedWithUsers xmlns="315bbd3c-00ee-44d3-840f-6efac15bf87b">
      <UserInfo>
        <DisplayName/>
        <AccountId xsi:nil="true"/>
        <AccountType/>
      </UserInfo>
    </SharedWithUsers>
  </documentManagement>
</p:properties>
</file>

<file path=customXml/itemProps1.xml><?xml version="1.0" encoding="utf-8"?>
<ds:datastoreItem xmlns:ds="http://schemas.openxmlformats.org/officeDocument/2006/customXml" ds:itemID="{96468A4A-3365-4077-90F4-44620DBC6367}">
  <ds:schemaRefs>
    <ds:schemaRef ds:uri="http://schemas.microsoft.com/sharepoint/v3/contenttype/forms"/>
  </ds:schemaRefs>
</ds:datastoreItem>
</file>

<file path=customXml/itemProps2.xml><?xml version="1.0" encoding="utf-8"?>
<ds:datastoreItem xmlns:ds="http://schemas.openxmlformats.org/officeDocument/2006/customXml" ds:itemID="{284D963C-479C-4E88-AD78-0C131342F84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9db780e-9d2e-4ea8-b179-296e035904c7"/>
    <ds:schemaRef ds:uri="315bbd3c-00ee-44d3-840f-6efac15bf8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0A3D0C-1A2C-4276-A039-C4BD012C5662}">
  <ds:schemaRefs>
    <ds:schemaRef ds:uri="bb7e8fac-038b-43f0-8312-4c0c6d7b531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http://schemas.microsoft.com/sharepoint/v3"/>
    <ds:schemaRef ds:uri="315bbd3c-00ee-44d3-840f-6efac15bf87b"/>
    <ds:schemaRef ds:uri="59db780e-9d2e-4ea8-b179-296e035904c7"/>
  </ds:schemaRefs>
</ds:datastoreItem>
</file>

<file path=docProps/app.xml><?xml version="1.0" encoding="utf-8"?>
<Properties xmlns="http://schemas.openxmlformats.org/officeDocument/2006/extended-properties" xmlns:vt="http://schemas.openxmlformats.org/officeDocument/2006/docPropsVTypes">
  <Template>Template Presentation</Template>
  <Application>Microsoft Office PowerPoint</Application>
  <PresentationFormat>Widescreen</PresentationFormat>
  <Slides>21</Slides>
  <Notes>0</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Kelly-Marie Roe</dc:creator>
  <cp:revision>2</cp:revision>
  <dcterms:created xsi:type="dcterms:W3CDTF">2026-05-07T10:11:49Z</dcterms:created>
  <dcterms:modified xsi:type="dcterms:W3CDTF">2026-10-22T15:57:34Z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0x01010082842E0EDE139B46AD61A82885DCB004</vt:lpwstr>
  </property>
  <property fmtid="{D5CDD505-2E9C-101B-9397-08002B2CF9AE}" pid="3" name="Order">
    <vt:r8>2100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MediaServiceImageTags">
    <vt:lpwstr/>
  </property>
</Properties>
</file>